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8" r:id="rId19"/>
    <p:sldId id="269" r:id="rId20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41148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2F5FA"/>
                </a:solidFill>
                <a:latin typeface="Segoe UI"/>
              </a:rPr>
              <a:t>AriamindX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6E9BFF"/>
                </a:solidFill>
                <a:latin typeface="Segoe UI"/>
              </a:rPr>
              <a:t>Hosting, Storage &amp; Scaling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004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9AA4B8"/>
                </a:solidFill>
                <a:latin typeface="Segoe UI"/>
              </a:rPr>
              <a:t>Scaling plan for 10K → 10M users  •  Next.js 15 + PostgreSQL + external AI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297680"/>
            <a:ext cx="960119" cy="310896"/>
          </a:xfrm>
          <a:prstGeom prst="roundRect">
            <a:avLst/>
          </a:prstGeom>
          <a:solidFill>
            <a:srgbClr val="151B2B"/>
          </a:solidFill>
          <a:ln w="15875">
            <a:solidFill>
              <a:srgbClr val="6E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96011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E9BFF"/>
                </a:solidFill>
                <a:latin typeface="Segoe UI"/>
              </a:rPr>
              <a:t>Next.js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11095" y="4297680"/>
            <a:ext cx="960119" cy="310896"/>
          </a:xfrm>
          <a:prstGeom prst="roundRect">
            <a:avLst/>
          </a:prstGeom>
          <a:solidFill>
            <a:srgbClr val="151B2B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11095" y="4297680"/>
            <a:ext cx="96011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2" y="4297680"/>
            <a:ext cx="1296619" cy="310896"/>
          </a:xfrm>
          <a:prstGeom prst="roundRect">
            <a:avLst/>
          </a:prstGeom>
          <a:solidFill>
            <a:srgbClr val="151B2B"/>
          </a:solidFill>
          <a:ln w="15875">
            <a:solidFill>
              <a:srgbClr val="FFB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2" y="4297680"/>
            <a:ext cx="129661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B44D"/>
                </a:solidFill>
                <a:latin typeface="Segoe UI"/>
              </a:rPr>
              <a:t>Object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7289" y="4297680"/>
            <a:ext cx="371246" cy="310896"/>
          </a:xfrm>
          <a:prstGeom prst="roundRect">
            <a:avLst/>
          </a:prstGeom>
          <a:solidFill>
            <a:srgbClr val="151B2B"/>
          </a:solidFill>
          <a:ln w="15875">
            <a:solidFill>
              <a:srgbClr val="6E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7289" y="4297680"/>
            <a:ext cx="37124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E9BFF"/>
                </a:solidFill>
                <a:latin typeface="Segoe UI"/>
              </a:rPr>
              <a:t>CDN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68263" y="4297680"/>
            <a:ext cx="1212494" cy="310896"/>
          </a:xfrm>
          <a:prstGeom prst="roundRect">
            <a:avLst/>
          </a:prstGeom>
          <a:solidFill>
            <a:srgbClr val="151B2B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8263" y="4297680"/>
            <a:ext cx="121249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No GPU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0350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AA4B8"/>
                </a:solidFill>
                <a:latin typeface="Segoe UI"/>
              </a:rPr>
              <a:t>Prepared for self-managed deployment planning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START HERE — 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Best Setup (Recommended)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1201400" cy="1005840"/>
          </a:xfrm>
          <a:prstGeom prst="roundRect">
            <a:avLst/>
          </a:prstGeom>
          <a:solidFill>
            <a:srgbClr val="151B2B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2F5FA"/>
                </a:solidFill>
                <a:latin typeface="Segoe UI"/>
              </a:rPr>
              <a:t>Front end on managed platform  +  Pooled Postgres  +  Object storage + CDN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Vercel / Cloud Run  •  Neon (pooled)  •  Cloudflare R2  •  Upstash Redis  •  Cloudflare CDN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43200"/>
            <a:ext cx="2670048" cy="242316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6E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2670048" cy="109728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944368"/>
            <a:ext cx="239572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E9BFF"/>
                </a:solidFill>
                <a:latin typeface="Segoe UI"/>
              </a:rPr>
              <a:t>App / Web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56432"/>
            <a:ext cx="2395728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Vercel (now) → Cloud Run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or a Hetzner dedicated box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Auto-TLS, scales horizontally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2743200"/>
            <a:ext cx="2670048" cy="242316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2743200"/>
            <a:ext cx="2670048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2944368"/>
            <a:ext cx="239572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3456432"/>
            <a:ext cx="2395728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Neon / Supabase Postgres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Pooled connection string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Chat + credentials + credits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743200"/>
            <a:ext cx="2670048" cy="242316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FFB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2743200"/>
            <a:ext cx="2670048" cy="109728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944368"/>
            <a:ext cx="239572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B44D"/>
                </a:solidFill>
                <a:latin typeface="Segoe UI"/>
              </a:rPr>
              <a:t>Media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3456432"/>
            <a:ext cx="2395728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Cloudflare R2 (zero egress)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Generated images &amp; videos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Served via CDN, not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2743200"/>
            <a:ext cx="2670048" cy="242316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6E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2743200"/>
            <a:ext cx="2670048" cy="109728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2944368"/>
            <a:ext cx="239572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E9BFF"/>
                </a:solidFill>
                <a:latin typeface="Segoe UI"/>
              </a:rPr>
              <a:t>Cache /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3456432"/>
            <a:ext cx="2395728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Upstash Redis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Rate-limit paid AI calls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Background media jobs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40680"/>
            <a:ext cx="111556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Why this wins:  </a:t>
            </a:r>
            <a:r>
              <a:rPr sz="1400" b="0">
                <a:solidFill>
                  <a:srgbClr val="F2F5FA"/>
                </a:solidFill>
                <a:latin typeface="Segoe UI"/>
              </a:rPr>
              <a:t>cheapest path that survives every growth stage. Compute scales horizontally, the DB is managed + pooled, and big files never touch your own bandwidth. Same stack works at 10K and at 10M — you only change tiers, not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WHERE YOU ARE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Current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19456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9AA4B8"/>
                </a:solidFill>
                <a:latin typeface="Segoe UI"/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420624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9AA4B8"/>
                </a:solidFill>
                <a:latin typeface="Segoe UI"/>
              </a:rPr>
              <a:t>WHAT YOU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554480"/>
            <a:ext cx="384048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9AA4B8"/>
                </a:solidFill>
                <a:latin typeface="Segoe UI"/>
              </a:rPr>
              <a:t>SCALING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1554480"/>
            <a:ext cx="1188720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9AA4B8"/>
                </a:solidFill>
                <a:latin typeface="Segoe UI"/>
              </a:rPr>
              <a:t>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38528"/>
            <a:ext cx="11201400" cy="676656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38528"/>
            <a:ext cx="73152" cy="67665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38528"/>
            <a:ext cx="210312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F5FA"/>
                </a:solidFill>
                <a:latin typeface="Segoe UI"/>
              </a:rP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938528"/>
            <a:ext cx="420624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AA4B8"/>
                </a:solidFill>
                <a:latin typeface="Segoe UI"/>
              </a:rPr>
              <a:t>Next.js 15 (App Router) + React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38528"/>
            <a:ext cx="3749039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Segoe UI"/>
              </a:rPr>
              <a:t>Scales well, serverless-friendly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1938528"/>
            <a:ext cx="86868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88336"/>
            <a:ext cx="11201400" cy="676656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688336"/>
            <a:ext cx="73152" cy="676656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88336"/>
            <a:ext cx="210312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F5FA"/>
                </a:solidFill>
                <a:latin typeface="Segoe UI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688336"/>
            <a:ext cx="420624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AA4B8"/>
                </a:solidFill>
                <a:latin typeface="Segoe UI"/>
              </a:rPr>
              <a:t>Raw PostgreSQL via pg.Pool  (services/db.ts)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88336"/>
            <a:ext cx="3749039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Segoe UI"/>
              </a:rPr>
              <a:t>Pool-per-instance + DDL on first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2688336"/>
            <a:ext cx="86868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B44D"/>
                </a:solidFill>
                <a:latin typeface="Segoe UI"/>
              </a:rPr>
              <a:t>WATCH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38144"/>
            <a:ext cx="11201400" cy="676656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38144"/>
            <a:ext cx="73152" cy="67665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438144"/>
            <a:ext cx="210312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F5FA"/>
                </a:solidFill>
                <a:latin typeface="Segoe UI"/>
              </a:rPr>
              <a:t>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438144"/>
            <a:ext cx="420624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AA4B8"/>
                </a:solidFill>
                <a:latin typeface="Segoe UI"/>
              </a:rPr>
              <a:t>DB session table + Google OAuth (services/auth.ts)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438144"/>
            <a:ext cx="3749039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Segoe UI"/>
              </a:rPr>
              <a:t>Stateful in Postgres — fine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3438144"/>
            <a:ext cx="86868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187952"/>
            <a:ext cx="11201400" cy="676656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187952"/>
            <a:ext cx="73152" cy="676656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187952"/>
            <a:ext cx="210312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F5FA"/>
                </a:solidFill>
                <a:latin typeface="Segoe UI"/>
              </a:rPr>
              <a:t>File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187952"/>
            <a:ext cx="420624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AA4B8"/>
                </a:solidFill>
                <a:latin typeface="Segoe UI"/>
              </a:rPr>
              <a:t>Local disk — data/  (generatedImageFiles.ts)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187952"/>
            <a:ext cx="3749039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Segoe UI"/>
              </a:rPr>
              <a:t>Breaks on multi-instance / redeploy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4187952"/>
            <a:ext cx="86868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6B6B"/>
                </a:solidFill>
                <a:latin typeface="Segoe UI"/>
              </a:rPr>
              <a:t>FIX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937760"/>
            <a:ext cx="11201400" cy="676656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937760"/>
            <a:ext cx="73152" cy="67665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937760"/>
            <a:ext cx="210312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F5FA"/>
                </a:solidFill>
                <a:latin typeface="Segoe UI"/>
              </a:rPr>
              <a:t>AI / media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937760"/>
            <a:ext cx="420624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AA4B8"/>
                </a:solidFill>
                <a:latin typeface="Segoe UI"/>
              </a:rPr>
              <a:t>OpenAI, Anthropic, Gemini, DeepSeek, Runware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937760"/>
            <a:ext cx="3749039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Segoe UI"/>
              </a:rPr>
              <a:t>External APIs — cost &amp; latency live here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35640" y="4937760"/>
            <a:ext cx="86868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OK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687568"/>
            <a:ext cx="11201400" cy="676656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687568"/>
            <a:ext cx="73152" cy="67665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87568"/>
            <a:ext cx="210312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F5FA"/>
                </a:solidFill>
                <a:latin typeface="Segoe UI"/>
              </a:rPr>
              <a:t>Payments/email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5687568"/>
            <a:ext cx="420624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AA4B8"/>
                </a:solidFill>
                <a:latin typeface="Segoe UI"/>
              </a:rPr>
              <a:t>Razorpay + nodemailer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687568"/>
            <a:ext cx="3749039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Segoe UI"/>
              </a:rPr>
              <a:t>Fine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35640" y="5687568"/>
            <a:ext cx="868680" cy="6766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MUST FIX BEFORE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Three Blockers in Your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201400" cy="1417320"/>
          </a:xfrm>
          <a:prstGeom prst="roundRect">
            <a:avLst/>
          </a:prstGeom>
          <a:solidFill>
            <a:srgbClr val="151B2B"/>
          </a:solidFill>
          <a:ln w="1778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822960" cy="14173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82296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0B0E17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09928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6B6B"/>
                </a:solidFill>
                <a:latin typeface="Segoe UI"/>
              </a:rPr>
              <a:t>Local filesystem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30552"/>
            <a:ext cx="99669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generatedImageFiles.ts writes images to process.cwd()/data/. On serverless or multi-instance hosts this is ephemeral and not shared — files vanish on redeploy and are invisible to other instances.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60904"/>
            <a:ext cx="9966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Fix:  </a:t>
            </a:r>
            <a:r>
              <a:rPr sz="1250" b="0">
                <a:solidFill>
                  <a:srgbClr val="34D399"/>
                </a:solidFill>
                <a:latin typeface="Segoe UI"/>
              </a:rPr>
              <a:t>Move to Cloudflare R2 / S3 / GCS.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72968"/>
            <a:ext cx="11201400" cy="1417320"/>
          </a:xfrm>
          <a:prstGeom prst="roundRect">
            <a:avLst/>
          </a:prstGeom>
          <a:solidFill>
            <a:srgbClr val="151B2B"/>
          </a:solidFill>
          <a:ln w="17780">
            <a:solidFill>
              <a:srgbClr val="FFB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172968"/>
            <a:ext cx="822960" cy="1417320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72968"/>
            <a:ext cx="82296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0B0E17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82696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B44D"/>
                </a:solidFill>
                <a:latin typeface="Segoe UI"/>
              </a:rPr>
              <a:t>pg.Pool per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03320"/>
            <a:ext cx="99669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Each instance opens its own pool (db.ts). 100 instances × pool size = thousands of DB connections → Postgres falls over.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33672"/>
            <a:ext cx="9966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Fix:  </a:t>
            </a:r>
            <a:r>
              <a:rPr sz="1250" b="0">
                <a:solidFill>
                  <a:srgbClr val="34D399"/>
                </a:solidFill>
                <a:latin typeface="Segoe UI"/>
              </a:rPr>
              <a:t>Connect through a pooler (Neon / PgBouncer / Supabase).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45736"/>
            <a:ext cx="11201400" cy="1417320"/>
          </a:xfrm>
          <a:prstGeom prst="roundRect">
            <a:avLst/>
          </a:prstGeom>
          <a:solidFill>
            <a:srgbClr val="151B2B"/>
          </a:solidFill>
          <a:ln w="17780">
            <a:solidFill>
              <a:srgbClr val="FFB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745736"/>
            <a:ext cx="822960" cy="1417320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745736"/>
            <a:ext cx="82296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0B0E17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855464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B44D"/>
                </a:solidFill>
                <a:latin typeface="Segoe UI"/>
              </a:rPr>
              <a:t>DDL on every cold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276088"/>
            <a:ext cx="99669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ensureDatabaseSchema() runs CREATE TABLE on first query. Fine at 10K; a race + latency hit at scale.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806440"/>
            <a:ext cx="9966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Fix:  </a:t>
            </a:r>
            <a:r>
              <a:rPr sz="1250" b="0">
                <a:solidFill>
                  <a:srgbClr val="34D399"/>
                </a:solidFill>
                <a:latin typeface="Segoe UI"/>
              </a:rPr>
              <a:t>Run migrations once at deploy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PICK YOUR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Hosting Options Compared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670048" cy="420624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6E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670048" cy="640080"/>
          </a:xfrm>
          <a:prstGeom prst="round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2670048" cy="32004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55064"/>
            <a:ext cx="26700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B0E17"/>
                </a:solidFill>
                <a:latin typeface="Segoe UI"/>
              </a:rPr>
              <a:t>Vercel / Netlify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26700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B0E17"/>
                </a:solidFill>
                <a:latin typeface="Segoe UI"/>
              </a:rPr>
              <a:t>Managed serverless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41448"/>
            <a:ext cx="237744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Zero-config, auto-scale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Best for 10K–500K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Watch function timeouts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$$ at high 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600200"/>
            <a:ext cx="2670048" cy="420624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19272" y="1600200"/>
            <a:ext cx="2670048" cy="64008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920240"/>
            <a:ext cx="2670048" cy="3200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655064"/>
            <a:ext cx="26700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B0E17"/>
                </a:solidFill>
                <a:latin typeface="Segoe UI"/>
              </a:rPr>
              <a:t>Cloud Run / Fargate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1965960"/>
            <a:ext cx="26700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B0E17"/>
                </a:solidFill>
                <a:latin typeface="Segoe UI"/>
              </a:rPr>
              <a:t>Managed containers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441448"/>
            <a:ext cx="237744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Autoscale + long requests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Sweet spot 100K–10M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No cold-start tax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Best for media jobs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1600200"/>
            <a:ext cx="2670048" cy="420624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FFB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35624" y="1600200"/>
            <a:ext cx="2670048" cy="640080"/>
          </a:xfrm>
          <a:prstGeom prst="round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35624" y="1920240"/>
            <a:ext cx="2670048" cy="320040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5624" y="1655064"/>
            <a:ext cx="26700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B0E17"/>
                </a:solidFill>
                <a:latin typeface="Segoe UI"/>
              </a:rPr>
              <a:t>VPS / Dedicated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5624" y="1965960"/>
            <a:ext cx="26700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B0E17"/>
                </a:solidFill>
                <a:latin typeface="Segoe UI"/>
              </a:rPr>
              <a:t>Self-managed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441448"/>
            <a:ext cx="237744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Cheapest (Hetzner ~€50)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Full control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You add LB + replicas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Manual scaling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1976" y="1600200"/>
            <a:ext cx="2670048" cy="420624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51976" y="1600200"/>
            <a:ext cx="2670048" cy="64008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51976" y="1920240"/>
            <a:ext cx="2670048" cy="3200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1976" y="1655064"/>
            <a:ext cx="26700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B0E17"/>
                </a:solidFill>
                <a:latin typeface="Segoe UI"/>
              </a:rPr>
              <a:t>Home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1965960"/>
            <a:ext cx="26700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B0E17"/>
                </a:solidFill>
                <a:latin typeface="Segoe UI"/>
              </a:rPr>
              <a:t>Own hardware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2441448"/>
            <a:ext cx="237744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Dev / ≤ ~1–2K users only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CGNAT, dynamic IP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No redundancy / SLA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DDoS exposure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Recommended path:  </a:t>
            </a:r>
            <a:r>
              <a:rPr sz="1300" b="0">
                <a:solidFill>
                  <a:srgbClr val="F2F5FA"/>
                </a:solidFill>
                <a:latin typeface="Segoe UI"/>
              </a:rPr>
              <a:t>Start on Vercel → migrate the API + worker tier to Cloud Run (or a Hetzner dedicated box) around 100K–500K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RIGHT DATA, RIGHT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Storage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86400" cy="429768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486400" cy="54864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5486400" cy="2286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73352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B0E17"/>
                </a:solidFill>
                <a:latin typeface="Segoe UI"/>
              </a:rPr>
              <a:t>PostgreSQL  —  structured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50292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✓ Chat threads &amp; messages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✓ User credentials &amp; password hashes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✓ Sessions, credits, payments ledger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" b="0">
                <a:solidFill>
                  <a:srgbClr val="F2F5FA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AA4B8"/>
                </a:solidFill>
                <a:latin typeface="Segoe UI"/>
              </a:rPr>
              <a:t>Why: transactions, indexes, foreign keys,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AA4B8"/>
                </a:solidFill>
                <a:latin typeface="Segoe UI"/>
              </a:rPr>
              <a:t>UNIQUE(email), row locking, instant lookups.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" b="0">
                <a:solidFill>
                  <a:srgbClr val="F2F5FA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Managed: Neon / Supabase / Cloud SQL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34D399"/>
                </a:solidFill>
                <a:latin typeface="Segoe UI"/>
              </a:rPr>
              <a:t>Always via a connection pooler.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486400" cy="429768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FFB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86400" cy="548640"/>
          </a:xfrm>
          <a:prstGeom prst="round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486400" cy="228600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73352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B0E17"/>
                </a:solidFill>
                <a:latin typeface="Segoe UI"/>
              </a:rPr>
              <a:t>Object storage  —  big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50292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✓ Generated images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✓ Generated videos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✓ Uploaded assets / sidebar media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" b="0">
                <a:solidFill>
                  <a:srgbClr val="F2F5FA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AA4B8"/>
                </a:solidFill>
                <a:latin typeface="Segoe UI"/>
              </a:rPr>
              <a:t>Why: cheap per-GB, infinite scale, served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9AA4B8"/>
                </a:solidFill>
                <a:latin typeface="Segoe UI"/>
              </a:rPr>
              <a:t>by CDN — never proxied through your API.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" b="0">
                <a:solidFill>
                  <a:srgbClr val="F2F5FA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B44D"/>
                </a:solidFill>
                <a:latin typeface="Segoe UI"/>
              </a:rPr>
              <a:t>Best: Cloudflare R2 (zero egress fees)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FFB44D"/>
                </a:solidFill>
                <a:latin typeface="Segoe UI"/>
              </a:rPr>
              <a:t>Alternatives: AWS S3 / Google GCS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6B6B"/>
                </a:solidFill>
                <a:latin typeface="Segoe UI"/>
              </a:rPr>
              <a:t>Golden rule:  </a:t>
            </a:r>
            <a:r>
              <a:rPr sz="1400" b="0">
                <a:solidFill>
                  <a:srgbClr val="F2F5FA"/>
                </a:solidFill>
                <a:latin typeface="Segoe UI"/>
              </a:rPr>
              <a:t>queried / transactional data → Postgres.   Large blobs → object storage.   Never the other way around.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COMMON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Do You Need a GPU?  — 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201400" cy="914400"/>
          </a:xfrm>
          <a:prstGeom prst="roundRect">
            <a:avLst/>
          </a:prstGeom>
          <a:solidFill>
            <a:srgbClr val="151B2B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F2F5FA"/>
                </a:solidFill>
                <a:latin typeface="Segoe UI"/>
              </a:rPr>
              <a:t>All AI runs on external APIs. Your server only runs Next.js + PostgreSQL — </a:t>
            </a:r>
            <a:r>
              <a:rPr sz="1600" b="1">
                <a:solidFill>
                  <a:srgbClr val="34D399"/>
                </a:solidFill>
                <a:latin typeface="Segoe UI"/>
              </a:rPr>
              <a:t>CPU / RAM / disk / network bound, not GPU bound.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9AA4B8"/>
                </a:solidFill>
                <a:latin typeface="Segoe UI"/>
              </a:rPr>
              <a:t>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83464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9AA4B8"/>
                </a:solidFill>
                <a:latin typeface="Segoe UI"/>
              </a:rPr>
              <a:t>WHERE IT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2834640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9AA4B8"/>
                </a:solidFill>
                <a:latin typeface="Segoe UI"/>
              </a:rPr>
              <a:t>GPU?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11201400" cy="731520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73152" cy="7315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50292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2F5FA"/>
                </a:solidFill>
                <a:latin typeface="Segoe UI"/>
              </a:rPr>
              <a:t>Chat / image / video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246120"/>
            <a:ext cx="45720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9AA4B8"/>
                </a:solidFill>
                <a:latin typeface="Segoe UI"/>
              </a:rPr>
              <a:t>External APIs (pay per token/image)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3246120"/>
            <a:ext cx="1280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69080"/>
            <a:ext cx="11201400" cy="731520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69080"/>
            <a:ext cx="73152" cy="7315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50292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2F5FA"/>
                </a:solidFill>
                <a:latin typeface="Segoe UI"/>
              </a:rPr>
              <a:t>Next.js app + 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069080"/>
            <a:ext cx="45720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9AA4B8"/>
                </a:solidFill>
                <a:latin typeface="Segoe UI"/>
              </a:rPr>
              <a:t>Your 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069080"/>
            <a:ext cx="1280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92040"/>
            <a:ext cx="11201400" cy="731520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892040"/>
            <a:ext cx="73152" cy="7315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92040"/>
            <a:ext cx="50292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2F5FA"/>
                </a:solidFill>
                <a:latin typeface="Segoe UI"/>
              </a:rPr>
              <a:t>Self-hosting your own LLM (e.g. Llama)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892040"/>
            <a:ext cx="45720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9AA4B8"/>
                </a:solidFill>
                <a:latin typeface="Segoe UI"/>
              </a:rPr>
              <a:t>Would need 2× A100/H100 — separate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892040"/>
            <a:ext cx="1280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6B6B"/>
                </a:solidFill>
                <a:latin typeface="Segoe UI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6E9BFF"/>
                </a:solidFill>
                <a:latin typeface="Segoe UI"/>
              </a:rPr>
              <a:t>Spend the GPU budget on RAM, NVMe SSD and bandwidth instead.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IF YOU MANAGE YOUR OWN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Hardware Requirements by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670048" cy="338328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6E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70048" cy="548640"/>
          </a:xfrm>
          <a:prstGeom prst="round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2670048" cy="27432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267004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B0E17"/>
                </a:solidFill>
                <a:latin typeface="Segoe UI"/>
              </a:rPr>
              <a:t>Dev / ≤1K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9152"/>
            <a:ext cx="2350008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CPU: 4 cores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RAM: 8–16 GB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Disk: 256 GB SSD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Net: home broadband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DB: same 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645920"/>
            <a:ext cx="2670048" cy="338328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6E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19272" y="1645920"/>
            <a:ext cx="2670048" cy="548640"/>
          </a:xfrm>
          <a:prstGeom prst="round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920240"/>
            <a:ext cx="2670048" cy="27432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719072"/>
            <a:ext cx="267004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B0E17"/>
                </a:solidFill>
                <a:latin typeface="Segoe UI"/>
              </a:rPr>
              <a:t>~10K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359152"/>
            <a:ext cx="2350008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CPU: 4–8 cores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RAM: 16–32 GB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Disk: 500 GB NVMe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Net: 1 Gbps + static IP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DB: same box 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1645920"/>
            <a:ext cx="2670048" cy="338328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35624" y="1645920"/>
            <a:ext cx="2670048" cy="54864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5624" y="1920240"/>
            <a:ext cx="2670048" cy="274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1719072"/>
            <a:ext cx="267004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B0E17"/>
                </a:solidFill>
                <a:latin typeface="Segoe UI"/>
              </a:rPr>
              <a:t>~100K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359152"/>
            <a:ext cx="2350008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App: 8c / 32 GB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DB: 8–16c / 64 GB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NVMe high IOPS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+ Redis + LB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App &amp; DB split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1645920"/>
            <a:ext cx="2670048" cy="338328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FFB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51976" y="1645920"/>
            <a:ext cx="2670048" cy="548640"/>
          </a:xfrm>
          <a:prstGeom prst="round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51976" y="1920240"/>
            <a:ext cx="2670048" cy="274320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51976" y="1719072"/>
            <a:ext cx="267004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B0E17"/>
                </a:solidFill>
                <a:latin typeface="Segoe UI"/>
              </a:rPr>
              <a:t>1M–10M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359152"/>
            <a:ext cx="2350008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4–8 app boxes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DB: 32–64c / 128–256 GB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Primary + replicas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Redis cluster + workers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• 10 Gbps + DDoS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57800"/>
            <a:ext cx="111556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Practical middle ground:  </a:t>
            </a:r>
            <a:r>
              <a:rPr sz="1350" b="0">
                <a:solidFill>
                  <a:srgbClr val="F2F5FA"/>
                </a:solidFill>
                <a:latin typeface="Segoe UI"/>
              </a:rPr>
              <a:t>rent a dedicated bare-metal server (Hetzner ~€40–60/mo: Ryzen, 64 GB RAM, 2×NVMe, 1 Gbps unmetered). Same “my own system” control, real bandwidth + static IP, no home-hosting blockers. One such box handles tens of thousands of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THE REAL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Bandwidth &amp;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86400" cy="420624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6E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E9BFF"/>
                </a:solidFill>
                <a:latin typeface="Segoe UI"/>
              </a:rPr>
              <a:t>The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0292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F2F5FA"/>
                </a:solidFill>
                <a:latin typeface="Segoe UI"/>
              </a:rPr>
              <a:t>• Chat JSON: ~50 KB / response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F2F5FA"/>
                </a:solidFill>
                <a:latin typeface="Segoe UI"/>
              </a:rPr>
              <a:t>• 10K concurrent ≈ hundreds of Mbps bursts → needs 1 Gbps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F2F5FA"/>
                </a:solidFill>
                <a:latin typeface="Segoe UI"/>
              </a:rPr>
              <a:t>• Serving a 5 MB image to 1,000 users = 5 GB of egress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FF6B6B"/>
                </a:solidFill>
                <a:latin typeface="Segoe UI"/>
              </a:rPr>
              <a:t>• Media from your own box = 50–200× the traffic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800" b="0">
                <a:solidFill>
                  <a:srgbClr val="F2F5F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34D399"/>
                </a:solidFill>
                <a:latin typeface="Segoe UI"/>
              </a:rPr>
              <a:t>Fix: put media on R2 + CDN and let them eat the egress.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486400" cy="4206240"/>
          </a:xfrm>
          <a:prstGeom prst="roundRect">
            <a:avLst/>
          </a:prstGeom>
          <a:solidFill>
            <a:srgbClr val="151B2B"/>
          </a:solidFill>
          <a:ln w="19050">
            <a:solidFill>
              <a:srgbClr val="FFB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B44D"/>
                </a:solidFill>
                <a:latin typeface="Segoe UI"/>
              </a:rPr>
              <a:t>Network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50292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F2F5FA"/>
                </a:solidFill>
                <a:latin typeface="Segoe UI"/>
              </a:rPr>
              <a:t>✓ Static public IP (not CGNAT)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F2F5FA"/>
                </a:solidFill>
                <a:latin typeface="Segoe UI"/>
              </a:rPr>
              <a:t>✓ Ports 80 / 443 open &amp; ISP-allowed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F2F5FA"/>
                </a:solidFill>
                <a:latin typeface="Segoe UI"/>
              </a:rPr>
              <a:t>✓ High / symmetric upload (business fiber)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F2F5FA"/>
                </a:solidFill>
                <a:latin typeface="Segoe UI"/>
              </a:rPr>
              <a:t>✓ UPS for power; ideally 2nd ISP for failover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F2F5FA"/>
                </a:solidFill>
                <a:latin typeface="Segoe UI"/>
              </a:rPr>
              <a:t>✓ Cloudflare in front: TLS, cache, DDoS shield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6B6B"/>
                </a:solidFill>
                <a:latin typeface="Segoe UI"/>
              </a:rPr>
              <a:t>Residential upload (10–40 Mbps) + CGNAT + no redundancy = why home hosting cannot reach real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THE GROWTH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Step-by-Step Scaling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1201400" cy="969264"/>
          </a:xfrm>
          <a:prstGeom prst="roundRect">
            <a:avLst/>
          </a:prstGeom>
          <a:solidFill>
            <a:srgbClr val="151B2B"/>
          </a:solidFill>
          <a:ln w="16510">
            <a:solidFill>
              <a:srgbClr val="6E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554480" cy="969264"/>
          </a:xfrm>
          <a:prstGeom prst="round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645920"/>
            <a:ext cx="685800" cy="969264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554480" cy="9692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B0E17"/>
                </a:solidFill>
                <a:latin typeface="Segoe UI"/>
              </a:rPr>
              <a:t>10K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B0E17"/>
                </a:solidFill>
                <a:latin typeface="Segoe UI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764792"/>
            <a:ext cx="9235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E9BFF"/>
                </a:solidFill>
                <a:latin typeface="Segoe UI"/>
              </a:rPr>
              <a:t>Launch 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121408"/>
            <a:ext cx="9326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Vercel (or 1 Hetzner box) + managed Neon Postgres (pooled) + R2 for media + Cloudflare CDN. App + DB can share resources.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54203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E9BFF"/>
                </a:solidFill>
                <a:latin typeface="Segoe UI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24912"/>
            <a:ext cx="11201400" cy="969264"/>
          </a:xfrm>
          <a:prstGeom prst="roundRect">
            <a:avLst/>
          </a:prstGeom>
          <a:solidFill>
            <a:srgbClr val="151B2B"/>
          </a:solidFill>
          <a:ln w="16510">
            <a:solidFill>
              <a:srgbClr val="6E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724912"/>
            <a:ext cx="1554480" cy="969264"/>
          </a:xfrm>
          <a:prstGeom prst="round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2724912"/>
            <a:ext cx="685800" cy="969264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24912"/>
            <a:ext cx="1554480" cy="9692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B0E17"/>
                </a:solidFill>
                <a:latin typeface="Segoe UI"/>
              </a:rPr>
              <a:t>100K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B0E17"/>
                </a:solidFill>
                <a:latin typeface="Segoe UI"/>
              </a:rPr>
              <a:t>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843784"/>
            <a:ext cx="9235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E9BFF"/>
                </a:solidFill>
                <a:latin typeface="Segoe UI"/>
              </a:rPr>
              <a:t>Split &amp;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200400"/>
            <a:ext cx="9326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Separate app and DB. Add Redis (cache + rate-limit). Move media generation to an async job queue. CDN on all static + media.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621024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E9BFF"/>
                </a:solidFill>
                <a:latin typeface="Segoe UI"/>
              </a:rP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03904"/>
            <a:ext cx="11201400" cy="969264"/>
          </a:xfrm>
          <a:prstGeom prst="roundRect">
            <a:avLst/>
          </a:prstGeom>
          <a:solidFill>
            <a:srgbClr val="151B2B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803904"/>
            <a:ext cx="1554480" cy="969264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3803904"/>
            <a:ext cx="685800" cy="9692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03904"/>
            <a:ext cx="1554480" cy="9692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B0E17"/>
                </a:solidFill>
                <a:latin typeface="Segoe UI"/>
              </a:rPr>
              <a:t>1M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B0E17"/>
                </a:solidFill>
                <a:latin typeface="Segoe UI"/>
              </a:rPr>
              <a:t>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922776"/>
            <a:ext cx="9235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Replicate &amp; isolate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4279392"/>
            <a:ext cx="9326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Postgres primary + read replicas (chat reads → replicas). Split web tier from media-worker tier. Autoscale containers on Cloud Run / Fargate.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700016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82896"/>
            <a:ext cx="11201400" cy="969264"/>
          </a:xfrm>
          <a:prstGeom prst="roundRect">
            <a:avLst/>
          </a:prstGeom>
          <a:solidFill>
            <a:srgbClr val="151B2B"/>
          </a:solidFill>
          <a:ln w="16510">
            <a:solidFill>
              <a:srgbClr val="FFB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4882896"/>
            <a:ext cx="1554480" cy="969264"/>
          </a:xfrm>
          <a:prstGeom prst="round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71600" y="4882896"/>
            <a:ext cx="685800" cy="969264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82896"/>
            <a:ext cx="1554480" cy="9692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B0E17"/>
                </a:solidFill>
                <a:latin typeface="Segoe UI"/>
              </a:rPr>
              <a:t>10M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B0E17"/>
                </a:solidFill>
                <a:latin typeface="Segoe UI"/>
              </a:rPr>
              <a:t>users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5001768"/>
            <a:ext cx="9235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B44D"/>
                </a:solidFill>
                <a:latin typeface="Segoe UI"/>
              </a:rPr>
              <a:t>Fleet &amp; harden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5358384"/>
            <a:ext cx="9326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2F5FA"/>
                </a:solidFill>
                <a:latin typeface="Segoe UI"/>
              </a:rPr>
              <a:t>Multi-instance app fleet behind LB, Redis cluster, dedicated workers, 10 Gbps, Cloudflare WAF + DDoS. Effectively a small datacenter — rent, don't build.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DO THESE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Migration Checklist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1201400" cy="621792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640080" cy="6217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64008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B0E17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45920"/>
            <a:ext cx="75895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Move generated image/video storage from local fs → Cloudflare R2 /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645920"/>
            <a:ext cx="2560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6B6B"/>
                </a:solidFill>
                <a:latin typeface="Segoe UI"/>
              </a:rPr>
              <a:t>Unblocks horizontal scaling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77440"/>
            <a:ext cx="11201400" cy="621792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77440"/>
            <a:ext cx="640080" cy="6217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64008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B0E17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77440"/>
            <a:ext cx="75895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Move Postgres to Neon / Supabase, connect via pooled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77440"/>
            <a:ext cx="2560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6B6B"/>
                </a:solidFill>
                <a:latin typeface="Segoe UI"/>
              </a:rPr>
              <a:t>Fixes connection exhaustion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08960"/>
            <a:ext cx="11201400" cy="621792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640080" cy="621792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08960"/>
            <a:ext cx="64008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B0E17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108960"/>
            <a:ext cx="75895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Replace DDL-on-startup with a migrations step at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108960"/>
            <a:ext cx="2560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B44D"/>
                </a:solidFill>
                <a:latin typeface="Segoe UI"/>
              </a:rPr>
              <a:t>Removes cold-start race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40480"/>
            <a:ext cx="11201400" cy="621792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40480"/>
            <a:ext cx="640080" cy="621792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40480"/>
            <a:ext cx="64008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B0E17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840480"/>
            <a:ext cx="75895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Make image/video generation async via a queue (Redis)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840480"/>
            <a:ext cx="2560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B44D"/>
                </a:solidFill>
                <a:latin typeface="Segoe UI"/>
              </a:rPr>
              <a:t>Long jobs stop blocking requests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72000"/>
            <a:ext cx="11201400" cy="621792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72000"/>
            <a:ext cx="640080" cy="621792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572000"/>
            <a:ext cx="64008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B0E17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572000"/>
            <a:ext cx="75895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Add Cloudflare CDN + rate-limiting on paid AI endpoints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572000"/>
            <a:ext cx="2560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B44D"/>
                </a:solidFill>
                <a:latin typeface="Segoe UI"/>
              </a:rPr>
              <a:t>Protects cost &amp; latency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303520"/>
            <a:ext cx="11201400" cy="621792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303520"/>
            <a:ext cx="640080" cy="621792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303520"/>
            <a:ext cx="64008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B0E17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303520"/>
            <a:ext cx="75895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At ~500K: split web vs media-worker tiers, add read replicas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5303520"/>
            <a:ext cx="256032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6E9BFF"/>
                </a:solidFill>
                <a:latin typeface="Segoe UI"/>
              </a:rPr>
              <a:t>Independent scaling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ONE PAGE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1201400" cy="749808"/>
          </a:xfrm>
          <a:prstGeom prst="roundRect">
            <a:avLst/>
          </a:prstGeom>
          <a:solidFill>
            <a:srgbClr val="151B2B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09728" cy="7498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23774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Best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91640"/>
            <a:ext cx="83210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2F5FA"/>
                </a:solidFill>
                <a:latin typeface="Segoe UI"/>
              </a:rPr>
              <a:t>Vercel/Cloud Run + Neon (pooled) + Cloudflare R2 + Upstash Redis + Cloudflare CDN. Same architecture from 10K to 10M.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11201400" cy="749808"/>
          </a:xfrm>
          <a:prstGeom prst="roundRect">
            <a:avLst/>
          </a:prstGeom>
          <a:solidFill>
            <a:srgbClr val="151B2B"/>
          </a:solidFill>
          <a:ln w="1524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109728" cy="74980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23774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6B6B"/>
                </a:solidFill>
                <a:latin typeface="Segoe UI"/>
              </a:rPr>
              <a:t>No 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60320"/>
            <a:ext cx="83210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2F5FA"/>
                </a:solidFill>
                <a:latin typeface="Segoe UI"/>
              </a:rPr>
              <a:t>All AI is external APIs. Invest in RAM, NVMe and bandwidth, not GPUs.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29000"/>
            <a:ext cx="11201400" cy="749808"/>
          </a:xfrm>
          <a:prstGeom prst="roundRect">
            <a:avLst/>
          </a:prstGeom>
          <a:solidFill>
            <a:srgbClr val="151B2B"/>
          </a:solidFill>
          <a:ln w="15240">
            <a:solidFill>
              <a:srgbClr val="FFB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09728" cy="749808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23774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B44D"/>
                </a:solidFill>
                <a:latin typeface="Segoe UI"/>
              </a:rPr>
              <a:t>Storage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29000"/>
            <a:ext cx="83210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2F5FA"/>
                </a:solidFill>
                <a:latin typeface="Segoe UI"/>
              </a:rPr>
              <a:t>Chat + credentials → PostgreSQL. Images + videos → object storage. Never swap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97680"/>
            <a:ext cx="11201400" cy="749808"/>
          </a:xfrm>
          <a:prstGeom prst="roundRect">
            <a:avLst/>
          </a:prstGeom>
          <a:solidFill>
            <a:srgbClr val="151B2B"/>
          </a:solidFill>
          <a:ln w="15240">
            <a:solidFill>
              <a:srgbClr val="6E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97680"/>
            <a:ext cx="109728" cy="749808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23774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6E9BFF"/>
                </a:solidFill>
                <a:latin typeface="Segoe UI"/>
              </a:rPr>
              <a:t>Own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97680"/>
            <a:ext cx="83210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2F5FA"/>
                </a:solidFill>
                <a:latin typeface="Segoe UI"/>
              </a:rPr>
              <a:t>Home = dev / small only. For self-managed scale, rent a Hetzner-class dedicated box, not a home PC.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66360"/>
            <a:ext cx="11201400" cy="749808"/>
          </a:xfrm>
          <a:prstGeom prst="roundRect">
            <a:avLst/>
          </a:prstGeom>
          <a:solidFill>
            <a:srgbClr val="151B2B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66360"/>
            <a:ext cx="109728" cy="7498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23774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First move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166360"/>
            <a:ext cx="8321040" cy="7498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2F5FA"/>
                </a:solidFill>
                <a:latin typeface="Segoe UI"/>
              </a:rPr>
              <a:t>Refactor local-disk media storage to pluggable R2/S3 — the single change that makes the app multi-instance ready.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3550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AA4B8"/>
                </a:solidFill>
                <a:latin typeface="Segoe UI"/>
              </a:rPr>
              <a:t>AriamindX  •  Hosting &amp; Scaling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WHAT IT ACTUALLY COSTS  —  2026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Price of the Recommended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3112" cy="384048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1848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0E17"/>
                </a:solidFill>
                <a:latin typeface="Segoe UI"/>
              </a:rPr>
              <a:t>SERVICE  / 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161848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0E17"/>
                </a:solidFill>
                <a:latin typeface="Segoe UI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5272" y="161848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0E17"/>
                </a:solidFill>
                <a:latin typeface="Segoe UI"/>
              </a:rPr>
              <a:t>PRICE  (June 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11183112" cy="43434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984248"/>
            <a:ext cx="33375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F5FA"/>
                </a:solidFill>
                <a:latin typeface="Segoe UI"/>
              </a:rPr>
              <a:t>Vercel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App / web — serverless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1984248"/>
            <a:ext cx="1600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E9BFF"/>
                </a:solidFill>
                <a:latin typeface="Segoe UI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5272" y="1984248"/>
            <a:ext cx="59436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$20</a:t>
            </a:r>
            <a:r>
              <a:rPr sz="900" b="0">
                <a:solidFill>
                  <a:srgbClr val="9AA4B8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/seat/mo · incl. $20 credit, 1 TB transfer, 10M edge req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72868"/>
            <a:ext cx="11183112" cy="43434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418588"/>
            <a:ext cx="33375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F5FA"/>
                </a:solidFill>
                <a:latin typeface="Segoe UI"/>
              </a:rPr>
              <a:t>Google Cloud Run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Containers / API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418588"/>
            <a:ext cx="1600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E9BFF"/>
                </a:solidFill>
                <a:latin typeface="Segoe UI"/>
              </a:rPr>
              <a:t>Pay-go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5272" y="2418588"/>
            <a:ext cx="59436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$0.40</a:t>
            </a:r>
            <a:r>
              <a:rPr sz="900" b="0">
                <a:solidFill>
                  <a:srgbClr val="9AA4B8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/M req + $24/M vCPU-s + $2.5/M GiB-s · 2M req/mo free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07208"/>
            <a:ext cx="11183112" cy="43434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852928"/>
            <a:ext cx="33375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F5FA"/>
                </a:solidFill>
                <a:latin typeface="Segoe UI"/>
              </a:rPr>
              <a:t>Hetzner AX42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Dedicated bare-metal 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2852928"/>
            <a:ext cx="1600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E9BFF"/>
                </a:solidFill>
                <a:latin typeface="Segoe UI"/>
              </a:rPr>
              <a:t>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2852928"/>
            <a:ext cx="59436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€39</a:t>
            </a:r>
            <a:r>
              <a:rPr sz="900" b="0">
                <a:solidFill>
                  <a:srgbClr val="9AA4B8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/mo · Ryzen 8700G, 64 GB DDR5, NVMe (+€39 setup)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41548"/>
            <a:ext cx="11183112" cy="43434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87268"/>
            <a:ext cx="33375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F5FA"/>
                </a:solidFill>
                <a:latin typeface="Segoe UI"/>
              </a:rPr>
              <a:t>Neon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Managed Postgres (pooled)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3287268"/>
            <a:ext cx="1600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E9BFF"/>
                </a:solidFill>
                <a:latin typeface="Segoe UI"/>
              </a:rPr>
              <a:t>Launch→Scale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3287268"/>
            <a:ext cx="59436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from $5</a:t>
            </a:r>
            <a:r>
              <a:rPr sz="900" b="0">
                <a:solidFill>
                  <a:srgbClr val="9AA4B8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/mo · $0.106→$0.222 / CU-hr + $0.35 / GB-mo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75888"/>
            <a:ext cx="11183112" cy="43434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721608"/>
            <a:ext cx="33375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F5FA"/>
                </a:solidFill>
                <a:latin typeface="Segoe UI"/>
              </a:rPr>
              <a:t>Supabase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Managed Postgres (alt)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3721608"/>
            <a:ext cx="1600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E9BFF"/>
                </a:solidFill>
                <a:latin typeface="Segoe UI"/>
              </a:rPr>
              <a:t>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3721608"/>
            <a:ext cx="59436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$25</a:t>
            </a:r>
            <a:r>
              <a:rPr sz="900" b="0">
                <a:solidFill>
                  <a:srgbClr val="9AA4B8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/mo · 8 GB DB, 100 GB storage, 50K MAU incl.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110228"/>
            <a:ext cx="11183112" cy="43434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155948"/>
            <a:ext cx="33375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F5FA"/>
                </a:solidFill>
                <a:latin typeface="Segoe UI"/>
              </a:rPr>
              <a:t>Cloudflare R2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Media / object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5072" y="4155948"/>
            <a:ext cx="1600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E9BFF"/>
                </a:solidFill>
                <a:latin typeface="Segoe UI"/>
              </a:rPr>
              <a:t>Standard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5272" y="4155948"/>
            <a:ext cx="59436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$0.015</a:t>
            </a:r>
            <a:r>
              <a:rPr sz="900" b="0">
                <a:solidFill>
                  <a:srgbClr val="9AA4B8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/GB-mo · $0 egress · $4.50/M Class A, $0.36/M Class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544568"/>
            <a:ext cx="11183112" cy="43434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590288"/>
            <a:ext cx="33375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F5FA"/>
                </a:solidFill>
                <a:latin typeface="Segoe UI"/>
              </a:rPr>
              <a:t>AWS S3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Object storage (alt)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05072" y="4590288"/>
            <a:ext cx="1600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E9BFF"/>
                </a:solidFill>
                <a:latin typeface="Segoe UI"/>
              </a:rPr>
              <a:t>Standard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5272" y="4590288"/>
            <a:ext cx="59436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$0.023</a:t>
            </a:r>
            <a:r>
              <a:rPr sz="900" b="0">
                <a:solidFill>
                  <a:srgbClr val="9AA4B8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/GB-mo + $0.09/GB egress (first 100 GB/mo free)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978907"/>
            <a:ext cx="11183112" cy="43434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5024627"/>
            <a:ext cx="33375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F5FA"/>
                </a:solidFill>
                <a:latin typeface="Segoe UI"/>
              </a:rPr>
              <a:t>Upstash Redis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Cache / rate-limit / queue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05072" y="5024627"/>
            <a:ext cx="1600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E9BFF"/>
                </a:solidFill>
                <a:latin typeface="Segoe UI"/>
              </a:rPr>
              <a:t>Pay-go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05272" y="5024627"/>
            <a:ext cx="59436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$0.20</a:t>
            </a:r>
            <a:r>
              <a:rPr sz="900" b="0">
                <a:solidFill>
                  <a:srgbClr val="9AA4B8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/100K commands · 256 MB + 500K cmd/mo free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413247"/>
            <a:ext cx="11183112" cy="43434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5458967"/>
            <a:ext cx="33375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F5FA"/>
                </a:solidFill>
                <a:latin typeface="Segoe UI"/>
              </a:rPr>
              <a:t>Cloudflare CDN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Edge cache + WAF / DDoS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05072" y="5458967"/>
            <a:ext cx="1600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E9BFF"/>
                </a:solidFill>
                <a:latin typeface="Segoe UI"/>
              </a:rPr>
              <a:t>Free / Pro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05272" y="5458967"/>
            <a:ext cx="59436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$0 / $20</a:t>
            </a:r>
            <a:r>
              <a:rPr sz="900" b="0">
                <a:solidFill>
                  <a:srgbClr val="9AA4B8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/mo · unlimited cached bandwidth on free tier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847587"/>
            <a:ext cx="11183112" cy="43434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5893307"/>
            <a:ext cx="33375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F5FA"/>
                </a:solidFill>
                <a:latin typeface="Segoe UI"/>
              </a:rPr>
              <a:t>OpenAI / Anthropic 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Gemini — AI inference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05072" y="5893307"/>
            <a:ext cx="1600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E9BFF"/>
                </a:solidFill>
                <a:latin typeface="Segoe UI"/>
              </a:rPr>
              <a:t>Per-use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05272" y="5893307"/>
            <a:ext cx="59436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B44D"/>
                </a:solidFill>
                <a:latin typeface="Segoe UI"/>
              </a:rPr>
              <a:t>pass-through</a:t>
            </a:r>
            <a:r>
              <a:rPr sz="900" b="0">
                <a:solidFill>
                  <a:srgbClr val="9AA4B8"/>
                </a:solidFill>
                <a:latin typeface="Segoe U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4B8"/>
                </a:solidFill>
                <a:latin typeface="Segoe UI"/>
              </a:rPr>
              <a:t>· pay per token / image; the real variable cost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199632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Bottom line:  </a:t>
            </a:r>
            <a:r>
              <a:rPr sz="1250" b="0">
                <a:solidFill>
                  <a:srgbClr val="F2F5FA"/>
                </a:solidFill>
                <a:latin typeface="Segoe UI"/>
              </a:rPr>
              <a:t>a 10K-user launch runs on managed services for roughly $45–$70/mo (or a €39 Hetzner box). AI API usage — not hosting — dominates the bill as you grow.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E9BFF"/>
                </a:solidFill>
                <a:latin typeface="Segoe UI"/>
              </a:rPr>
              <a:t>BALLPARK MONTHLY BILL  —  HOSTING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What You'll Pay at Each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670048" cy="4160520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2670048" cy="1463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92807"/>
            <a:ext cx="23042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34D399"/>
                </a:solidFill>
                <a:latin typeface="Segoe UI"/>
              </a:rPr>
              <a:t>10K</a:t>
            </a:r>
            <a:r>
              <a:rPr sz="1300" b="1">
                <a:solidFill>
                  <a:srgbClr val="9AA4B8"/>
                </a:solidFill>
                <a:latin typeface="Segoe UI"/>
              </a:rPr>
              <a:t>  users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5FA"/>
                </a:solidFill>
                <a:latin typeface="Segoe UI"/>
              </a:rPr>
              <a:t>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926080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$45 – $70 / 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566160"/>
            <a:ext cx="230428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Vercel Pro  $20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Neon Launch  ~$20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R2 media  $1–3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Upstash + CDN  free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— or — 1 Hetzner box €39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00200"/>
            <a:ext cx="2670048" cy="4160520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600200"/>
            <a:ext cx="2670048" cy="146304"/>
          </a:xfrm>
          <a:prstGeom prst="rect">
            <a:avLst/>
          </a:prstGeom>
          <a:solidFill>
            <a:srgbClr val="6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892807"/>
            <a:ext cx="23042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6E9BFF"/>
                </a:solidFill>
                <a:latin typeface="Segoe UI"/>
              </a:rPr>
              <a:t>100K</a:t>
            </a:r>
            <a:r>
              <a:rPr sz="1300" b="1">
                <a:solidFill>
                  <a:srgbClr val="9AA4B8"/>
                </a:solidFill>
                <a:latin typeface="Segoe UI"/>
              </a:rPr>
              <a:t>  users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5FA"/>
                </a:solidFill>
                <a:latin typeface="Segoe UI"/>
              </a:rPr>
              <a:t>Split &amp;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926080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6E9BFF"/>
                </a:solidFill>
                <a:latin typeface="Segoe UI"/>
              </a:rPr>
              <a:t>$200 – $500 /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566160"/>
            <a:ext cx="230428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Cloud Run / box  $80+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Neon Scale  ~$150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R2 (100s GB)  $5–15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Upstash paid  $20+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Cloudflare Pro  $20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600200"/>
            <a:ext cx="2670048" cy="4160520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600200"/>
            <a:ext cx="2670048" cy="146304"/>
          </a:xfrm>
          <a:prstGeom prst="rect">
            <a:avLst/>
          </a:prstGeom>
          <a:solidFill>
            <a:srgbClr val="FFB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892807"/>
            <a:ext cx="23042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B44D"/>
                </a:solidFill>
                <a:latin typeface="Segoe UI"/>
              </a:rPr>
              <a:t>1M</a:t>
            </a:r>
            <a:r>
              <a:rPr sz="1300" b="1">
                <a:solidFill>
                  <a:srgbClr val="9AA4B8"/>
                </a:solidFill>
                <a:latin typeface="Segoe UI"/>
              </a:rPr>
              <a:t>  users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5FA"/>
                </a:solidFill>
                <a:latin typeface="Segoe UI"/>
              </a:rPr>
              <a:t>Replicate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926080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B44D"/>
                </a:solidFill>
                <a:latin typeface="Segoe UI"/>
              </a:rPr>
              <a:t>$1.5K – $4K /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566160"/>
            <a:ext cx="230428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App fleet (Cloud Run)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Neon Scale + replicas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R2 (multi-TB) $30–100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Redis cluster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WAF + 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600200"/>
            <a:ext cx="2670048" cy="4160520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600200"/>
            <a:ext cx="2670048" cy="14630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1892807"/>
            <a:ext cx="23042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6B6B"/>
                </a:solidFill>
                <a:latin typeface="Segoe UI"/>
              </a:rPr>
              <a:t>10M</a:t>
            </a:r>
            <a:r>
              <a:rPr sz="1300" b="1">
                <a:solidFill>
                  <a:srgbClr val="9AA4B8"/>
                </a:solidFill>
                <a:latin typeface="Segoe UI"/>
              </a:rPr>
              <a:t>  users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5FA"/>
                </a:solidFill>
                <a:latin typeface="Segoe UI"/>
              </a:rPr>
              <a:t>Fleet &amp; harden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926080"/>
            <a:ext cx="2304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6B6B"/>
                </a:solidFill>
                <a:latin typeface="Segoe UI"/>
              </a:rPr>
              <a:t>$10K – $30K+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566160"/>
            <a:ext cx="230428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Multi-box app fleet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Large managed PG HA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R2 (10s of TB)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Dedicated workers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F2F5FA"/>
                </a:solidFill>
                <a:latin typeface="Segoe UI"/>
              </a:rPr>
              <a:t>• Enterprise WAF / SLA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5332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B44D"/>
                </a:solidFill>
                <a:latin typeface="Segoe UI"/>
              </a:rPr>
              <a:t>Order-of-magnitude estimates for infrastructure only.  </a:t>
            </a:r>
            <a:r>
              <a:rPr sz="1200" b="0">
                <a:solidFill>
                  <a:srgbClr val="9AA4B8"/>
                </a:solidFill>
                <a:latin typeface="Segoe UI"/>
              </a:rPr>
              <a:t>Excludes AI API spend, which scales with usage and typically exceeds hosting at every stage. Cloud prices change — verify before budgeting.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