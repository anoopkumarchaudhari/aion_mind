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">
            <a:extLst>
              <a:ext uri="{FF2B5EF4-FFF2-40B4-BE49-F238E27FC236}">
                <a16:creationId xmlns:a16="http://schemas.microsoft.com/office/drawing/2014/main" id="{95F6F5EA-495F-4DF3-BE58-E3245E54DE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375CA03F-8019-43DA-8AE7-3EE96734C0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16D76401-C9BE-47E9-BBBB-E5DA71E6D3C4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F6878922-6149-425D-B82A-1761FC2BBBC0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60CF2730-A625-49F0-910F-F63663B07D64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9EE73D34-17F7-4C83-AE79-C913135C5732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FDE833CA-F874-4B49-9599-CACB85FF35F0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7BA8F3BF-310D-46EE-9DEA-8E3E1E8CA851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8065E604-5F9A-40B9-AD64-9788741CC0A9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FBD29FA4-BAA9-45A8-B698-0E30DE483F4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58EFCBE5-0491-412A-AEA9-272F200DAC41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8DD733E6-471C-4BE3-B861-71706201986F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D64B28-9391-4B13-B78A-585874C0FBF0}"/>
              </a:ext>
            </a:extLst>
          </p:cNvPr>
          <p:cNvSpPr>
            <a:spLocks noGrp="1"/>
          </p:cNvSpPr>
          <p:nvPr/>
        </p:nvSpPr>
        <p:spPr>
          <a:xfrm>
            <a:off x="742950" y="533400"/>
            <a:ext cx="409575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6202E6-33E7-4F71-B9C7-592A59EBBFA7}"/>
              </a:ext>
            </a:extLst>
          </p:cNvPr>
          <p:cNvSpPr>
            <a:spLocks noGrp="1"/>
          </p:cNvSpPr>
          <p:nvPr/>
        </p:nvSpPr>
        <p:spPr>
          <a:xfrm>
            <a:off x="742950" y="704850"/>
            <a:ext cx="228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INVESTOR DECK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9CFD3-8273-42F4-8C04-CD740523669D}"/>
              </a:ext>
            </a:extLst>
          </p:cNvPr>
          <p:cNvSpPr>
            <a:spLocks noGrp="1"/>
          </p:cNvSpPr>
          <p:nvPr/>
        </p:nvSpPr>
        <p:spPr>
          <a:xfrm>
            <a:off x="742950" y="1181100"/>
            <a:ext cx="7143750" cy="1809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Aria AI is a trust layer for multi-model intelligence.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96A296-CB83-4826-8873-C154653EBC9A}"/>
              </a:ext>
            </a:extLst>
          </p:cNvPr>
          <p:cNvSpPr>
            <a:spLocks noGrp="1"/>
          </p:cNvSpPr>
          <p:nvPr/>
        </p:nvSpPr>
        <p:spPr>
          <a:xfrm>
            <a:off x="781050" y="3162300"/>
            <a:ext cx="6858000" cy="838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 credit-based AI workspace that routes every task through Aria Mind, Aria Research, or Aria Analyzer so users get speed, depth, and judged answers without choosing raw model providers.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0264C1-9E64-43CA-913D-A27069EC38DA}"/>
              </a:ext>
            </a:extLst>
          </p:cNvPr>
          <p:cNvSpPr>
            <a:spLocks noGrp="1"/>
          </p:cNvSpPr>
          <p:nvPr/>
        </p:nvSpPr>
        <p:spPr>
          <a:xfrm>
            <a:off x="8286750" y="876300"/>
            <a:ext cx="2857500" cy="3848100"/>
          </a:xfrm>
          <a:prstGeom prst="rect">
            <a:avLst/>
          </a:prstGeom>
          <a:solidFill>
            <a:srgbClr val="0B1D24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0B4B2A-26D9-4521-A5A3-A39D84D682AF}"/>
              </a:ext>
            </a:extLst>
          </p:cNvPr>
          <p:cNvSpPr>
            <a:spLocks noGrp="1"/>
          </p:cNvSpPr>
          <p:nvPr/>
        </p:nvSpPr>
        <p:spPr>
          <a:xfrm>
            <a:off x="8553450" y="1143000"/>
            <a:ext cx="1428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Mode stack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2CFE6B4-8562-4362-9516-F69B7C8779F1}"/>
              </a:ext>
            </a:extLst>
          </p:cNvPr>
          <p:cNvSpPr>
            <a:spLocks noGrp="1"/>
          </p:cNvSpPr>
          <p:nvPr/>
        </p:nvSpPr>
        <p:spPr>
          <a:xfrm>
            <a:off x="8572500" y="1524000"/>
            <a:ext cx="2076450" cy="6858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622B9C-3370-49AB-BC70-074607FA8EDB}"/>
              </a:ext>
            </a:extLst>
          </p:cNvPr>
          <p:cNvSpPr>
            <a:spLocks noGrp="1"/>
          </p:cNvSpPr>
          <p:nvPr/>
        </p:nvSpPr>
        <p:spPr>
          <a:xfrm>
            <a:off x="8763000" y="16668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Aria Mind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C28B46-8C61-43F0-99EF-FD45A512D00D}"/>
              </a:ext>
            </a:extLst>
          </p:cNvPr>
          <p:cNvSpPr>
            <a:spLocks noGrp="1"/>
          </p:cNvSpPr>
          <p:nvPr/>
        </p:nvSpPr>
        <p:spPr>
          <a:xfrm>
            <a:off x="8763000" y="19431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speed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C4D3E30-B49C-4CF0-AEA6-EF0DA413A4FF}"/>
              </a:ext>
            </a:extLst>
          </p:cNvPr>
          <p:cNvSpPr>
            <a:spLocks noGrp="1"/>
          </p:cNvSpPr>
          <p:nvPr/>
        </p:nvSpPr>
        <p:spPr>
          <a:xfrm>
            <a:off x="8572500" y="2438400"/>
            <a:ext cx="2076450" cy="6858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6DBD5E-736E-4697-BD16-FF01897F6E16}"/>
              </a:ext>
            </a:extLst>
          </p:cNvPr>
          <p:cNvSpPr>
            <a:spLocks noGrp="1"/>
          </p:cNvSpPr>
          <p:nvPr/>
        </p:nvSpPr>
        <p:spPr>
          <a:xfrm>
            <a:off x="8763000" y="25812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Aria Research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38CD2B-7A64-4C82-85EF-6099C2DC339C}"/>
              </a:ext>
            </a:extLst>
          </p:cNvPr>
          <p:cNvSpPr>
            <a:spLocks noGrp="1"/>
          </p:cNvSpPr>
          <p:nvPr/>
        </p:nvSpPr>
        <p:spPr>
          <a:xfrm>
            <a:off x="8763000" y="28575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1A82653-C2F3-4E6D-93F2-DCA3BBE2E0D1}"/>
              </a:ext>
            </a:extLst>
          </p:cNvPr>
          <p:cNvSpPr>
            <a:spLocks noGrp="1"/>
          </p:cNvSpPr>
          <p:nvPr/>
        </p:nvSpPr>
        <p:spPr>
          <a:xfrm>
            <a:off x="8572500" y="3352800"/>
            <a:ext cx="2076450" cy="685800"/>
          </a:xfrm>
          <a:prstGeom prst="rect">
            <a:avLst/>
          </a:prstGeom>
          <a:solidFill>
            <a:srgbClr val="153C38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F59426-F47F-4FC1-9483-61C9C8E8FE78}"/>
              </a:ext>
            </a:extLst>
          </p:cNvPr>
          <p:cNvSpPr>
            <a:spLocks noGrp="1"/>
          </p:cNvSpPr>
          <p:nvPr/>
        </p:nvSpPr>
        <p:spPr>
          <a:xfrm>
            <a:off x="8763000" y="3495675"/>
            <a:ext cx="171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Aria Analyzer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06831F8-3CCD-4BEC-A140-86F34CA3AAD8}"/>
              </a:ext>
            </a:extLst>
          </p:cNvPr>
          <p:cNvSpPr>
            <a:spLocks noGrp="1"/>
          </p:cNvSpPr>
          <p:nvPr/>
        </p:nvSpPr>
        <p:spPr>
          <a:xfrm>
            <a:off x="8763000" y="3771900"/>
            <a:ext cx="1524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judgment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F38EEC-89D9-4AF9-81F0-ED3D00A9C26F}"/>
              </a:ext>
            </a:extLst>
          </p:cNvPr>
          <p:cNvSpPr>
            <a:spLocks noGrp="1"/>
          </p:cNvSpPr>
          <p:nvPr/>
        </p:nvSpPr>
        <p:spPr>
          <a:xfrm>
            <a:off x="742950" y="4819650"/>
            <a:ext cx="3028950" cy="11620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6D3C6A1-A2A6-431B-928C-0C59AABE19EE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28105F-B571-4704-A571-50EFE3AFD926}"/>
              </a:ext>
            </a:extLst>
          </p:cNvPr>
          <p:cNvSpPr>
            <a:spLocks noGrp="1"/>
          </p:cNvSpPr>
          <p:nvPr/>
        </p:nvSpPr>
        <p:spPr>
          <a:xfrm>
            <a:off x="914400" y="54102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branded modes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4419C8-B4AE-49FA-93E4-6A3F0C49A944}"/>
              </a:ext>
            </a:extLst>
          </p:cNvPr>
          <p:cNvSpPr>
            <a:spLocks noGrp="1"/>
          </p:cNvSpPr>
          <p:nvPr/>
        </p:nvSpPr>
        <p:spPr>
          <a:xfrm>
            <a:off x="914400" y="5657850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Mind, Research, Analyzer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5F3E74-42D4-4BD9-97D1-385EF8AA0EF7}"/>
              </a:ext>
            </a:extLst>
          </p:cNvPr>
          <p:cNvSpPr>
            <a:spLocks noGrp="1"/>
          </p:cNvSpPr>
          <p:nvPr/>
        </p:nvSpPr>
        <p:spPr>
          <a:xfrm>
            <a:off x="4219575" y="4819650"/>
            <a:ext cx="3028950" cy="11620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E17FF5F-CDBA-4CE4-847A-9BF58621D1B9}"/>
              </a:ext>
            </a:extLst>
          </p:cNvPr>
          <p:cNvSpPr>
            <a:spLocks noGrp="1"/>
          </p:cNvSpPr>
          <p:nvPr/>
        </p:nvSpPr>
        <p:spPr>
          <a:xfrm>
            <a:off x="4391025" y="50292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4+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E6B85F0-BBB7-4BB0-A513-FEFB1CAECBC5}"/>
              </a:ext>
            </a:extLst>
          </p:cNvPr>
          <p:cNvSpPr>
            <a:spLocks noGrp="1"/>
          </p:cNvSpPr>
          <p:nvPr/>
        </p:nvSpPr>
        <p:spPr>
          <a:xfrm>
            <a:off x="4391025" y="54102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provider routes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645205A-6151-4D9D-9A32-2CDECCF5574F}"/>
              </a:ext>
            </a:extLst>
          </p:cNvPr>
          <p:cNvSpPr>
            <a:spLocks noGrp="1"/>
          </p:cNvSpPr>
          <p:nvPr/>
        </p:nvSpPr>
        <p:spPr>
          <a:xfrm>
            <a:off x="4391025" y="5657850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OpenAI, Anthropic, DeepSeek, Gemini, expandable to Grok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A3B6F59-D2E0-405A-B689-3D6385573729}"/>
              </a:ext>
            </a:extLst>
          </p:cNvPr>
          <p:cNvSpPr>
            <a:spLocks noGrp="1"/>
          </p:cNvSpPr>
          <p:nvPr/>
        </p:nvSpPr>
        <p:spPr>
          <a:xfrm>
            <a:off x="7696200" y="4819650"/>
            <a:ext cx="3028950" cy="11620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64BBC47-5943-477D-A0A4-C5CDA751BA67}"/>
              </a:ext>
            </a:extLst>
          </p:cNvPr>
          <p:cNvSpPr>
            <a:spLocks noGrp="1"/>
          </p:cNvSpPr>
          <p:nvPr/>
        </p:nvSpPr>
        <p:spPr>
          <a:xfrm>
            <a:off x="7867650" y="50292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75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USD 324.7B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AD250E2-900D-4987-9D1C-768C9F153DF4}"/>
              </a:ext>
            </a:extLst>
          </p:cNvPr>
          <p:cNvSpPr>
            <a:spLocks noGrp="1"/>
          </p:cNvSpPr>
          <p:nvPr/>
        </p:nvSpPr>
        <p:spPr>
          <a:xfrm>
            <a:off x="7867650" y="5410200"/>
            <a:ext cx="2476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2033 GenAI market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DA03704-1E62-4287-8F43-8D77DC0D30EF}"/>
              </a:ext>
            </a:extLst>
          </p:cNvPr>
          <p:cNvSpPr>
            <a:spLocks noGrp="1"/>
          </p:cNvSpPr>
          <p:nvPr/>
        </p:nvSpPr>
        <p:spPr>
          <a:xfrm>
            <a:off x="7867650" y="5657850"/>
            <a:ext cx="2571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Grand View Research forecast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18D71D2-2FC5-4716-8682-033A33A520C8}"/>
              </a:ext>
            </a:extLst>
          </p:cNvPr>
          <p:cNvSpPr>
            <a:spLocks noGrp="1"/>
          </p:cNvSpPr>
          <p:nvPr/>
        </p:nvSpPr>
        <p:spPr>
          <a:xfrm>
            <a:off x="742950" y="64198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Prepared for investor conversations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210C2D0-BD23-4409-A5BD-187F04A71784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91945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g">
            <a:extLst>
              <a:ext uri="{FF2B5EF4-FFF2-40B4-BE49-F238E27FC236}">
                <a16:creationId xmlns:a16="http://schemas.microsoft.com/office/drawing/2014/main" id="{C8F50179-E264-43E1-A1E8-1F6FB526874A}"/>
              </a:ext>
            </a:extLst>
          </p:cNvPr>
          <p:cNvSpPr>
            <a:spLocks noGrp="1"/>
          </p:cNvSpPr>
          <p:nvPr/>
        </p:nvSpPr>
        <p:spPr>
          <a:xfrm>
            <a:off x="0" y="9144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0217D2F5-66D9-4272-A418-415CCB2C62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DBAFA7FA-C606-4105-BC75-BC195D8D61DC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CB07C345-7AE0-4BB5-B6AB-FD9A45A37F6A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72726061-D165-486D-8BDE-1C44F091D4F8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4364FDD3-1057-4B35-9282-4FF828C32977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02138979-E14D-4F7B-82E5-74B426245540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0FBF9F22-02C2-4948-A795-E88176401C08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3D0270C5-4073-448E-886E-B9D4CD2975D4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746C069F-9735-4EFA-B5E7-C5116F1242D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70F9344C-F7E9-4C96-B9C0-05204DAC8FC5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D5C3F834-B5EE-4023-BF76-BD8FBF6CC910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">
            <a:extLst>
              <a:ext uri="{FF2B5EF4-FFF2-40B4-BE49-F238E27FC236}">
                <a16:creationId xmlns:a16="http://schemas.microsoft.com/office/drawing/2014/main" id="{DBB862DD-026B-4AA2-99CE-2B96F87FEF6B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">
            <a:extLst>
              <a:ext uri="{FF2B5EF4-FFF2-40B4-BE49-F238E27FC236}">
                <a16:creationId xmlns:a16="http://schemas.microsoft.com/office/drawing/2014/main" id="{99499426-9963-4765-AE0F-EE2B170215C3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THESIS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F5E14BB-AB12-467D-A3E9-1FCDD317C973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AI adoption is no longer the question; trusted workflow deployment is.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DC0A4299-19AA-47D3-9D33-D31CBB7AC259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2297368-E091-41F0-9070-CAC0168D95F1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C9B67E-BCC7-4C76-BD14-B0243E8866E6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59EC73-5B12-4B74-BDDA-677D7BEF472A}"/>
              </a:ext>
            </a:extLst>
          </p:cNvPr>
          <p:cNvSpPr>
            <a:spLocks noGrp="1"/>
          </p:cNvSpPr>
          <p:nvPr/>
        </p:nvSpPr>
        <p:spPr>
          <a:xfrm>
            <a:off x="762000" y="1657350"/>
            <a:ext cx="62865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The next product gap is not access to models. It is controlled orchestration: knowing when to search, which model to use, when to compare answers, and how to keep spend predictable.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CE89C32-E2B9-4125-B165-9170A276376F}"/>
              </a:ext>
            </a:extLst>
          </p:cNvPr>
          <p:cNvSpPr>
            <a:spLocks noGrp="1"/>
          </p:cNvSpPr>
          <p:nvPr/>
        </p:nvSpPr>
        <p:spPr>
          <a:xfrm>
            <a:off x="819150" y="2686050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8B6"/>
                </a:solidFill>
                <a:latin typeface="Aptos"/>
                <a:ea typeface="Aptos"/>
                <a:cs typeface="Aptos"/>
              </a:rPr>
              <a:t>regular AI use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F095039-920D-4DC6-B0F7-5629F5F32E8B}"/>
              </a:ext>
            </a:extLst>
          </p:cNvPr>
          <p:cNvSpPr>
            <a:spLocks noGrp="1"/>
          </p:cNvSpPr>
          <p:nvPr/>
        </p:nvSpPr>
        <p:spPr>
          <a:xfrm>
            <a:off x="819150" y="2924175"/>
            <a:ext cx="6191250" cy="114300"/>
          </a:xfrm>
          <a:prstGeom prst="rect">
            <a:avLst/>
          </a:prstGeom>
          <a:solidFill>
            <a:srgbClr val="0B232A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751355-D869-46ED-85D7-CB55D8F7275F}"/>
              </a:ext>
            </a:extLst>
          </p:cNvPr>
          <p:cNvSpPr>
            <a:spLocks noGrp="1"/>
          </p:cNvSpPr>
          <p:nvPr/>
        </p:nvSpPr>
        <p:spPr>
          <a:xfrm>
            <a:off x="819150" y="2924175"/>
            <a:ext cx="5448300" cy="1143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E2F5AD-1BBB-4E04-AF08-206E8C9C91B1}"/>
              </a:ext>
            </a:extLst>
          </p:cNvPr>
          <p:cNvSpPr>
            <a:spLocks noGrp="1"/>
          </p:cNvSpPr>
          <p:nvPr/>
        </p:nvSpPr>
        <p:spPr>
          <a:xfrm>
            <a:off x="6343650" y="285750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88%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493396A-A3CB-4D5A-99A8-7E86AC9CEBA6}"/>
              </a:ext>
            </a:extLst>
          </p:cNvPr>
          <p:cNvSpPr>
            <a:spLocks noGrp="1"/>
          </p:cNvSpPr>
          <p:nvPr/>
        </p:nvSpPr>
        <p:spPr>
          <a:xfrm>
            <a:off x="819150" y="3281363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8B6"/>
                </a:solidFill>
                <a:latin typeface="Aptos"/>
                <a:ea typeface="Aptos"/>
                <a:cs typeface="Aptos"/>
              </a:rPr>
              <a:t>agent experimentation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14EF5E0-71E7-4554-9FBF-558BD7387B2D}"/>
              </a:ext>
            </a:extLst>
          </p:cNvPr>
          <p:cNvSpPr>
            <a:spLocks noGrp="1"/>
          </p:cNvSpPr>
          <p:nvPr/>
        </p:nvSpPr>
        <p:spPr>
          <a:xfrm>
            <a:off x="819150" y="3519488"/>
            <a:ext cx="6191250" cy="114300"/>
          </a:xfrm>
          <a:prstGeom prst="rect">
            <a:avLst/>
          </a:prstGeom>
          <a:solidFill>
            <a:srgbClr val="0B232A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7E10026-C6EB-48F2-87E7-189CE9719F29}"/>
              </a:ext>
            </a:extLst>
          </p:cNvPr>
          <p:cNvSpPr>
            <a:spLocks noGrp="1"/>
          </p:cNvSpPr>
          <p:nvPr/>
        </p:nvSpPr>
        <p:spPr>
          <a:xfrm>
            <a:off x="819150" y="3519488"/>
            <a:ext cx="3838575" cy="1143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AEA4E89-A851-4C6C-BCE3-FB060AC8723B}"/>
              </a:ext>
            </a:extLst>
          </p:cNvPr>
          <p:cNvSpPr>
            <a:spLocks noGrp="1"/>
          </p:cNvSpPr>
          <p:nvPr/>
        </p:nvSpPr>
        <p:spPr>
          <a:xfrm>
            <a:off x="4733925" y="3452813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62%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F688577-8BB1-479E-A0C6-70709D3AB447}"/>
              </a:ext>
            </a:extLst>
          </p:cNvPr>
          <p:cNvSpPr>
            <a:spLocks noGrp="1"/>
          </p:cNvSpPr>
          <p:nvPr/>
        </p:nvSpPr>
        <p:spPr>
          <a:xfrm>
            <a:off x="819150" y="3876675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8B6"/>
                </a:solidFill>
                <a:latin typeface="Aptos"/>
                <a:ea typeface="Aptos"/>
                <a:cs typeface="Aptos"/>
              </a:rPr>
              <a:t>agentic AI scaling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137E61-1EE4-4FFD-89BB-90618FA0EF10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6191250" cy="114300"/>
          </a:xfrm>
          <a:prstGeom prst="rect">
            <a:avLst/>
          </a:prstGeom>
          <a:solidFill>
            <a:srgbClr val="0B232A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2C98214-70E3-4A89-B4C6-FCB422F35136}"/>
              </a:ext>
            </a:extLst>
          </p:cNvPr>
          <p:cNvSpPr>
            <a:spLocks noGrp="1"/>
          </p:cNvSpPr>
          <p:nvPr/>
        </p:nvSpPr>
        <p:spPr>
          <a:xfrm>
            <a:off x="819150" y="4114800"/>
            <a:ext cx="1423988" cy="1143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B03FAD-BF18-4F8D-AFD1-0BD6CAA6F26D}"/>
              </a:ext>
            </a:extLst>
          </p:cNvPr>
          <p:cNvSpPr>
            <a:spLocks noGrp="1"/>
          </p:cNvSpPr>
          <p:nvPr/>
        </p:nvSpPr>
        <p:spPr>
          <a:xfrm>
            <a:off x="2319338" y="4048125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23%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76A3B10-6E1D-451E-B291-3F40122D6765}"/>
              </a:ext>
            </a:extLst>
          </p:cNvPr>
          <p:cNvSpPr>
            <a:spLocks noGrp="1"/>
          </p:cNvSpPr>
          <p:nvPr/>
        </p:nvSpPr>
        <p:spPr>
          <a:xfrm>
            <a:off x="819150" y="4490276"/>
            <a:ext cx="6191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8B6"/>
                </a:solidFill>
                <a:latin typeface="Aptos"/>
                <a:ea typeface="Aptos"/>
                <a:cs typeface="Aptos"/>
              </a:rPr>
              <a:t>enterprise EBIT impact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0EC5DE4-708A-45DF-983D-468063A19A9E}"/>
              </a:ext>
            </a:extLst>
          </p:cNvPr>
          <p:cNvSpPr>
            <a:spLocks noGrp="1"/>
          </p:cNvSpPr>
          <p:nvPr/>
        </p:nvSpPr>
        <p:spPr>
          <a:xfrm>
            <a:off x="819150" y="4710113"/>
            <a:ext cx="6191250" cy="114300"/>
          </a:xfrm>
          <a:prstGeom prst="rect">
            <a:avLst/>
          </a:prstGeom>
          <a:solidFill>
            <a:srgbClr val="0B232A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D3970D3-DEF8-4446-B3B6-FE8960928AE3}"/>
              </a:ext>
            </a:extLst>
          </p:cNvPr>
          <p:cNvSpPr>
            <a:spLocks noGrp="1"/>
          </p:cNvSpPr>
          <p:nvPr/>
        </p:nvSpPr>
        <p:spPr>
          <a:xfrm>
            <a:off x="819150" y="4710113"/>
            <a:ext cx="2414588" cy="1143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8DBECB8-E4A2-43E9-9E6F-B601D4092A42}"/>
              </a:ext>
            </a:extLst>
          </p:cNvPr>
          <p:cNvSpPr>
            <a:spLocks noGrp="1"/>
          </p:cNvSpPr>
          <p:nvPr/>
        </p:nvSpPr>
        <p:spPr>
          <a:xfrm>
            <a:off x="3309938" y="4643438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39%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DEC19E-0F51-46D4-A3F1-9114010B6476}"/>
              </a:ext>
            </a:extLst>
          </p:cNvPr>
          <p:cNvSpPr>
            <a:spLocks noGrp="1"/>
          </p:cNvSpPr>
          <p:nvPr/>
        </p:nvSpPr>
        <p:spPr>
          <a:xfrm>
            <a:off x="7810500" y="2190750"/>
            <a:ext cx="1428750" cy="1028700"/>
          </a:xfrm>
          <a:prstGeom prst="rect">
            <a:avLst/>
          </a:prstGeom>
          <a:solidFill>
            <a:srgbClr val="10232A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20A1DA-C6BA-470A-BFC3-B645456D1D7E}"/>
              </a:ext>
            </a:extLst>
          </p:cNvPr>
          <p:cNvSpPr>
            <a:spLocks noGrp="1"/>
          </p:cNvSpPr>
          <p:nvPr/>
        </p:nvSpPr>
        <p:spPr>
          <a:xfrm>
            <a:off x="7962900" y="2343150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88%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D3A6A01-9CCD-41F7-B696-73B4E8802E5C}"/>
              </a:ext>
            </a:extLst>
          </p:cNvPr>
          <p:cNvSpPr>
            <a:spLocks noGrp="1"/>
          </p:cNvSpPr>
          <p:nvPr/>
        </p:nvSpPr>
        <p:spPr>
          <a:xfrm>
            <a:off x="7962900" y="2714625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regular AI use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50F86FB-273B-4005-85F2-FA70E54217A6}"/>
              </a:ext>
            </a:extLst>
          </p:cNvPr>
          <p:cNvSpPr>
            <a:spLocks noGrp="1"/>
          </p:cNvSpPr>
          <p:nvPr/>
        </p:nvSpPr>
        <p:spPr>
          <a:xfrm>
            <a:off x="7962900" y="291465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McKinsey survey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3918FC-AD8E-43BB-914F-2FD98A3FBF27}"/>
              </a:ext>
            </a:extLst>
          </p:cNvPr>
          <p:cNvSpPr>
            <a:spLocks noGrp="1"/>
          </p:cNvSpPr>
          <p:nvPr/>
        </p:nvSpPr>
        <p:spPr>
          <a:xfrm>
            <a:off x="9486900" y="2190750"/>
            <a:ext cx="1428750" cy="1028700"/>
          </a:xfrm>
          <a:prstGeom prst="rect">
            <a:avLst/>
          </a:prstGeom>
          <a:solidFill>
            <a:srgbClr val="10232A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8214104-1E0A-4148-AEB8-A54BA2EAEBD1}"/>
              </a:ext>
            </a:extLst>
          </p:cNvPr>
          <p:cNvSpPr>
            <a:spLocks noGrp="1"/>
          </p:cNvSpPr>
          <p:nvPr/>
        </p:nvSpPr>
        <p:spPr>
          <a:xfrm>
            <a:off x="9639300" y="2343150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62%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EC9A467-80B0-4623-85C8-4172B2698981}"/>
              </a:ext>
            </a:extLst>
          </p:cNvPr>
          <p:cNvSpPr>
            <a:spLocks noGrp="1"/>
          </p:cNvSpPr>
          <p:nvPr/>
        </p:nvSpPr>
        <p:spPr>
          <a:xfrm>
            <a:off x="9639300" y="2714625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agent experimentation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DC56CA2-AB15-41BB-9CAA-C8A6F3A603DE}"/>
              </a:ext>
            </a:extLst>
          </p:cNvPr>
          <p:cNvSpPr>
            <a:spLocks noGrp="1"/>
          </p:cNvSpPr>
          <p:nvPr/>
        </p:nvSpPr>
        <p:spPr>
          <a:xfrm>
            <a:off x="9639300" y="291465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McKinsey survey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A9AFD13-722E-435F-85D8-D39E1A49580B}"/>
              </a:ext>
            </a:extLst>
          </p:cNvPr>
          <p:cNvSpPr>
            <a:spLocks noGrp="1"/>
          </p:cNvSpPr>
          <p:nvPr/>
        </p:nvSpPr>
        <p:spPr>
          <a:xfrm>
            <a:off x="7810500" y="3524250"/>
            <a:ext cx="1428750" cy="1028700"/>
          </a:xfrm>
          <a:prstGeom prst="rect">
            <a:avLst/>
          </a:prstGeom>
          <a:solidFill>
            <a:srgbClr val="10232A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A0E9EC-3041-4F6B-86B5-248AC47050AA}"/>
              </a:ext>
            </a:extLst>
          </p:cNvPr>
          <p:cNvSpPr>
            <a:spLocks noGrp="1"/>
          </p:cNvSpPr>
          <p:nvPr/>
        </p:nvSpPr>
        <p:spPr>
          <a:xfrm>
            <a:off x="7962900" y="3676650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23%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C02B7E6-BC94-4FDC-BC48-437538D66AA2}"/>
              </a:ext>
            </a:extLst>
          </p:cNvPr>
          <p:cNvSpPr>
            <a:spLocks noGrp="1"/>
          </p:cNvSpPr>
          <p:nvPr/>
        </p:nvSpPr>
        <p:spPr>
          <a:xfrm>
            <a:off x="7962900" y="4048125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agentic AI scaling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A1A16F9-265D-4C80-B3FA-7304564AE1E3}"/>
              </a:ext>
            </a:extLst>
          </p:cNvPr>
          <p:cNvSpPr>
            <a:spLocks noGrp="1"/>
          </p:cNvSpPr>
          <p:nvPr/>
        </p:nvSpPr>
        <p:spPr>
          <a:xfrm>
            <a:off x="7962900" y="424815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McKinsey survey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3875F24-76F3-42EC-972C-889065393E15}"/>
              </a:ext>
            </a:extLst>
          </p:cNvPr>
          <p:cNvSpPr>
            <a:spLocks noGrp="1"/>
          </p:cNvSpPr>
          <p:nvPr/>
        </p:nvSpPr>
        <p:spPr>
          <a:xfrm>
            <a:off x="9486900" y="3524250"/>
            <a:ext cx="1428750" cy="1028700"/>
          </a:xfrm>
          <a:prstGeom prst="rect">
            <a:avLst/>
          </a:prstGeom>
          <a:solidFill>
            <a:srgbClr val="10232A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69E9BEF-2263-40A8-8DFF-229A26E04580}"/>
              </a:ext>
            </a:extLst>
          </p:cNvPr>
          <p:cNvSpPr>
            <a:spLocks noGrp="1"/>
          </p:cNvSpPr>
          <p:nvPr/>
        </p:nvSpPr>
        <p:spPr>
          <a:xfrm>
            <a:off x="9639300" y="3676650"/>
            <a:ext cx="104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40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39%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A7FCC8E-33B6-4798-B1A8-F9FE5D83CBAC}"/>
              </a:ext>
            </a:extLst>
          </p:cNvPr>
          <p:cNvSpPr>
            <a:spLocks noGrp="1"/>
          </p:cNvSpPr>
          <p:nvPr/>
        </p:nvSpPr>
        <p:spPr>
          <a:xfrm>
            <a:off x="9639300" y="4048125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enterprise EBIT impact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A0E68B2-0E96-4933-8CF4-6DF91BC723F7}"/>
              </a:ext>
            </a:extLst>
          </p:cNvPr>
          <p:cNvSpPr>
            <a:spLocks noGrp="1"/>
          </p:cNvSpPr>
          <p:nvPr/>
        </p:nvSpPr>
        <p:spPr>
          <a:xfrm>
            <a:off x="9639300" y="424815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McKinsey survey</a:t>
            </a:r>
          </a:p>
        </p:txBody>
      </p:sp>
    </p:spTree>
    <p:extLst>
      <p:ext uri="{BB962C8B-B14F-4D97-AF65-F5344CB8AC3E}">
        <p14:creationId xmlns:p14="http://schemas.microsoft.com/office/powerpoint/2010/main" val="206582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">
            <a:extLst>
              <a:ext uri="{FF2B5EF4-FFF2-40B4-BE49-F238E27FC236}">
                <a16:creationId xmlns:a16="http://schemas.microsoft.com/office/drawing/2014/main" id="{DAADDBEA-69FB-4BF7-8016-FB3437F040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BA5A0A6E-BD6F-4F52-8FB4-C3D05408DD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ED124C52-F84B-4242-AABE-F524FB5318C8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25A64014-C460-477B-A7F8-5AD08B1A4D08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09879B66-8EF4-4E88-AF6A-04594C14ECBD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F3FEA4E7-45AC-45D1-9C21-3C93FAE2706B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FF28D2C9-CBD6-4E8D-99B5-23A58F70B1B7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D0EB19C1-0373-4E6D-AB8E-3C419B50CC4F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3C0BD62A-2A81-40A7-A643-D167FDCE48F5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7FFF0709-4ED2-4423-A02C-0551A3FC8BA2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8F228262-689E-4889-BD64-5A35802E4CC0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A4A960C8-2588-46D1-9E9B-1F4CFC50EB0C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3">
            <a:extLst>
              <a:ext uri="{FF2B5EF4-FFF2-40B4-BE49-F238E27FC236}">
                <a16:creationId xmlns:a16="http://schemas.microsoft.com/office/drawing/2014/main" id="{499CD17A-3329-4371-954E-E35B0FEA6425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3">
            <a:extLst>
              <a:ext uri="{FF2B5EF4-FFF2-40B4-BE49-F238E27FC236}">
                <a16:creationId xmlns:a16="http://schemas.microsoft.com/office/drawing/2014/main" id="{C3DAAB2B-7C28-4899-BCE8-384C33C3F185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D823DB-ECC5-47DF-B25A-A2295C322C38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Single-model AI makes users choose between speed, depth, and confidence.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4DC36E29-9587-49A8-96A2-0851B6370EB3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6DE87A-71CE-45C7-9C60-7A20475DB2E9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B5A805-7F32-4143-BFFC-C6B4F9D0A713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80D76CC-638B-4366-B756-345AA3134FA2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2724150" cy="17907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340A36-040A-49CB-B7B8-F68487B7D035}"/>
              </a:ext>
            </a:extLst>
          </p:cNvPr>
          <p:cNvSpPr>
            <a:spLocks noGrp="1"/>
          </p:cNvSpPr>
          <p:nvPr/>
        </p:nvSpPr>
        <p:spPr>
          <a:xfrm>
            <a:off x="742950" y="1924050"/>
            <a:ext cx="38100" cy="1790700"/>
          </a:xfrm>
          <a:prstGeom prst="rect">
            <a:avLst/>
          </a:prstGeom>
          <a:solidFill>
            <a:srgbClr val="FF6B8A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0005B1-085C-4333-A419-FF45C530226C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Model choice is messy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4D674AB-FC3D-4DCC-8E48-522B9C727A90}"/>
              </a:ext>
            </a:extLst>
          </p:cNvPr>
          <p:cNvSpPr>
            <a:spLocks noGrp="1"/>
          </p:cNvSpPr>
          <p:nvPr/>
        </p:nvSpPr>
        <p:spPr>
          <a:xfrm>
            <a:off x="914400" y="2381250"/>
            <a:ext cx="24193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Users should not need to understand provider pricing, context windows, routing, or model failure modes before asking a question.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408B95-11F7-435D-AD35-D31B9661350F}"/>
              </a:ext>
            </a:extLst>
          </p:cNvPr>
          <p:cNvSpPr>
            <a:spLocks noGrp="1"/>
          </p:cNvSpPr>
          <p:nvPr/>
        </p:nvSpPr>
        <p:spPr>
          <a:xfrm>
            <a:off x="3838575" y="1924050"/>
            <a:ext cx="2724150" cy="17907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20C37CB-C36B-4A36-ACE8-AA196523CF2E}"/>
              </a:ext>
            </a:extLst>
          </p:cNvPr>
          <p:cNvSpPr>
            <a:spLocks noGrp="1"/>
          </p:cNvSpPr>
          <p:nvPr/>
        </p:nvSpPr>
        <p:spPr>
          <a:xfrm>
            <a:off x="3838575" y="1924050"/>
            <a:ext cx="38100" cy="179070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3775ECA-4D7E-465D-AA99-DEE3A16F52C5}"/>
              </a:ext>
            </a:extLst>
          </p:cNvPr>
          <p:cNvSpPr>
            <a:spLocks noGrp="1"/>
          </p:cNvSpPr>
          <p:nvPr/>
        </p:nvSpPr>
        <p:spPr>
          <a:xfrm>
            <a:off x="4010025" y="20574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Research is brittle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F514472-F26F-4E4D-87DC-31864AD02764}"/>
              </a:ext>
            </a:extLst>
          </p:cNvPr>
          <p:cNvSpPr>
            <a:spLocks noGrp="1"/>
          </p:cNvSpPr>
          <p:nvPr/>
        </p:nvSpPr>
        <p:spPr>
          <a:xfrm>
            <a:off x="4010025" y="2381250"/>
            <a:ext cx="24193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Answer engines can cite weak or unsupported sources, creating risk for students, analysts, founders, and teams.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78606-ED4B-4470-ACD0-91B8432FBBD8}"/>
              </a:ext>
            </a:extLst>
          </p:cNvPr>
          <p:cNvSpPr>
            <a:spLocks noGrp="1"/>
          </p:cNvSpPr>
          <p:nvPr/>
        </p:nvSpPr>
        <p:spPr>
          <a:xfrm>
            <a:off x="6934200" y="1924050"/>
            <a:ext cx="2724150" cy="17907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B41CE2-9B0D-4341-95A5-9C23C3B8BDD6}"/>
              </a:ext>
            </a:extLst>
          </p:cNvPr>
          <p:cNvSpPr>
            <a:spLocks noGrp="1"/>
          </p:cNvSpPr>
          <p:nvPr/>
        </p:nvSpPr>
        <p:spPr>
          <a:xfrm>
            <a:off x="6934200" y="1924050"/>
            <a:ext cx="38100" cy="17907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D536A86-01DC-40AE-A286-D8ABA2EB5C0D}"/>
              </a:ext>
            </a:extLst>
          </p:cNvPr>
          <p:cNvSpPr>
            <a:spLocks noGrp="1"/>
          </p:cNvSpPr>
          <p:nvPr/>
        </p:nvSpPr>
        <p:spPr>
          <a:xfrm>
            <a:off x="7105650" y="20574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Costs are opaque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9EC6C2-27BF-4110-8FD6-A90D668FC8F2}"/>
              </a:ext>
            </a:extLst>
          </p:cNvPr>
          <p:cNvSpPr>
            <a:spLocks noGrp="1"/>
          </p:cNvSpPr>
          <p:nvPr/>
        </p:nvSpPr>
        <p:spPr>
          <a:xfrm>
            <a:off x="7105650" y="2381250"/>
            <a:ext cx="24193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Subscription tiers tied to model names confuse buyers and make margin control difficult for the platform.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F406AE5-19BB-4B60-B08A-AA1D7E9D8B7C}"/>
              </a:ext>
            </a:extLst>
          </p:cNvPr>
          <p:cNvSpPr>
            <a:spLocks noGrp="1"/>
          </p:cNvSpPr>
          <p:nvPr/>
        </p:nvSpPr>
        <p:spPr>
          <a:xfrm>
            <a:off x="1676400" y="4419600"/>
            <a:ext cx="6934200" cy="190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7674FBA-3EDF-4CDF-8A88-16DDA4200358}"/>
              </a:ext>
            </a:extLst>
          </p:cNvPr>
          <p:cNvSpPr>
            <a:spLocks noGrp="1"/>
          </p:cNvSpPr>
          <p:nvPr/>
        </p:nvSpPr>
        <p:spPr>
          <a:xfrm>
            <a:off x="1314450" y="4133850"/>
            <a:ext cx="1066800" cy="5524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3F1FC82-A7BC-48B4-B560-6511FA1782D6}"/>
              </a:ext>
            </a:extLst>
          </p:cNvPr>
          <p:cNvSpPr>
            <a:spLocks noGrp="1"/>
          </p:cNvSpPr>
          <p:nvPr/>
        </p:nvSpPr>
        <p:spPr>
          <a:xfrm>
            <a:off x="1409700" y="43053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446B29C-0C43-4C3B-865A-C6498355D866}"/>
              </a:ext>
            </a:extLst>
          </p:cNvPr>
          <p:cNvSpPr>
            <a:spLocks noGrp="1"/>
          </p:cNvSpPr>
          <p:nvPr/>
        </p:nvSpPr>
        <p:spPr>
          <a:xfrm>
            <a:off x="3067050" y="4133850"/>
            <a:ext cx="1066800" cy="552450"/>
          </a:xfrm>
          <a:prstGeom prst="rect">
            <a:avLst/>
          </a:prstGeom>
          <a:solidFill>
            <a:srgbClr val="08191E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50DB651-34A1-429F-94F2-A5754E6FFC65}"/>
              </a:ext>
            </a:extLst>
          </p:cNvPr>
          <p:cNvSpPr>
            <a:spLocks noGrp="1"/>
          </p:cNvSpPr>
          <p:nvPr/>
        </p:nvSpPr>
        <p:spPr>
          <a:xfrm>
            <a:off x="3162300" y="43053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Select model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1472302-EB3B-42FB-A5BE-84F411F0D5F5}"/>
              </a:ext>
            </a:extLst>
          </p:cNvPr>
          <p:cNvSpPr>
            <a:spLocks noGrp="1"/>
          </p:cNvSpPr>
          <p:nvPr/>
        </p:nvSpPr>
        <p:spPr>
          <a:xfrm>
            <a:off x="4819650" y="4133850"/>
            <a:ext cx="1066800" cy="552450"/>
          </a:xfrm>
          <a:prstGeom prst="rect">
            <a:avLst/>
          </a:prstGeom>
          <a:solidFill>
            <a:srgbClr val="08191E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A7A5786-A7EA-4BE8-8050-615CD0BB037E}"/>
              </a:ext>
            </a:extLst>
          </p:cNvPr>
          <p:cNvSpPr>
            <a:spLocks noGrp="1"/>
          </p:cNvSpPr>
          <p:nvPr/>
        </p:nvSpPr>
        <p:spPr>
          <a:xfrm>
            <a:off x="4914900" y="43053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Verify sources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6EA68FD-6CC2-4C6C-9346-71DC194D2103}"/>
              </a:ext>
            </a:extLst>
          </p:cNvPr>
          <p:cNvSpPr>
            <a:spLocks noGrp="1"/>
          </p:cNvSpPr>
          <p:nvPr/>
        </p:nvSpPr>
        <p:spPr>
          <a:xfrm>
            <a:off x="6572250" y="4133850"/>
            <a:ext cx="1066800" cy="552450"/>
          </a:xfrm>
          <a:prstGeom prst="rect">
            <a:avLst/>
          </a:prstGeom>
          <a:solidFill>
            <a:srgbClr val="08191E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AD212D-0346-4D37-9BD2-7EA4931AA121}"/>
              </a:ext>
            </a:extLst>
          </p:cNvPr>
          <p:cNvSpPr>
            <a:spLocks noGrp="1"/>
          </p:cNvSpPr>
          <p:nvPr/>
        </p:nvSpPr>
        <p:spPr>
          <a:xfrm>
            <a:off x="6667500" y="43053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Compare answers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26D9B11-6B90-460D-9902-26C0E10C2586}"/>
              </a:ext>
            </a:extLst>
          </p:cNvPr>
          <p:cNvSpPr>
            <a:spLocks noGrp="1"/>
          </p:cNvSpPr>
          <p:nvPr/>
        </p:nvSpPr>
        <p:spPr>
          <a:xfrm>
            <a:off x="8324850" y="4133850"/>
            <a:ext cx="1066800" cy="5524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98A83BB-1A5B-4318-A686-6996B7AF51F4}"/>
              </a:ext>
            </a:extLst>
          </p:cNvPr>
          <p:cNvSpPr>
            <a:spLocks noGrp="1"/>
          </p:cNvSpPr>
          <p:nvPr/>
        </p:nvSpPr>
        <p:spPr>
          <a:xfrm>
            <a:off x="8420100" y="430530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Control cost</a:t>
            </a:r>
          </a:p>
        </p:txBody>
      </p:sp>
      <p:sp>
        <p:nvSpPr>
          <p:cNvPr id="42" name="note-box">
            <a:extLst>
              <a:ext uri="{FF2B5EF4-FFF2-40B4-BE49-F238E27FC236}">
                <a16:creationId xmlns:a16="http://schemas.microsoft.com/office/drawing/2014/main" id="{3286BB8D-586D-42A0-A4E8-AD9D3C5A9F11}"/>
              </a:ext>
            </a:extLst>
          </p:cNvPr>
          <p:cNvSpPr>
            <a:spLocks noGrp="1"/>
          </p:cNvSpPr>
          <p:nvPr/>
        </p:nvSpPr>
        <p:spPr>
          <a:xfrm>
            <a:off x="8782050" y="4914900"/>
            <a:ext cx="2095500" cy="762000"/>
          </a:xfrm>
          <a:prstGeom prst="rect">
            <a:avLst/>
          </a:prstGeom>
          <a:solidFill>
            <a:srgbClr val="08171C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880A641-DA62-4CE5-930B-DEFB8662056C}"/>
              </a:ext>
            </a:extLst>
          </p:cNvPr>
          <p:cNvSpPr>
            <a:spLocks noGrp="1"/>
          </p:cNvSpPr>
          <p:nvPr/>
        </p:nvSpPr>
        <p:spPr>
          <a:xfrm>
            <a:off x="8953500" y="5057775"/>
            <a:ext cx="17526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Aria's answer: map intent to a mode, then let routing, verification, and credits work behind the surface.</a:t>
            </a:r>
          </a:p>
        </p:txBody>
      </p:sp>
    </p:spTree>
    <p:extLst>
      <p:ext uri="{BB962C8B-B14F-4D97-AF65-F5344CB8AC3E}">
        <p14:creationId xmlns:p14="http://schemas.microsoft.com/office/powerpoint/2010/main" val="923680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bg">
            <a:extLst>
              <a:ext uri="{FF2B5EF4-FFF2-40B4-BE49-F238E27FC236}">
                <a16:creationId xmlns:a16="http://schemas.microsoft.com/office/drawing/2014/main" id="{9FDED2B2-80E8-4094-865D-2846AD1A5E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81579AD4-8AF9-4508-9BE7-3310165939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277D37C5-2E02-4EF5-8057-FE88CE4C1250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DDC23D9D-B53F-4DE0-95A8-8CFC5FB558BD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6A05C326-F7C1-478A-8D12-90DB23A21BC1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CA2EFAA6-74C6-4670-94B8-BE8A2E1FBB10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AF5A6F5F-0224-42B2-8EDA-0236B832B70F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41579681-167A-4B03-B28D-22DEFEF769FB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B95E2415-6E59-40D6-8D3B-D1ED4D9D60EA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00773408-B343-4639-83FC-23A8A1470E5E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5FD8987E-2E48-4A99-93D8-93BE5870CB6A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34B67275-385C-48DA-AD20-AECC3B4F074D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4">
            <a:extLst>
              <a:ext uri="{FF2B5EF4-FFF2-40B4-BE49-F238E27FC236}">
                <a16:creationId xmlns:a16="http://schemas.microsoft.com/office/drawing/2014/main" id="{0F91AC7D-19C5-4112-AB86-EA751E17BC4F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4">
            <a:extLst>
              <a:ext uri="{FF2B5EF4-FFF2-40B4-BE49-F238E27FC236}">
                <a16:creationId xmlns:a16="http://schemas.microsoft.com/office/drawing/2014/main" id="{703F6DEE-444B-4E6F-83D5-FFF46F3E09CF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WHY NOW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2993FC-0C47-44A8-9FB7-85CA6118544F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Model abundance, citation risk, and agent adoption create a window for orchestration.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F80B671D-DD0A-44E5-821D-A975DD663A3C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5AE6327-A46B-49A3-8EC3-3A6E780A271F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E63CD0-23FC-478F-B2EE-DBDE05BA2560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F3AA19-80CB-441F-8276-31F83CD088F5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342900" cy="3429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D2DAFC8-1CF2-4989-8A51-6AD77F1F3A77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4A53F4-E1E4-49A1-A516-ED52400AE606}"/>
              </a:ext>
            </a:extLst>
          </p:cNvPr>
          <p:cNvSpPr>
            <a:spLocks noGrp="1"/>
          </p:cNvSpPr>
          <p:nvPr/>
        </p:nvSpPr>
        <p:spPr>
          <a:xfrm>
            <a:off x="1485900" y="1885950"/>
            <a:ext cx="419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Model supply exploded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42F0345-0AFE-4CF6-936C-77BE9A3F1000}"/>
              </a:ext>
            </a:extLst>
          </p:cNvPr>
          <p:cNvSpPr>
            <a:spLocks noGrp="1"/>
          </p:cNvSpPr>
          <p:nvPr/>
        </p:nvSpPr>
        <p:spPr>
          <a:xfrm>
            <a:off x="1485900" y="22098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OpenAI, Anthropic, Google, DeepSeek, xAI, and specialist media models are competing on price, latency, context, and modality.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405062-A018-4B3A-9D07-DE53B89DCFE8}"/>
              </a:ext>
            </a:extLst>
          </p:cNvPr>
          <p:cNvSpPr>
            <a:spLocks noGrp="1"/>
          </p:cNvSpPr>
          <p:nvPr/>
        </p:nvSpPr>
        <p:spPr>
          <a:xfrm>
            <a:off x="914400" y="3067050"/>
            <a:ext cx="342900" cy="3429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4E86587-0A35-4661-BBBB-4C53CD59ECB7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14F144-971A-4F70-953B-DB9D146C3444}"/>
              </a:ext>
            </a:extLst>
          </p:cNvPr>
          <p:cNvSpPr>
            <a:spLocks noGrp="1"/>
          </p:cNvSpPr>
          <p:nvPr/>
        </p:nvSpPr>
        <p:spPr>
          <a:xfrm>
            <a:off x="1485900" y="2952750"/>
            <a:ext cx="419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Trust became measurable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35E110-F7DE-4415-8A7B-725966F0300B}"/>
              </a:ext>
            </a:extLst>
          </p:cNvPr>
          <p:cNvSpPr>
            <a:spLocks noGrp="1"/>
          </p:cNvSpPr>
          <p:nvPr/>
        </p:nvSpPr>
        <p:spPr>
          <a:xfrm>
            <a:off x="1485900" y="32766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Academic audits show citation support and source provenance remain uneven across answer engines.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B0FD64C-E8CD-4B62-BAA0-1D7BE490C830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342900" cy="34290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62F5A0D-DB12-4BF2-B439-8A061086C802}"/>
              </a:ext>
            </a:extLst>
          </p:cNvPr>
          <p:cNvSpPr>
            <a:spLocks noGrp="1"/>
          </p:cNvSpPr>
          <p:nvPr/>
        </p:nvSpPr>
        <p:spPr>
          <a:xfrm>
            <a:off x="914400" y="4191000"/>
            <a:ext cx="342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38C3E8-3E1F-436B-9E8F-32445BA373BE}"/>
              </a:ext>
            </a:extLst>
          </p:cNvPr>
          <p:cNvSpPr>
            <a:spLocks noGrp="1"/>
          </p:cNvSpPr>
          <p:nvPr/>
        </p:nvSpPr>
        <p:spPr>
          <a:xfrm>
            <a:off x="1485900" y="4019550"/>
            <a:ext cx="4191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Workflows are shifting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34C7132-8B52-49CC-9DB4-545F6E1B5555}"/>
              </a:ext>
            </a:extLst>
          </p:cNvPr>
          <p:cNvSpPr>
            <a:spLocks noGrp="1"/>
          </p:cNvSpPr>
          <p:nvPr/>
        </p:nvSpPr>
        <p:spPr>
          <a:xfrm>
            <a:off x="1485900" y="43434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Organizations are already experimenting with agents, but most have not scaled AI across the enterprise.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4CAFC4-DDD1-4D64-945B-3C0FCD4F0756}"/>
              </a:ext>
            </a:extLst>
          </p:cNvPr>
          <p:cNvSpPr>
            <a:spLocks noGrp="1"/>
          </p:cNvSpPr>
          <p:nvPr/>
        </p:nvSpPr>
        <p:spPr>
          <a:xfrm>
            <a:off x="8172450" y="1952625"/>
            <a:ext cx="2724150" cy="10477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005BEDD-AE55-468E-8CEE-65BB961E20E9}"/>
              </a:ext>
            </a:extLst>
          </p:cNvPr>
          <p:cNvSpPr>
            <a:spLocks noGrp="1"/>
          </p:cNvSpPr>
          <p:nvPr/>
        </p:nvSpPr>
        <p:spPr>
          <a:xfrm>
            <a:off x="8401050" y="21526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51.5%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0753F0C-683F-4316-816F-0239212F2B53}"/>
              </a:ext>
            </a:extLst>
          </p:cNvPr>
          <p:cNvSpPr>
            <a:spLocks noGrp="1"/>
          </p:cNvSpPr>
          <p:nvPr/>
        </p:nvSpPr>
        <p:spPr>
          <a:xfrm>
            <a:off x="8401050" y="2562225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fully citation-supported sentences in one audit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3507D3E-8DAC-454C-9CD1-424CCBAA4FF1}"/>
              </a:ext>
            </a:extLst>
          </p:cNvPr>
          <p:cNvSpPr>
            <a:spLocks noGrp="1"/>
          </p:cNvSpPr>
          <p:nvPr/>
        </p:nvSpPr>
        <p:spPr>
          <a:xfrm>
            <a:off x="8172450" y="3400425"/>
            <a:ext cx="2724150" cy="10477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A7C627-6425-45A1-9454-10738D25A813}"/>
              </a:ext>
            </a:extLst>
          </p:cNvPr>
          <p:cNvSpPr>
            <a:spLocks noGrp="1"/>
          </p:cNvSpPr>
          <p:nvPr/>
        </p:nvSpPr>
        <p:spPr>
          <a:xfrm>
            <a:off x="8401050" y="36004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FF6B8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6B8A"/>
                </a:solidFill>
                <a:latin typeface="Aptos"/>
                <a:ea typeface="Aptos"/>
                <a:cs typeface="Aptos"/>
              </a:rPr>
              <a:t>16%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44BBF9F-D2E6-4CFC-BCA6-F93F53B05579}"/>
              </a:ext>
            </a:extLst>
          </p:cNvPr>
          <p:cNvSpPr>
            <a:spLocks noGrp="1"/>
          </p:cNvSpPr>
          <p:nvPr/>
        </p:nvSpPr>
        <p:spPr>
          <a:xfrm>
            <a:off x="8401050" y="4010025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cited sources with AI-generated-source evidence in one audit</a:t>
            </a:r>
          </a:p>
        </p:txBody>
      </p:sp>
    </p:spTree>
    <p:extLst>
      <p:ext uri="{BB962C8B-B14F-4D97-AF65-F5344CB8AC3E}">
        <p14:creationId xmlns:p14="http://schemas.microsoft.com/office/powerpoint/2010/main" val="1541553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g">
            <a:extLst>
              <a:ext uri="{FF2B5EF4-FFF2-40B4-BE49-F238E27FC236}">
                <a16:creationId xmlns:a16="http://schemas.microsoft.com/office/drawing/2014/main" id="{DBCA3F13-6508-4DA5-9CDA-76B5EDD662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C88B3316-502F-4325-A2B1-8217E60BB4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6521000E-FB97-477A-9D81-F61898A6E096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9B841CD0-82A6-442C-80DB-2EFDF914B89B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43ADA15C-6EE2-451D-A623-802296D56D15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3CB335BA-72F0-460E-BEA0-BEB4B9C92E7C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05316DAE-EE3E-49DC-932B-2F9D0BF26701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D50F6E56-7020-4211-B265-FC1EC6D56E3E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71377455-C3C3-488F-AAE8-D565B699CA8A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55573A6E-732F-45B5-9B7E-925A6797940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390986F0-8960-4950-9983-FCE2418F1AE9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6437A484-DA99-478C-BB03-5F858B71A5BC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5">
            <a:extLst>
              <a:ext uri="{FF2B5EF4-FFF2-40B4-BE49-F238E27FC236}">
                <a16:creationId xmlns:a16="http://schemas.microsoft.com/office/drawing/2014/main" id="{DA79DCAF-B4D6-44A1-BDAC-55E892197FB2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5">
            <a:extLst>
              <a:ext uri="{FF2B5EF4-FFF2-40B4-BE49-F238E27FC236}">
                <a16:creationId xmlns:a16="http://schemas.microsoft.com/office/drawing/2014/main" id="{DA428CBB-EA76-463A-8D32-6600103F1838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COMPANY 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01B618-8C4F-4337-B664-490C17D54E7C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Aria AI packages complex model infrastructure into one calm user experience.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13B89AC4-E36C-462E-9A2D-A1E70B4A01ED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3392093-043D-414B-83B1-853AC8D96781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F2B332-4A5C-4F90-BFDD-0D2D66EEBFCE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CA4CB4-E748-489A-AEE8-66303A6CE53A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4191000" cy="11049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781E45-5F9F-4F79-925A-8DB5A8352FC3}"/>
              </a:ext>
            </a:extLst>
          </p:cNvPr>
          <p:cNvSpPr>
            <a:spLocks noGrp="1"/>
          </p:cNvSpPr>
          <p:nvPr/>
        </p:nvSpPr>
        <p:spPr>
          <a:xfrm>
            <a:off x="914400" y="2000250"/>
            <a:ext cx="38100" cy="11049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34101B-6864-4BB8-A758-162FC7E4C280}"/>
              </a:ext>
            </a:extLst>
          </p:cNvPr>
          <p:cNvSpPr>
            <a:spLocks noGrp="1"/>
          </p:cNvSpPr>
          <p:nvPr/>
        </p:nvSpPr>
        <p:spPr>
          <a:xfrm>
            <a:off x="1085850" y="2133600"/>
            <a:ext cx="3886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D7D6021-0D34-43A9-8651-766319CC41EA}"/>
              </a:ext>
            </a:extLst>
          </p:cNvPr>
          <p:cNvSpPr>
            <a:spLocks noGrp="1"/>
          </p:cNvSpPr>
          <p:nvPr/>
        </p:nvSpPr>
        <p:spPr>
          <a:xfrm>
            <a:off x="1085850" y="2457450"/>
            <a:ext cx="3886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 multi-mode AI workspace that hides provider complexity behind branded workflows and credit-based usage.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E6E223-2E6C-4047-9195-47169E37317F}"/>
              </a:ext>
            </a:extLst>
          </p:cNvPr>
          <p:cNvSpPr>
            <a:spLocks noGrp="1"/>
          </p:cNvSpPr>
          <p:nvPr/>
        </p:nvSpPr>
        <p:spPr>
          <a:xfrm>
            <a:off x="5772150" y="2000250"/>
            <a:ext cx="4191000" cy="11049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5B077C-B4B4-41EA-A596-04B5BFF4990F}"/>
              </a:ext>
            </a:extLst>
          </p:cNvPr>
          <p:cNvSpPr>
            <a:spLocks noGrp="1"/>
          </p:cNvSpPr>
          <p:nvPr/>
        </p:nvSpPr>
        <p:spPr>
          <a:xfrm>
            <a:off x="5772150" y="2000250"/>
            <a:ext cx="38100" cy="11049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CD86B9-7786-45B4-998B-C4A82ACD5113}"/>
              </a:ext>
            </a:extLst>
          </p:cNvPr>
          <p:cNvSpPr>
            <a:spLocks noGrp="1"/>
          </p:cNvSpPr>
          <p:nvPr/>
        </p:nvSpPr>
        <p:spPr>
          <a:xfrm>
            <a:off x="5943600" y="2133600"/>
            <a:ext cx="3886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Mission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9DCE1CA-37D8-45DE-AB18-AEF5B8FFD7A0}"/>
              </a:ext>
            </a:extLst>
          </p:cNvPr>
          <p:cNvSpPr>
            <a:spLocks noGrp="1"/>
          </p:cNvSpPr>
          <p:nvPr/>
        </p:nvSpPr>
        <p:spPr>
          <a:xfrm>
            <a:off x="5943600" y="2457450"/>
            <a:ext cx="3886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Make high-quality AI reasoning, research, and answer comparison usable by everyday users and teams.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389B85E-1B5C-419B-8EAF-C2EA1EB46097}"/>
              </a:ext>
            </a:extLst>
          </p:cNvPr>
          <p:cNvSpPr>
            <a:spLocks noGrp="1"/>
          </p:cNvSpPr>
          <p:nvPr/>
        </p:nvSpPr>
        <p:spPr>
          <a:xfrm>
            <a:off x="914400" y="3562350"/>
            <a:ext cx="4191000" cy="11049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B8E2C04-B659-475C-8031-AD703B9EAB71}"/>
              </a:ext>
            </a:extLst>
          </p:cNvPr>
          <p:cNvSpPr>
            <a:spLocks noGrp="1"/>
          </p:cNvSpPr>
          <p:nvPr/>
        </p:nvSpPr>
        <p:spPr>
          <a:xfrm>
            <a:off x="914400" y="3562350"/>
            <a:ext cx="38100" cy="110490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8B2114-745B-4564-95D1-4E35F34D9C80}"/>
              </a:ext>
            </a:extLst>
          </p:cNvPr>
          <p:cNvSpPr>
            <a:spLocks noGrp="1"/>
          </p:cNvSpPr>
          <p:nvPr/>
        </p:nvSpPr>
        <p:spPr>
          <a:xfrm>
            <a:off x="1085850" y="3695700"/>
            <a:ext cx="3886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Vision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0205F4-7C44-4116-BED0-C4A7130F15F0}"/>
              </a:ext>
            </a:extLst>
          </p:cNvPr>
          <p:cNvSpPr>
            <a:spLocks noGrp="1"/>
          </p:cNvSpPr>
          <p:nvPr/>
        </p:nvSpPr>
        <p:spPr>
          <a:xfrm>
            <a:off x="1085850" y="4019550"/>
            <a:ext cx="3886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Become the intelligence router for students, professionals, founders, agencies, and enterprises.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F0308B0-A743-476D-8E73-DC6FB4757D69}"/>
              </a:ext>
            </a:extLst>
          </p:cNvPr>
          <p:cNvSpPr>
            <a:spLocks noGrp="1"/>
          </p:cNvSpPr>
          <p:nvPr/>
        </p:nvSpPr>
        <p:spPr>
          <a:xfrm>
            <a:off x="5772150" y="3562350"/>
            <a:ext cx="4191000" cy="11049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A706DE-DB8A-4E77-B28F-6760EF057362}"/>
              </a:ext>
            </a:extLst>
          </p:cNvPr>
          <p:cNvSpPr>
            <a:spLocks noGrp="1"/>
          </p:cNvSpPr>
          <p:nvPr/>
        </p:nvSpPr>
        <p:spPr>
          <a:xfrm>
            <a:off x="5772150" y="3562350"/>
            <a:ext cx="38100" cy="1104900"/>
          </a:xfrm>
          <a:prstGeom prst="rect">
            <a:avLst/>
          </a:prstGeom>
          <a:solidFill>
            <a:srgbClr val="63E6BE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23E0CD-6F90-4F34-9FB2-75BB029F245B}"/>
              </a:ext>
            </a:extLst>
          </p:cNvPr>
          <p:cNvSpPr>
            <a:spLocks noGrp="1"/>
          </p:cNvSpPr>
          <p:nvPr/>
        </p:nvSpPr>
        <p:spPr>
          <a:xfrm>
            <a:off x="5943600" y="3695700"/>
            <a:ext cx="3886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Long-term goal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865CCBC-C819-4C88-B531-DCB1095FBF60}"/>
              </a:ext>
            </a:extLst>
          </p:cNvPr>
          <p:cNvSpPr>
            <a:spLocks noGrp="1"/>
          </p:cNvSpPr>
          <p:nvPr/>
        </p:nvSpPr>
        <p:spPr>
          <a:xfrm>
            <a:off x="5943600" y="4019550"/>
            <a:ext cx="38862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Operate as a trusted AI operating layer across chat, research, media, documents, teams, and API workflows.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9CD803C-D98B-4BDE-AB85-6ACAAE25573F}"/>
              </a:ext>
            </a:extLst>
          </p:cNvPr>
          <p:cNvSpPr>
            <a:spLocks noGrp="1"/>
          </p:cNvSpPr>
          <p:nvPr/>
        </p:nvSpPr>
        <p:spPr>
          <a:xfrm>
            <a:off x="1619250" y="5257800"/>
            <a:ext cx="7810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Plain-English promise: users choose the work they want done; Aria chooses the right path to do it.</a:t>
            </a:r>
          </a:p>
        </p:txBody>
      </p:sp>
    </p:spTree>
    <p:extLst>
      <p:ext uri="{BB962C8B-B14F-4D97-AF65-F5344CB8AC3E}">
        <p14:creationId xmlns:p14="http://schemas.microsoft.com/office/powerpoint/2010/main" val="1776963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">
            <a:extLst>
              <a:ext uri="{FF2B5EF4-FFF2-40B4-BE49-F238E27FC236}">
                <a16:creationId xmlns:a16="http://schemas.microsoft.com/office/drawing/2014/main" id="{CB1C2121-88B8-4D83-AC35-85F43567DC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6B2D0E9B-D8E8-4EB1-814E-B7A4A4A266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8A3B01D6-13C3-4A72-B8BA-74191E295E86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723CBE7D-A808-453A-8C00-57F18246F202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8EC91383-6111-4211-8EB8-662D185263CF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F857C5F5-2FBD-4F1B-9F9E-31DFBF8FC90C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3019FBF9-BE67-4FE4-86E3-F55002B528C4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47E736AD-A87F-4393-8E3A-1AB8F2E1E208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94225FA5-07CB-4555-9EFF-5E2593C94EBB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CBD9ABC9-0410-4128-AD37-82F6378E77EA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F091928F-567D-4734-9C48-B5B5180CDE88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BA4A0DD9-9A18-4611-9EF8-3D07BFB33A91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6">
            <a:extLst>
              <a:ext uri="{FF2B5EF4-FFF2-40B4-BE49-F238E27FC236}">
                <a16:creationId xmlns:a16="http://schemas.microsoft.com/office/drawing/2014/main" id="{52052BE8-2030-45A8-B6E0-5F7CC39AB468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6">
            <a:extLst>
              <a:ext uri="{FF2B5EF4-FFF2-40B4-BE49-F238E27FC236}">
                <a16:creationId xmlns:a16="http://schemas.microsoft.com/office/drawing/2014/main" id="{1B612446-5BE5-45E5-A9E9-28498E25F2C0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PRODUCT SYSTEM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72D50D-21AC-4A44-ABE5-B025656943D9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Three branded modes turn provider routing into user intent.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3261A4B6-AE6F-4309-9175-FE2BBEBB0959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5184D4-5CD4-4647-90BB-622C2B9F61FE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F042641-BDF2-48C1-8470-06DBC5C5E824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8954C3-1008-4E7F-B9AA-2508FD355808}"/>
              </a:ext>
            </a:extLst>
          </p:cNvPr>
          <p:cNvSpPr>
            <a:spLocks noGrp="1"/>
          </p:cNvSpPr>
          <p:nvPr/>
        </p:nvSpPr>
        <p:spPr>
          <a:xfrm>
            <a:off x="4629150" y="2381250"/>
            <a:ext cx="2000250" cy="1143000"/>
          </a:xfrm>
          <a:prstGeom prst="rect">
            <a:avLst/>
          </a:prstGeom>
          <a:solidFill>
            <a:srgbClr val="153C38"/>
          </a:solidFill>
          <a:ln w="9525">
            <a:solidFill>
              <a:srgbClr val="24E0B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EC5228-D64E-4AA4-AC43-A6B88B663F6F}"/>
              </a:ext>
            </a:extLst>
          </p:cNvPr>
          <p:cNvSpPr>
            <a:spLocks noGrp="1"/>
          </p:cNvSpPr>
          <p:nvPr/>
        </p:nvSpPr>
        <p:spPr>
          <a:xfrm>
            <a:off x="4819650" y="2686050"/>
            <a:ext cx="16192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9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Aria AI</a:t>
            </a:r>
          </a:p>
          <a:p>
            <a:pPr algn="ctr">
              <a:defRPr sz="19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routing layer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1D52FF3-9D69-49AD-9144-9097A6D7BA3E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2724150" cy="12001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6748B9B-F60D-46D4-BB96-D3A18B1E533F}"/>
              </a:ext>
            </a:extLst>
          </p:cNvPr>
          <p:cNvSpPr>
            <a:spLocks noGrp="1"/>
          </p:cNvSpPr>
          <p:nvPr/>
        </p:nvSpPr>
        <p:spPr>
          <a:xfrm>
            <a:off x="895350" y="2266950"/>
            <a:ext cx="38100" cy="12001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BE21C20-463D-4E31-A600-E5A639F67538}"/>
              </a:ext>
            </a:extLst>
          </p:cNvPr>
          <p:cNvSpPr>
            <a:spLocks noGrp="1"/>
          </p:cNvSpPr>
          <p:nvPr/>
        </p:nvSpPr>
        <p:spPr>
          <a:xfrm>
            <a:off x="1066800" y="24003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Aria Mind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65A2E0E-3AF2-403B-B733-66B4D3CB1DB9}"/>
              </a:ext>
            </a:extLst>
          </p:cNvPr>
          <p:cNvSpPr>
            <a:spLocks noGrp="1"/>
          </p:cNvSpPr>
          <p:nvPr/>
        </p:nvSpPr>
        <p:spPr>
          <a:xfrm>
            <a:off x="1066800" y="2724150"/>
            <a:ext cx="2419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Fast everyday answers, memory, and live verification when current facts matter.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E5F079B-CDF9-45D0-BB32-A7C2B17DBE81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2724150" cy="12001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5EB5990-CF5A-4100-A251-B8F7A991F9B5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38100" cy="12001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D66514-1134-48EA-A542-DCD221CBE7E2}"/>
              </a:ext>
            </a:extLst>
          </p:cNvPr>
          <p:cNvSpPr>
            <a:spLocks noGrp="1"/>
          </p:cNvSpPr>
          <p:nvPr/>
        </p:nvSpPr>
        <p:spPr>
          <a:xfrm>
            <a:off x="8343900" y="24003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Aria Research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A073322-06DD-4E0A-B175-C1588029620C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419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Source-first research with a selected specialist model writing from retrieved evidence.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E6F280-E6AA-4AFE-AC06-29D4BB01BF04}"/>
              </a:ext>
            </a:extLst>
          </p:cNvPr>
          <p:cNvSpPr>
            <a:spLocks noGrp="1"/>
          </p:cNvSpPr>
          <p:nvPr/>
        </p:nvSpPr>
        <p:spPr>
          <a:xfrm>
            <a:off x="4629150" y="4267200"/>
            <a:ext cx="2724150" cy="12001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593A5E-B5C1-4788-8A54-BB6D3873292A}"/>
              </a:ext>
            </a:extLst>
          </p:cNvPr>
          <p:cNvSpPr>
            <a:spLocks noGrp="1"/>
          </p:cNvSpPr>
          <p:nvPr/>
        </p:nvSpPr>
        <p:spPr>
          <a:xfrm>
            <a:off x="4629150" y="4267200"/>
            <a:ext cx="38100" cy="12001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7BF9015-4193-475B-B8CC-992A211B9F99}"/>
              </a:ext>
            </a:extLst>
          </p:cNvPr>
          <p:cNvSpPr>
            <a:spLocks noGrp="1"/>
          </p:cNvSpPr>
          <p:nvPr/>
        </p:nvSpPr>
        <p:spPr>
          <a:xfrm>
            <a:off x="4800600" y="440055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Aria Analyzer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776200-1A96-49BE-805A-B802F2F0A9F2}"/>
              </a:ext>
            </a:extLst>
          </p:cNvPr>
          <p:cNvSpPr>
            <a:spLocks noGrp="1"/>
          </p:cNvSpPr>
          <p:nvPr/>
        </p:nvSpPr>
        <p:spPr>
          <a:xfrm>
            <a:off x="4800600" y="4724400"/>
            <a:ext cx="24193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Multiple model answers side-by-side, then a judge produces the final synthesis.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A39F911-6FB4-4881-9645-65840AE24D13}"/>
              </a:ext>
            </a:extLst>
          </p:cNvPr>
          <p:cNvSpPr>
            <a:spLocks noGrp="1"/>
          </p:cNvSpPr>
          <p:nvPr/>
        </p:nvSpPr>
        <p:spPr>
          <a:xfrm>
            <a:off x="3619500" y="2857500"/>
            <a:ext cx="1009650" cy="190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807AE3-D6C8-45EA-9670-E5CA779C10AA}"/>
              </a:ext>
            </a:extLst>
          </p:cNvPr>
          <p:cNvSpPr>
            <a:spLocks noGrp="1"/>
          </p:cNvSpPr>
          <p:nvPr/>
        </p:nvSpPr>
        <p:spPr>
          <a:xfrm>
            <a:off x="6629400" y="2857500"/>
            <a:ext cx="1543050" cy="190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DC8038C-F967-4636-81BA-8A3E27DE2977}"/>
              </a:ext>
            </a:extLst>
          </p:cNvPr>
          <p:cNvSpPr>
            <a:spLocks noGrp="1"/>
          </p:cNvSpPr>
          <p:nvPr/>
        </p:nvSpPr>
        <p:spPr>
          <a:xfrm>
            <a:off x="5619750" y="3524250"/>
            <a:ext cx="19050" cy="7429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6AEA6A-B233-4A96-87F2-CDD00351FE70}"/>
              </a:ext>
            </a:extLst>
          </p:cNvPr>
          <p:cNvSpPr>
            <a:spLocks noGrp="1"/>
          </p:cNvSpPr>
          <p:nvPr/>
        </p:nvSpPr>
        <p:spPr>
          <a:xfrm>
            <a:off x="1676400" y="5581650"/>
            <a:ext cx="1619250" cy="3619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B19049C-2084-44A6-9C4A-9D8EEFCFB084}"/>
              </a:ext>
            </a:extLst>
          </p:cNvPr>
          <p:cNvSpPr>
            <a:spLocks noGrp="1"/>
          </p:cNvSpPr>
          <p:nvPr/>
        </p:nvSpPr>
        <p:spPr>
          <a:xfrm>
            <a:off x="1771650" y="56769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Higher trust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A7F476F-F395-45D2-BE32-A422E4D1E0F7}"/>
              </a:ext>
            </a:extLst>
          </p:cNvPr>
          <p:cNvSpPr>
            <a:spLocks noGrp="1"/>
          </p:cNvSpPr>
          <p:nvPr/>
        </p:nvSpPr>
        <p:spPr>
          <a:xfrm>
            <a:off x="3867150" y="5581650"/>
            <a:ext cx="1619250" cy="3619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DFD97FB-F804-4891-9867-CB74D2D4F4F9}"/>
              </a:ext>
            </a:extLst>
          </p:cNvPr>
          <p:cNvSpPr>
            <a:spLocks noGrp="1"/>
          </p:cNvSpPr>
          <p:nvPr/>
        </p:nvSpPr>
        <p:spPr>
          <a:xfrm>
            <a:off x="3962400" y="56769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Better repeat usage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64EE4BB-FFA7-436C-926A-EE348179FA36}"/>
              </a:ext>
            </a:extLst>
          </p:cNvPr>
          <p:cNvSpPr>
            <a:spLocks noGrp="1"/>
          </p:cNvSpPr>
          <p:nvPr/>
        </p:nvSpPr>
        <p:spPr>
          <a:xfrm>
            <a:off x="6057900" y="5581650"/>
            <a:ext cx="1619250" cy="3619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1EE81D-5CC8-46C7-B1EF-E38983DE8BED}"/>
              </a:ext>
            </a:extLst>
          </p:cNvPr>
          <p:cNvSpPr>
            <a:spLocks noGrp="1"/>
          </p:cNvSpPr>
          <p:nvPr/>
        </p:nvSpPr>
        <p:spPr>
          <a:xfrm>
            <a:off x="6153150" y="56769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Predictable credit spend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D116B6C-BDE7-4BED-9C84-07CC8F6ADE5B}"/>
              </a:ext>
            </a:extLst>
          </p:cNvPr>
          <p:cNvSpPr>
            <a:spLocks noGrp="1"/>
          </p:cNvSpPr>
          <p:nvPr/>
        </p:nvSpPr>
        <p:spPr>
          <a:xfrm>
            <a:off x="8248650" y="5581650"/>
            <a:ext cx="1619250" cy="3619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A1E24FD-F3D8-4AE7-8D11-B10D6B0F63D9}"/>
              </a:ext>
            </a:extLst>
          </p:cNvPr>
          <p:cNvSpPr>
            <a:spLocks noGrp="1"/>
          </p:cNvSpPr>
          <p:nvPr/>
        </p:nvSpPr>
        <p:spPr>
          <a:xfrm>
            <a:off x="8343900" y="5676900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Provider leverage</a:t>
            </a:r>
          </a:p>
        </p:txBody>
      </p:sp>
    </p:spTree>
    <p:extLst>
      <p:ext uri="{BB962C8B-B14F-4D97-AF65-F5344CB8AC3E}">
        <p14:creationId xmlns:p14="http://schemas.microsoft.com/office/powerpoint/2010/main" val="196608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g">
            <a:extLst>
              <a:ext uri="{FF2B5EF4-FFF2-40B4-BE49-F238E27FC236}">
                <a16:creationId xmlns:a16="http://schemas.microsoft.com/office/drawing/2014/main" id="{26F5278D-7850-4C7F-AF6A-7577DFBB8E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C2CD84AF-6144-4D66-8F80-2B4FDF9EA7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0CF79A90-4DC8-4B02-8BF4-C38FF8D6F4BC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DD410A91-C593-4476-9A11-78FE052EE994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345C9885-4F0F-4F00-B7A0-D28227BAFA72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0F16E4B2-C4FF-4D00-8D23-AD6DDBF7B484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661D3704-3C9A-414D-9607-08AD34522312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B2F469DE-5431-47B1-95F0-268EA1B0DAC0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D55BE21E-7F02-41D7-AC07-CC4811393799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4143587C-88F7-4514-B121-87626DB71F89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A169624A-070C-4286-B451-2405B2D2F232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74F10BB0-682A-4487-BA56-9E75E8364BE4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7">
            <a:extLst>
              <a:ext uri="{FF2B5EF4-FFF2-40B4-BE49-F238E27FC236}">
                <a16:creationId xmlns:a16="http://schemas.microsoft.com/office/drawing/2014/main" id="{258082B4-01C3-4CFC-A553-15D5BFEFAA1A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7">
            <a:extLst>
              <a:ext uri="{FF2B5EF4-FFF2-40B4-BE49-F238E27FC236}">
                <a16:creationId xmlns:a16="http://schemas.microsoft.com/office/drawing/2014/main" id="{8361460B-3D8E-4DD3-9FE3-D0AB32BC928F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USP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3E09BB7-13E4-4850-AD33-E5C457435896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Aria AI is differentiated by routing, verification, and credit economics.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02E07CA3-EF50-4440-B4C8-AAD25E18DB2E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F68E39-9402-41B4-8A26-D6EBEAEBB7CC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7E10C0-79F6-4498-AD79-2636E752A2E6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F04B5E-7EA2-43C0-B69E-E5AB53998C8B}"/>
              </a:ext>
            </a:extLst>
          </p:cNvPr>
          <p:cNvSpPr>
            <a:spLocks noGrp="1"/>
          </p:cNvSpPr>
          <p:nvPr/>
        </p:nvSpPr>
        <p:spPr>
          <a:xfrm>
            <a:off x="1009650" y="1752600"/>
            <a:ext cx="495300" cy="4953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6E7576-345B-4017-B007-721E4D7D7B16}"/>
              </a:ext>
            </a:extLst>
          </p:cNvPr>
          <p:cNvSpPr>
            <a:spLocks noGrp="1"/>
          </p:cNvSpPr>
          <p:nvPr/>
        </p:nvSpPr>
        <p:spPr>
          <a:xfrm>
            <a:off x="1009650" y="18859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8B0985-A4BD-4BE1-982B-C04ED7497F67}"/>
              </a:ext>
            </a:extLst>
          </p:cNvPr>
          <p:cNvSpPr>
            <a:spLocks noGrp="1"/>
          </p:cNvSpPr>
          <p:nvPr/>
        </p:nvSpPr>
        <p:spPr>
          <a:xfrm>
            <a:off x="1752600" y="17335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User sees intent, not model names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B0EE02-05BD-43B0-8D4C-B6DFB5604A0C}"/>
              </a:ext>
            </a:extLst>
          </p:cNvPr>
          <p:cNvSpPr>
            <a:spLocks noGrp="1"/>
          </p:cNvSpPr>
          <p:nvPr/>
        </p:nvSpPr>
        <p:spPr>
          <a:xfrm>
            <a:off x="1752600" y="2028825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Modes match jobs to be done while providers stay configurable in admin.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A3024DE-0B35-4626-91D3-92C2434F0890}"/>
              </a:ext>
            </a:extLst>
          </p:cNvPr>
          <p:cNvSpPr>
            <a:spLocks noGrp="1"/>
          </p:cNvSpPr>
          <p:nvPr/>
        </p:nvSpPr>
        <p:spPr>
          <a:xfrm>
            <a:off x="1009650" y="2533650"/>
            <a:ext cx="495300" cy="4953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97F17AD-CBD9-4E38-9872-68BB2891F755}"/>
              </a:ext>
            </a:extLst>
          </p:cNvPr>
          <p:cNvSpPr>
            <a:spLocks noGrp="1"/>
          </p:cNvSpPr>
          <p:nvPr/>
        </p:nvSpPr>
        <p:spPr>
          <a:xfrm>
            <a:off x="1009650" y="26670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A8C3E4-03EA-47AA-B82F-029CC36B5B2C}"/>
              </a:ext>
            </a:extLst>
          </p:cNvPr>
          <p:cNvSpPr>
            <a:spLocks noGrp="1"/>
          </p:cNvSpPr>
          <p:nvPr/>
        </p:nvSpPr>
        <p:spPr>
          <a:xfrm>
            <a:off x="1752600" y="25146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Research begins with sources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EC4361-44E4-4EE6-BB86-E7872101F3E2}"/>
              </a:ext>
            </a:extLst>
          </p:cNvPr>
          <p:cNvSpPr>
            <a:spLocks noGrp="1"/>
          </p:cNvSpPr>
          <p:nvPr/>
        </p:nvSpPr>
        <p:spPr>
          <a:xfrm>
            <a:off x="1752600" y="2809875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Live search context is collected before answer generation when current facts are required.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2CF4B78-9F12-4CFC-AA06-289535B60818}"/>
              </a:ext>
            </a:extLst>
          </p:cNvPr>
          <p:cNvSpPr>
            <a:spLocks noGrp="1"/>
          </p:cNvSpPr>
          <p:nvPr/>
        </p:nvSpPr>
        <p:spPr>
          <a:xfrm>
            <a:off x="1009650" y="3314700"/>
            <a:ext cx="495300" cy="49530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1B0B14-3875-4F15-ADBB-73562B9ACFFB}"/>
              </a:ext>
            </a:extLst>
          </p:cNvPr>
          <p:cNvSpPr>
            <a:spLocks noGrp="1"/>
          </p:cNvSpPr>
          <p:nvPr/>
        </p:nvSpPr>
        <p:spPr>
          <a:xfrm>
            <a:off x="1009650" y="34480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2E562A-444E-48FC-A867-DE299B20BCB4}"/>
              </a:ext>
            </a:extLst>
          </p:cNvPr>
          <p:cNvSpPr>
            <a:spLocks noGrp="1"/>
          </p:cNvSpPr>
          <p:nvPr/>
        </p:nvSpPr>
        <p:spPr>
          <a:xfrm>
            <a:off x="1752600" y="32956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Analyzer makes disagreement useful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BB463A-BA3D-42E4-B994-915CDA2F6568}"/>
              </a:ext>
            </a:extLst>
          </p:cNvPr>
          <p:cNvSpPr>
            <a:spLocks noGrp="1"/>
          </p:cNvSpPr>
          <p:nvPr/>
        </p:nvSpPr>
        <p:spPr>
          <a:xfrm>
            <a:off x="1752600" y="3590925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Competing model responses are shown before a judged final answer.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8200465-9561-400E-9EFB-74865789508A}"/>
              </a:ext>
            </a:extLst>
          </p:cNvPr>
          <p:cNvSpPr>
            <a:spLocks noGrp="1"/>
          </p:cNvSpPr>
          <p:nvPr/>
        </p:nvSpPr>
        <p:spPr>
          <a:xfrm>
            <a:off x="1009650" y="4095750"/>
            <a:ext cx="495300" cy="495300"/>
          </a:xfrm>
          <a:prstGeom prst="rect">
            <a:avLst/>
          </a:prstGeom>
          <a:solidFill>
            <a:srgbClr val="63E6BE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FFF8AB-2472-4151-9DCD-98C27D8DD95D}"/>
              </a:ext>
            </a:extLst>
          </p:cNvPr>
          <p:cNvSpPr>
            <a:spLocks noGrp="1"/>
          </p:cNvSpPr>
          <p:nvPr/>
        </p:nvSpPr>
        <p:spPr>
          <a:xfrm>
            <a:off x="1009650" y="422910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3BE83D0-3E91-4854-B13B-65A67BEBC598}"/>
              </a:ext>
            </a:extLst>
          </p:cNvPr>
          <p:cNvSpPr>
            <a:spLocks noGrp="1"/>
          </p:cNvSpPr>
          <p:nvPr/>
        </p:nvSpPr>
        <p:spPr>
          <a:xfrm>
            <a:off x="1752600" y="40767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Credit wallet unlocks all features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3D44103-DD7A-425C-AC68-AFDEE0D4A850}"/>
              </a:ext>
            </a:extLst>
          </p:cNvPr>
          <p:cNvSpPr>
            <a:spLocks noGrp="1"/>
          </p:cNvSpPr>
          <p:nvPr/>
        </p:nvSpPr>
        <p:spPr>
          <a:xfrm>
            <a:off x="1752600" y="4371975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Users buy usage capacity rather than buying access to a specific model.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E3C165-C0BA-44C0-BD83-062EB6634210}"/>
              </a:ext>
            </a:extLst>
          </p:cNvPr>
          <p:cNvSpPr>
            <a:spLocks noGrp="1"/>
          </p:cNvSpPr>
          <p:nvPr/>
        </p:nvSpPr>
        <p:spPr>
          <a:xfrm>
            <a:off x="1009650" y="4876800"/>
            <a:ext cx="495300" cy="495300"/>
          </a:xfrm>
          <a:prstGeom prst="rect">
            <a:avLst/>
          </a:prstGeom>
          <a:solidFill>
            <a:srgbClr val="FF6B8A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295F6A-27AA-4941-865C-910DB9AF3F6A}"/>
              </a:ext>
            </a:extLst>
          </p:cNvPr>
          <p:cNvSpPr>
            <a:spLocks noGrp="1"/>
          </p:cNvSpPr>
          <p:nvPr/>
        </p:nvSpPr>
        <p:spPr>
          <a:xfrm>
            <a:off x="1009650" y="5010150"/>
            <a:ext cx="495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8518AC7-C42D-41F8-B2D6-F970A5EAC820}"/>
              </a:ext>
            </a:extLst>
          </p:cNvPr>
          <p:cNvSpPr>
            <a:spLocks noGrp="1"/>
          </p:cNvSpPr>
          <p:nvPr/>
        </p:nvSpPr>
        <p:spPr>
          <a:xfrm>
            <a:off x="1752600" y="48577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Admin control protects margin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91BE42C-7001-44C2-97CB-76F7C00C9863}"/>
              </a:ext>
            </a:extLst>
          </p:cNvPr>
          <p:cNvSpPr>
            <a:spLocks noGrp="1"/>
          </p:cNvSpPr>
          <p:nvPr/>
        </p:nvSpPr>
        <p:spPr>
          <a:xfrm>
            <a:off x="1752600" y="5153025"/>
            <a:ext cx="6572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Provider, routing, pricing, plans, and balances are managed away from the public billing surface.</a:t>
            </a:r>
          </a:p>
        </p:txBody>
      </p:sp>
      <p:sp>
        <p:nvSpPr>
          <p:cNvPr id="39" name="note-box">
            <a:extLst>
              <a:ext uri="{FF2B5EF4-FFF2-40B4-BE49-F238E27FC236}">
                <a16:creationId xmlns:a16="http://schemas.microsoft.com/office/drawing/2014/main" id="{B1BA06BB-BD91-4254-9A2D-8AA89728AAB5}"/>
              </a:ext>
            </a:extLst>
          </p:cNvPr>
          <p:cNvSpPr>
            <a:spLocks noGrp="1"/>
          </p:cNvSpPr>
          <p:nvPr/>
        </p:nvSpPr>
        <p:spPr>
          <a:xfrm>
            <a:off x="8477250" y="2400300"/>
            <a:ext cx="2324100" cy="1428750"/>
          </a:xfrm>
          <a:prstGeom prst="rect">
            <a:avLst/>
          </a:prstGeom>
          <a:solidFill>
            <a:srgbClr val="08171C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34F996-E75C-4E76-B377-E11D201C5DF3}"/>
              </a:ext>
            </a:extLst>
          </p:cNvPr>
          <p:cNvSpPr>
            <a:spLocks noGrp="1"/>
          </p:cNvSpPr>
          <p:nvPr/>
        </p:nvSpPr>
        <p:spPr>
          <a:xfrm>
            <a:off x="8648700" y="2543175"/>
            <a:ext cx="198120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USP: a credible, multi-model workspace where all premium behavior is governed by one credit wallet.</a:t>
            </a:r>
          </a:p>
        </p:txBody>
      </p:sp>
    </p:spTree>
    <p:extLst>
      <p:ext uri="{BB962C8B-B14F-4D97-AF65-F5344CB8AC3E}">
        <p14:creationId xmlns:p14="http://schemas.microsoft.com/office/powerpoint/2010/main" val="496699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">
            <a:extLst>
              <a:ext uri="{FF2B5EF4-FFF2-40B4-BE49-F238E27FC236}">
                <a16:creationId xmlns:a16="http://schemas.microsoft.com/office/drawing/2014/main" id="{E590935A-2311-49AB-BF91-B50AAF8BDD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10F8C4AB-41C1-4C25-8AC3-791A745F0E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9AF9F601-A515-4146-AC2C-586A0F2E660A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2194C766-5189-47C0-A3E3-C97F936CF43F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432F5801-4085-4587-B29C-F94FCE33ECCE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1458440C-FC6C-4969-B202-40A139D0A8D2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120F14F6-25FA-4F3E-8485-E4958DC89076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3F5D8E36-4075-4BFF-A544-F35237463300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433899E3-FF34-4901-AD71-86A239E76FF7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3B8136BC-62FE-4396-9E7C-5B6B1795DDF9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7C610328-AF97-4F9B-A0AD-098C21C4C66C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654C0366-D36E-4B81-8A23-FC4B9E34B25C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8">
            <a:extLst>
              <a:ext uri="{FF2B5EF4-FFF2-40B4-BE49-F238E27FC236}">
                <a16:creationId xmlns:a16="http://schemas.microsoft.com/office/drawing/2014/main" id="{7F44E6C4-4145-45A0-86B0-4F7A7BC1D234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8">
            <a:extLst>
              <a:ext uri="{FF2B5EF4-FFF2-40B4-BE49-F238E27FC236}">
                <a16:creationId xmlns:a16="http://schemas.microsoft.com/office/drawing/2014/main" id="{DF7C6047-1AD1-4771-8092-409503CB9F4E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ARIA MIND MODE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2BBA1C9-2E28-49B1-B269-2A49DBCC6F5E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Aria Mind is the default daily assistant for fast, useful answers.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A36136ED-3248-4051-942F-BD123F83A040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397A99-C6B9-4FBF-B99B-07C7CF06FAF0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BEB013C-0C90-4DFB-ACDD-09A0CD23D6F0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FF070B-F22A-4E30-A499-3EE5885AC200}"/>
              </a:ext>
            </a:extLst>
          </p:cNvPr>
          <p:cNvSpPr>
            <a:spLocks noGrp="1"/>
          </p:cNvSpPr>
          <p:nvPr/>
        </p:nvSpPr>
        <p:spPr>
          <a:xfrm>
            <a:off x="876300" y="1962150"/>
            <a:ext cx="5715000" cy="3200400"/>
          </a:xfrm>
          <a:prstGeom prst="rect">
            <a:avLst/>
          </a:prstGeom>
          <a:solidFill>
            <a:srgbClr val="08191E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114E615-8839-478A-8780-F713F8265D23}"/>
              </a:ext>
            </a:extLst>
          </p:cNvPr>
          <p:cNvSpPr>
            <a:spLocks noGrp="1"/>
          </p:cNvSpPr>
          <p:nvPr/>
        </p:nvSpPr>
        <p:spPr>
          <a:xfrm>
            <a:off x="1066800" y="2190750"/>
            <a:ext cx="5334000" cy="438150"/>
          </a:xfrm>
          <a:prstGeom prst="rect">
            <a:avLst/>
          </a:prstGeom>
          <a:solidFill>
            <a:srgbClr val="102A32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7A6E775-162F-491F-A516-A91708A03CAD}"/>
              </a:ext>
            </a:extLst>
          </p:cNvPr>
          <p:cNvSpPr>
            <a:spLocks noGrp="1"/>
          </p:cNvSpPr>
          <p:nvPr/>
        </p:nvSpPr>
        <p:spPr>
          <a:xfrm>
            <a:off x="1257300" y="2324100"/>
            <a:ext cx="1714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Ask Aria Mind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6143E8-256B-4110-AF00-43028C690CF5}"/>
              </a:ext>
            </a:extLst>
          </p:cNvPr>
          <p:cNvSpPr>
            <a:spLocks noGrp="1"/>
          </p:cNvSpPr>
          <p:nvPr/>
        </p:nvSpPr>
        <p:spPr>
          <a:xfrm>
            <a:off x="1181100" y="2914650"/>
            <a:ext cx="3924300" cy="1104900"/>
          </a:xfrm>
          <a:prstGeom prst="rect">
            <a:avLst/>
          </a:prstGeom>
          <a:solidFill>
            <a:srgbClr val="0D2027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92ECE76-D55C-4763-B66B-97BC6A44ACB0}"/>
              </a:ext>
            </a:extLst>
          </p:cNvPr>
          <p:cNvSpPr>
            <a:spLocks noGrp="1"/>
          </p:cNvSpPr>
          <p:nvPr/>
        </p:nvSpPr>
        <p:spPr>
          <a:xfrm>
            <a:off x="1390650" y="3124200"/>
            <a:ext cx="323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Answer drafted with the fast route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875A30D-4EA8-4573-921D-D96E5C0D82EE}"/>
              </a:ext>
            </a:extLst>
          </p:cNvPr>
          <p:cNvSpPr>
            <a:spLocks noGrp="1"/>
          </p:cNvSpPr>
          <p:nvPr/>
        </p:nvSpPr>
        <p:spPr>
          <a:xfrm>
            <a:off x="1390650" y="3457575"/>
            <a:ext cx="3333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Live verification is triggered only when the prompt needs current facts.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6238B38-D32E-41F2-A7D4-DA5633A10684}"/>
              </a:ext>
            </a:extLst>
          </p:cNvPr>
          <p:cNvSpPr>
            <a:spLocks noGrp="1"/>
          </p:cNvSpPr>
          <p:nvPr/>
        </p:nvSpPr>
        <p:spPr>
          <a:xfrm>
            <a:off x="1619250" y="4419600"/>
            <a:ext cx="990600" cy="323850"/>
          </a:xfrm>
          <a:prstGeom prst="rect">
            <a:avLst/>
          </a:prstGeom>
          <a:solidFill>
            <a:srgbClr val="153C38"/>
          </a:solidFill>
          <a:ln w="9525">
            <a:solidFill>
              <a:srgbClr val="24E0B8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D753C8-192C-40E0-A7FC-96BBEAB55E0E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1200150" cy="3238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6C9173-23A2-4B3D-8238-07E7B4E9FAE3}"/>
              </a:ext>
            </a:extLst>
          </p:cNvPr>
          <p:cNvSpPr>
            <a:spLocks noGrp="1"/>
          </p:cNvSpPr>
          <p:nvPr/>
        </p:nvSpPr>
        <p:spPr>
          <a:xfrm>
            <a:off x="4038600" y="4419600"/>
            <a:ext cx="1352550" cy="3238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AE179B-5514-4BA8-85F0-2396A51D9D04}"/>
              </a:ext>
            </a:extLst>
          </p:cNvPr>
          <p:cNvSpPr>
            <a:spLocks noGrp="1"/>
          </p:cNvSpPr>
          <p:nvPr/>
        </p:nvSpPr>
        <p:spPr>
          <a:xfrm>
            <a:off x="1752600" y="4505325"/>
            <a:ext cx="723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Aria Mind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01465DA-5CA7-465F-B10F-C7EC74567B18}"/>
              </a:ext>
            </a:extLst>
          </p:cNvPr>
          <p:cNvSpPr>
            <a:spLocks noGrp="1"/>
          </p:cNvSpPr>
          <p:nvPr/>
        </p:nvSpPr>
        <p:spPr>
          <a:xfrm>
            <a:off x="2914650" y="45053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Research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F06B13-D198-4366-BA16-3DAE096B4BBF}"/>
              </a:ext>
            </a:extLst>
          </p:cNvPr>
          <p:cNvSpPr>
            <a:spLocks noGrp="1"/>
          </p:cNvSpPr>
          <p:nvPr/>
        </p:nvSpPr>
        <p:spPr>
          <a:xfrm>
            <a:off x="4248150" y="4505325"/>
            <a:ext cx="819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97F3CC9-D5B1-46DE-AE3F-D5EEC14B2363}"/>
              </a:ext>
            </a:extLst>
          </p:cNvPr>
          <p:cNvSpPr>
            <a:spLocks noGrp="1"/>
          </p:cNvSpPr>
          <p:nvPr/>
        </p:nvSpPr>
        <p:spPr>
          <a:xfrm>
            <a:off x="7239000" y="1924050"/>
            <a:ext cx="133350" cy="1333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433737-01EF-46BC-9F33-A6667BB99B01}"/>
              </a:ext>
            </a:extLst>
          </p:cNvPr>
          <p:cNvSpPr>
            <a:spLocks noGrp="1"/>
          </p:cNvSpPr>
          <p:nvPr/>
        </p:nvSpPr>
        <p:spPr>
          <a:xfrm>
            <a:off x="7543800" y="1857375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Default fast route for normal chat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63BF0C-C32B-402D-8073-C9EC8F8EF175}"/>
              </a:ext>
            </a:extLst>
          </p:cNvPr>
          <p:cNvSpPr>
            <a:spLocks noGrp="1"/>
          </p:cNvSpPr>
          <p:nvPr/>
        </p:nvSpPr>
        <p:spPr>
          <a:xfrm>
            <a:off x="7239000" y="2447925"/>
            <a:ext cx="133350" cy="1333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C524F3-3C1F-40E5-B78E-D270A9BD7649}"/>
              </a:ext>
            </a:extLst>
          </p:cNvPr>
          <p:cNvSpPr>
            <a:spLocks noGrp="1"/>
          </p:cNvSpPr>
          <p:nvPr/>
        </p:nvSpPr>
        <p:spPr>
          <a:xfrm>
            <a:off x="7543800" y="238125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Workspace memory from signed-in saved chats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EED629-7302-4031-B691-9367526DCF66}"/>
              </a:ext>
            </a:extLst>
          </p:cNvPr>
          <p:cNvSpPr>
            <a:spLocks noGrp="1"/>
          </p:cNvSpPr>
          <p:nvPr/>
        </p:nvSpPr>
        <p:spPr>
          <a:xfrm>
            <a:off x="7239000" y="2971800"/>
            <a:ext cx="133350" cy="1333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67398C-2739-4E84-9E17-7987D684EE71}"/>
              </a:ext>
            </a:extLst>
          </p:cNvPr>
          <p:cNvSpPr>
            <a:spLocks noGrp="1"/>
          </p:cNvSpPr>
          <p:nvPr/>
        </p:nvSpPr>
        <p:spPr>
          <a:xfrm>
            <a:off x="7543800" y="2905125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Live search when current facts need verification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2F1A668-F090-4DF6-BAFC-19C79F4C67BA}"/>
              </a:ext>
            </a:extLst>
          </p:cNvPr>
          <p:cNvSpPr>
            <a:spLocks noGrp="1"/>
          </p:cNvSpPr>
          <p:nvPr/>
        </p:nvSpPr>
        <p:spPr>
          <a:xfrm>
            <a:off x="7239000" y="3495675"/>
            <a:ext cx="133350" cy="1333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B969B6C-C7E4-4262-824E-2821B7446299}"/>
              </a:ext>
            </a:extLst>
          </p:cNvPr>
          <p:cNvSpPr>
            <a:spLocks noGrp="1"/>
          </p:cNvSpPr>
          <p:nvPr/>
        </p:nvSpPr>
        <p:spPr>
          <a:xfrm>
            <a:off x="7543800" y="3429000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Provider identity hidden from regular users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7FCB629-3805-4BDE-8689-607AE6AD5E82}"/>
              </a:ext>
            </a:extLst>
          </p:cNvPr>
          <p:cNvSpPr>
            <a:spLocks noGrp="1"/>
          </p:cNvSpPr>
          <p:nvPr/>
        </p:nvSpPr>
        <p:spPr>
          <a:xfrm>
            <a:off x="7239000" y="4019550"/>
            <a:ext cx="133350" cy="1333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70EF386-1839-4BD9-A175-81B66E64D9A7}"/>
              </a:ext>
            </a:extLst>
          </p:cNvPr>
          <p:cNvSpPr>
            <a:spLocks noGrp="1"/>
          </p:cNvSpPr>
          <p:nvPr/>
        </p:nvSpPr>
        <p:spPr>
          <a:xfrm>
            <a:off x="7543800" y="3952875"/>
            <a:ext cx="3143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Credit usage stays transparent to the wallet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C498613-3D48-451C-A2A5-DE2D4E04AEE3}"/>
              </a:ext>
            </a:extLst>
          </p:cNvPr>
          <p:cNvSpPr>
            <a:spLocks noGrp="1"/>
          </p:cNvSpPr>
          <p:nvPr/>
        </p:nvSpPr>
        <p:spPr>
          <a:xfrm>
            <a:off x="7258050" y="5000625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Primary use cases: Daily Q&amp;A | Drafting | Summaries | Learning | Quick checks</a:t>
            </a:r>
          </a:p>
        </p:txBody>
      </p:sp>
    </p:spTree>
    <p:extLst>
      <p:ext uri="{BB962C8B-B14F-4D97-AF65-F5344CB8AC3E}">
        <p14:creationId xmlns:p14="http://schemas.microsoft.com/office/powerpoint/2010/main" val="844615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g">
            <a:extLst>
              <a:ext uri="{FF2B5EF4-FFF2-40B4-BE49-F238E27FC236}">
                <a16:creationId xmlns:a16="http://schemas.microsoft.com/office/drawing/2014/main" id="{E3402BCD-5754-4E07-ABD7-011B1A9CA2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2FD1C658-CE7D-474C-BC1A-169ADA729B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509F96B5-7425-4A3D-B17A-39EE07F2EBF4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257D8115-F7F0-45A6-B0BA-6426DB996543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548BE8EC-FE41-4507-B8E7-C95026CE327A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808FA017-B3D0-4C4E-A2E8-7782E7879F6E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C2BAF4F9-E1BC-4AA1-88BD-0B07C5EEDB5B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5EC21AAD-ADB3-40A2-AF43-74F5E26D1A34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6DFC4972-96C1-4771-B9DE-F521223B0DBC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773C9702-3C86-485A-8514-E1C5D47C09C0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065F8680-60D1-47E6-8404-34F474E89685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4DD0D575-3D0B-4595-B638-A3417847D1F0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9">
            <a:extLst>
              <a:ext uri="{FF2B5EF4-FFF2-40B4-BE49-F238E27FC236}">
                <a16:creationId xmlns:a16="http://schemas.microsoft.com/office/drawing/2014/main" id="{AA3C3678-0884-4A67-BC11-E275EF041BA0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9">
            <a:extLst>
              <a:ext uri="{FF2B5EF4-FFF2-40B4-BE49-F238E27FC236}">
                <a16:creationId xmlns:a16="http://schemas.microsoft.com/office/drawing/2014/main" id="{6CEB9FC4-4D6D-4FE1-81EA-06B625BBBDE4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MIND USE CASES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5C2A53-6A9E-4F94-A2FF-E65F6D94AE8A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first habit is daily utility; the upgrade path is higher-confidence work.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503C388E-1E88-4859-99E6-FF700ABED1E6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9BFD95B-6600-4141-A606-4D90B4458523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C102466-D139-4B9D-9FDB-F05595E04BE9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56687B-6B2E-491A-9596-D4A1E3856A90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9867900" cy="57912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9FF98A-4B84-4E06-9515-20D6FB3D7308}"/>
              </a:ext>
            </a:extLst>
          </p:cNvPr>
          <p:cNvSpPr>
            <a:spLocks noGrp="1"/>
          </p:cNvSpPr>
          <p:nvPr/>
        </p:nvSpPr>
        <p:spPr>
          <a:xfrm>
            <a:off x="923925" y="2085975"/>
            <a:ext cx="15811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2A57BE-2148-4720-9EC6-F5BC14B49DD1}"/>
              </a:ext>
            </a:extLst>
          </p:cNvPr>
          <p:cNvSpPr>
            <a:spLocks noGrp="1"/>
          </p:cNvSpPr>
          <p:nvPr/>
        </p:nvSpPr>
        <p:spPr>
          <a:xfrm>
            <a:off x="2638425" y="2085975"/>
            <a:ext cx="40576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Daily job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196D949-30FE-48C2-9C1E-6D258FD68EBC}"/>
              </a:ext>
            </a:extLst>
          </p:cNvPr>
          <p:cNvSpPr>
            <a:spLocks noGrp="1"/>
          </p:cNvSpPr>
          <p:nvPr/>
        </p:nvSpPr>
        <p:spPr>
          <a:xfrm>
            <a:off x="6829425" y="2085975"/>
            <a:ext cx="38290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Why Aria wins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180652-DD7F-407B-AF9C-BCE7DF1FF40A}"/>
              </a:ext>
            </a:extLst>
          </p:cNvPr>
          <p:cNvSpPr>
            <a:spLocks noGrp="1"/>
          </p:cNvSpPr>
          <p:nvPr/>
        </p:nvSpPr>
        <p:spPr>
          <a:xfrm>
            <a:off x="838200" y="2541270"/>
            <a:ext cx="9867900" cy="57912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F636C2-67FA-4620-92CB-1968F5CB893F}"/>
              </a:ext>
            </a:extLst>
          </p:cNvPr>
          <p:cNvSpPr>
            <a:spLocks noGrp="1"/>
          </p:cNvSpPr>
          <p:nvPr/>
        </p:nvSpPr>
        <p:spPr>
          <a:xfrm>
            <a:off x="923925" y="2665095"/>
            <a:ext cx="15811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0A7165-E2D1-43A6-B069-2C967ECA58DB}"/>
              </a:ext>
            </a:extLst>
          </p:cNvPr>
          <p:cNvSpPr>
            <a:spLocks noGrp="1"/>
          </p:cNvSpPr>
          <p:nvPr/>
        </p:nvSpPr>
        <p:spPr>
          <a:xfrm>
            <a:off x="2638425" y="2665095"/>
            <a:ext cx="40576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Assignments, summaries, exam prep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14F132-BD78-4F50-BB96-36DE35A65B41}"/>
              </a:ext>
            </a:extLst>
          </p:cNvPr>
          <p:cNvSpPr>
            <a:spLocks noGrp="1"/>
          </p:cNvSpPr>
          <p:nvPr/>
        </p:nvSpPr>
        <p:spPr>
          <a:xfrm>
            <a:off x="6829425" y="2665095"/>
            <a:ext cx="38290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Low friction, low spend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7D5444-AFE6-418D-9D7D-B014E90C6139}"/>
              </a:ext>
            </a:extLst>
          </p:cNvPr>
          <p:cNvSpPr>
            <a:spLocks noGrp="1"/>
          </p:cNvSpPr>
          <p:nvPr/>
        </p:nvSpPr>
        <p:spPr>
          <a:xfrm>
            <a:off x="838200" y="3120390"/>
            <a:ext cx="9867900" cy="57912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A8A1703-E3D7-4DA7-9842-B83A28BC87D8}"/>
              </a:ext>
            </a:extLst>
          </p:cNvPr>
          <p:cNvSpPr>
            <a:spLocks noGrp="1"/>
          </p:cNvSpPr>
          <p:nvPr/>
        </p:nvSpPr>
        <p:spPr>
          <a:xfrm>
            <a:off x="923925" y="3244215"/>
            <a:ext cx="15811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Professionals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F944CB-5340-4C60-BA28-28B2EE8D6A64}"/>
              </a:ext>
            </a:extLst>
          </p:cNvPr>
          <p:cNvSpPr>
            <a:spLocks noGrp="1"/>
          </p:cNvSpPr>
          <p:nvPr/>
        </p:nvSpPr>
        <p:spPr>
          <a:xfrm>
            <a:off x="2638425" y="3244215"/>
            <a:ext cx="40576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Emails, reports, quick analysis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3E14566-3844-458D-9372-177E3355A617}"/>
              </a:ext>
            </a:extLst>
          </p:cNvPr>
          <p:cNvSpPr>
            <a:spLocks noGrp="1"/>
          </p:cNvSpPr>
          <p:nvPr/>
        </p:nvSpPr>
        <p:spPr>
          <a:xfrm>
            <a:off x="6829425" y="3244215"/>
            <a:ext cx="38290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Saved context and speed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244191-32DA-4399-8904-5784C825E01C}"/>
              </a:ext>
            </a:extLst>
          </p:cNvPr>
          <p:cNvSpPr>
            <a:spLocks noGrp="1"/>
          </p:cNvSpPr>
          <p:nvPr/>
        </p:nvSpPr>
        <p:spPr>
          <a:xfrm>
            <a:off x="838200" y="3699510"/>
            <a:ext cx="9867900" cy="57912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224AD2-C60B-49C4-AD4D-6639A8733BC9}"/>
              </a:ext>
            </a:extLst>
          </p:cNvPr>
          <p:cNvSpPr>
            <a:spLocks noGrp="1"/>
          </p:cNvSpPr>
          <p:nvPr/>
        </p:nvSpPr>
        <p:spPr>
          <a:xfrm>
            <a:off x="923925" y="3823335"/>
            <a:ext cx="15811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Founders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4F13228-446B-455F-976C-79B39C861412}"/>
              </a:ext>
            </a:extLst>
          </p:cNvPr>
          <p:cNvSpPr>
            <a:spLocks noGrp="1"/>
          </p:cNvSpPr>
          <p:nvPr/>
        </p:nvSpPr>
        <p:spPr>
          <a:xfrm>
            <a:off x="2638425" y="3823335"/>
            <a:ext cx="40576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Research, planning, investor prep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7F11DAA-5948-4C32-A598-843CA93C9EA3}"/>
              </a:ext>
            </a:extLst>
          </p:cNvPr>
          <p:cNvSpPr>
            <a:spLocks noGrp="1"/>
          </p:cNvSpPr>
          <p:nvPr/>
        </p:nvSpPr>
        <p:spPr>
          <a:xfrm>
            <a:off x="6829425" y="3823335"/>
            <a:ext cx="38290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Switch to Research and Analyzer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375FE22-2163-4F91-B4C1-88CB4319340A}"/>
              </a:ext>
            </a:extLst>
          </p:cNvPr>
          <p:cNvSpPr>
            <a:spLocks noGrp="1"/>
          </p:cNvSpPr>
          <p:nvPr/>
        </p:nvSpPr>
        <p:spPr>
          <a:xfrm>
            <a:off x="838200" y="4278630"/>
            <a:ext cx="9867900" cy="57912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95D3DB4-4F89-45BA-A20C-DA8ECEA7029F}"/>
              </a:ext>
            </a:extLst>
          </p:cNvPr>
          <p:cNvSpPr>
            <a:spLocks noGrp="1"/>
          </p:cNvSpPr>
          <p:nvPr/>
        </p:nvSpPr>
        <p:spPr>
          <a:xfrm>
            <a:off x="923925" y="4402455"/>
            <a:ext cx="15811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Agencies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A0A503-B5E7-44C5-9542-445BC61CFCF3}"/>
              </a:ext>
            </a:extLst>
          </p:cNvPr>
          <p:cNvSpPr>
            <a:spLocks noGrp="1"/>
          </p:cNvSpPr>
          <p:nvPr/>
        </p:nvSpPr>
        <p:spPr>
          <a:xfrm>
            <a:off x="2638425" y="4402455"/>
            <a:ext cx="40576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Content, client research, comparison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1718E28-B71A-4955-9674-1D5DAF521370}"/>
              </a:ext>
            </a:extLst>
          </p:cNvPr>
          <p:cNvSpPr>
            <a:spLocks noGrp="1"/>
          </p:cNvSpPr>
          <p:nvPr/>
        </p:nvSpPr>
        <p:spPr>
          <a:xfrm>
            <a:off x="6829425" y="4402455"/>
            <a:ext cx="3829050" cy="3314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2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Team usage and credits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9C22571-638C-4DC8-9C28-F236721DAFCD}"/>
              </a:ext>
            </a:extLst>
          </p:cNvPr>
          <p:cNvSpPr>
            <a:spLocks noGrp="1"/>
          </p:cNvSpPr>
          <p:nvPr/>
        </p:nvSpPr>
        <p:spPr>
          <a:xfrm>
            <a:off x="1143000" y="5314950"/>
            <a:ext cx="8953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Conversion insight: the low-friction habit starts in Aria Mind, while pricing power appears when users need Research and Analyzer confidence.</a:t>
            </a:r>
          </a:p>
        </p:txBody>
      </p:sp>
    </p:spTree>
    <p:extLst>
      <p:ext uri="{BB962C8B-B14F-4D97-AF65-F5344CB8AC3E}">
        <p14:creationId xmlns:p14="http://schemas.microsoft.com/office/powerpoint/2010/main" val="685195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">
            <a:extLst>
              <a:ext uri="{FF2B5EF4-FFF2-40B4-BE49-F238E27FC236}">
                <a16:creationId xmlns:a16="http://schemas.microsoft.com/office/drawing/2014/main" id="{ABCD5ABC-E89F-4EF9-A33B-E1DAE498E7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2DC3D4EF-194F-468B-B12F-1EFB654EE3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1F930B75-A2EE-4A84-B96C-855DEF99227D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26BC8B85-2D29-439F-92C3-C876057FD1CC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D72B0E48-84FB-4F0A-92C3-86125106C935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FB379548-E3EF-4B6C-BB42-BCB1AEF906E1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A236F697-3689-435A-A42D-409DA8991F8F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2847BB5C-9E7C-4F90-BBAE-877308D850E7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BD2DAEAF-761E-441B-860F-8050A6F552B6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6C958718-F2A5-4012-87AB-884BC48F4BDE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9D27356A-C4DA-42C3-A3EE-6633618D5E7C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79DEF55D-C0E6-4FBD-9302-517CD1F5D4A3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0">
            <a:extLst>
              <a:ext uri="{FF2B5EF4-FFF2-40B4-BE49-F238E27FC236}">
                <a16:creationId xmlns:a16="http://schemas.microsoft.com/office/drawing/2014/main" id="{68384CDF-1B26-4813-BEF5-705A31FDD145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0">
            <a:extLst>
              <a:ext uri="{FF2B5EF4-FFF2-40B4-BE49-F238E27FC236}">
                <a16:creationId xmlns:a16="http://schemas.microsoft.com/office/drawing/2014/main" id="{1ADF7E95-A2C5-4275-85CC-B49500911A49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RESEARCHER MODE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A9FB6A-F163-4311-9EDF-42BC10FE2402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Researcher mode turns search evidence into model-written analysis.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C1DB1E05-F671-4F84-898E-6394CC6CC76E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3D8487-F104-4B49-86C2-87E191AFBE5E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EDAB29-1D07-4A35-A858-7FD8DF52D1EE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DA388A-99C3-470B-B166-36A52E8867DF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1600200" cy="14668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F2E107-882C-4CDD-8D8F-C42C77E2F24D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1600200" cy="571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F2A0DF4-71D7-4C3E-9903-9056CB370136}"/>
              </a:ext>
            </a:extLst>
          </p:cNvPr>
          <p:cNvSpPr>
            <a:spLocks noGrp="1"/>
          </p:cNvSpPr>
          <p:nvPr/>
        </p:nvSpPr>
        <p:spPr>
          <a:xfrm>
            <a:off x="1009650" y="2476500"/>
            <a:ext cx="1333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1. Prompt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3249B2-8E4C-484A-8802-A5A586A1DAB7}"/>
              </a:ext>
            </a:extLst>
          </p:cNvPr>
          <p:cNvSpPr>
            <a:spLocks noGrp="1"/>
          </p:cNvSpPr>
          <p:nvPr/>
        </p:nvSpPr>
        <p:spPr>
          <a:xfrm>
            <a:off x="1009650" y="2819400"/>
            <a:ext cx="133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User asks a current, complex, or evidence-heavy question.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D8C06F-6154-4713-B4F7-86519565DA31}"/>
              </a:ext>
            </a:extLst>
          </p:cNvPr>
          <p:cNvSpPr>
            <a:spLocks noGrp="1"/>
          </p:cNvSpPr>
          <p:nvPr/>
        </p:nvSpPr>
        <p:spPr>
          <a:xfrm>
            <a:off x="2476500" y="2971800"/>
            <a:ext cx="438150" cy="190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D8B444-743B-4D69-B61E-77B3F6D54EFF}"/>
              </a:ext>
            </a:extLst>
          </p:cNvPr>
          <p:cNvSpPr>
            <a:spLocks noGrp="1"/>
          </p:cNvSpPr>
          <p:nvPr/>
        </p:nvSpPr>
        <p:spPr>
          <a:xfrm>
            <a:off x="2914650" y="2247900"/>
            <a:ext cx="1600200" cy="14668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6EE514-FE11-463D-AA09-56F6A2470CEE}"/>
              </a:ext>
            </a:extLst>
          </p:cNvPr>
          <p:cNvSpPr>
            <a:spLocks noGrp="1"/>
          </p:cNvSpPr>
          <p:nvPr/>
        </p:nvSpPr>
        <p:spPr>
          <a:xfrm>
            <a:off x="2914650" y="2247900"/>
            <a:ext cx="1600200" cy="571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9B0C4B3-B400-435A-B62D-6F6EE70FA935}"/>
              </a:ext>
            </a:extLst>
          </p:cNvPr>
          <p:cNvSpPr>
            <a:spLocks noGrp="1"/>
          </p:cNvSpPr>
          <p:nvPr/>
        </p:nvSpPr>
        <p:spPr>
          <a:xfrm>
            <a:off x="3048000" y="2476500"/>
            <a:ext cx="1333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2. Search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62D9746-5BFE-4C3E-9EE5-60E6A9CB6022}"/>
              </a:ext>
            </a:extLst>
          </p:cNvPr>
          <p:cNvSpPr>
            <a:spLocks noGrp="1"/>
          </p:cNvSpPr>
          <p:nvPr/>
        </p:nvSpPr>
        <p:spPr>
          <a:xfrm>
            <a:off x="3048000" y="2819400"/>
            <a:ext cx="133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Tavily/web search retrieves source snippets before generation.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11DA546-6987-4991-AC0A-C06B0215D900}"/>
              </a:ext>
            </a:extLst>
          </p:cNvPr>
          <p:cNvSpPr>
            <a:spLocks noGrp="1"/>
          </p:cNvSpPr>
          <p:nvPr/>
        </p:nvSpPr>
        <p:spPr>
          <a:xfrm>
            <a:off x="4514850" y="2971800"/>
            <a:ext cx="438150" cy="190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5BA4F8-C742-45BF-B485-D66183546129}"/>
              </a:ext>
            </a:extLst>
          </p:cNvPr>
          <p:cNvSpPr>
            <a:spLocks noGrp="1"/>
          </p:cNvSpPr>
          <p:nvPr/>
        </p:nvSpPr>
        <p:spPr>
          <a:xfrm>
            <a:off x="4953000" y="2247900"/>
            <a:ext cx="1600200" cy="14668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ACA1D95-30B2-4089-AFCD-35BE51B59AE6}"/>
              </a:ext>
            </a:extLst>
          </p:cNvPr>
          <p:cNvSpPr>
            <a:spLocks noGrp="1"/>
          </p:cNvSpPr>
          <p:nvPr/>
        </p:nvSpPr>
        <p:spPr>
          <a:xfrm>
            <a:off x="4953000" y="2247900"/>
            <a:ext cx="1600200" cy="571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DF4546-D505-43C3-8AF0-F6C451BAAB33}"/>
              </a:ext>
            </a:extLst>
          </p:cNvPr>
          <p:cNvSpPr>
            <a:spLocks noGrp="1"/>
          </p:cNvSpPr>
          <p:nvPr/>
        </p:nvSpPr>
        <p:spPr>
          <a:xfrm>
            <a:off x="5086350" y="2476500"/>
            <a:ext cx="1333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3. Select route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44ECD50-110E-4B8B-9C53-D67201A9BE79}"/>
              </a:ext>
            </a:extLst>
          </p:cNvPr>
          <p:cNvSpPr>
            <a:spLocks noGrp="1"/>
          </p:cNvSpPr>
          <p:nvPr/>
        </p:nvSpPr>
        <p:spPr>
          <a:xfrm>
            <a:off x="5086350" y="2819400"/>
            <a:ext cx="133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User or admin-selected model writes from the source pack.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8ADBC8-3940-4A22-BB9D-0F175BD2122E}"/>
              </a:ext>
            </a:extLst>
          </p:cNvPr>
          <p:cNvSpPr>
            <a:spLocks noGrp="1"/>
          </p:cNvSpPr>
          <p:nvPr/>
        </p:nvSpPr>
        <p:spPr>
          <a:xfrm>
            <a:off x="6553200" y="2971800"/>
            <a:ext cx="438150" cy="190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3CD54E9-3BAC-42DB-9343-4613DBB04581}"/>
              </a:ext>
            </a:extLst>
          </p:cNvPr>
          <p:cNvSpPr>
            <a:spLocks noGrp="1"/>
          </p:cNvSpPr>
          <p:nvPr/>
        </p:nvSpPr>
        <p:spPr>
          <a:xfrm>
            <a:off x="6991350" y="2247900"/>
            <a:ext cx="1600200" cy="14668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402A977-AF56-46C5-BEE3-F4EC1CA1B5B8}"/>
              </a:ext>
            </a:extLst>
          </p:cNvPr>
          <p:cNvSpPr>
            <a:spLocks noGrp="1"/>
          </p:cNvSpPr>
          <p:nvPr/>
        </p:nvSpPr>
        <p:spPr>
          <a:xfrm>
            <a:off x="6991350" y="2247900"/>
            <a:ext cx="1600200" cy="57150"/>
          </a:xfrm>
          <a:prstGeom prst="rect">
            <a:avLst/>
          </a:prstGeom>
          <a:solidFill>
            <a:srgbClr val="63E6BE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E43103-1CEF-4FFF-AFC3-8BA71DEF3BC9}"/>
              </a:ext>
            </a:extLst>
          </p:cNvPr>
          <p:cNvSpPr>
            <a:spLocks noGrp="1"/>
          </p:cNvSpPr>
          <p:nvPr/>
        </p:nvSpPr>
        <p:spPr>
          <a:xfrm>
            <a:off x="7124700" y="2476500"/>
            <a:ext cx="1333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4. Validate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DC07784-70BA-4CDA-8274-5AF02FE1B9C9}"/>
              </a:ext>
            </a:extLst>
          </p:cNvPr>
          <p:cNvSpPr>
            <a:spLocks noGrp="1"/>
          </p:cNvSpPr>
          <p:nvPr/>
        </p:nvSpPr>
        <p:spPr>
          <a:xfrm>
            <a:off x="7124700" y="2819400"/>
            <a:ext cx="133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The response keeps sources visible and avoids unsupported certainty.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49687D-7D24-40B5-848E-5F046B3B6F87}"/>
              </a:ext>
            </a:extLst>
          </p:cNvPr>
          <p:cNvSpPr>
            <a:spLocks noGrp="1"/>
          </p:cNvSpPr>
          <p:nvPr/>
        </p:nvSpPr>
        <p:spPr>
          <a:xfrm>
            <a:off x="8591550" y="2971800"/>
            <a:ext cx="438150" cy="190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293DAB-1929-4B3F-A385-695E9C7D2BF3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1600200" cy="14668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C3B5682-C64B-4C5F-9F0C-04426CC0D031}"/>
              </a:ext>
            </a:extLst>
          </p:cNvPr>
          <p:cNvSpPr>
            <a:spLocks noGrp="1"/>
          </p:cNvSpPr>
          <p:nvPr/>
        </p:nvSpPr>
        <p:spPr>
          <a:xfrm>
            <a:off x="9029700" y="2247900"/>
            <a:ext cx="1600200" cy="57150"/>
          </a:xfrm>
          <a:prstGeom prst="rect">
            <a:avLst/>
          </a:prstGeom>
          <a:solidFill>
            <a:srgbClr val="FF6B8A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E5E8385-B6E6-4C1D-82E0-2130F356CDEC}"/>
              </a:ext>
            </a:extLst>
          </p:cNvPr>
          <p:cNvSpPr>
            <a:spLocks noGrp="1"/>
          </p:cNvSpPr>
          <p:nvPr/>
        </p:nvSpPr>
        <p:spPr>
          <a:xfrm>
            <a:off x="9163050" y="2476500"/>
            <a:ext cx="13335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5. Save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3AF69F2-EC41-4B3B-8149-7B6D877DB264}"/>
              </a:ext>
            </a:extLst>
          </p:cNvPr>
          <p:cNvSpPr>
            <a:spLocks noGrp="1"/>
          </p:cNvSpPr>
          <p:nvPr/>
        </p:nvSpPr>
        <p:spPr>
          <a:xfrm>
            <a:off x="9163050" y="2819400"/>
            <a:ext cx="1333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Useful context can enter the workspace memory for signed-in users.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4FF84B-C8FB-4390-BD8A-EF5EB422DF86}"/>
              </a:ext>
            </a:extLst>
          </p:cNvPr>
          <p:cNvSpPr>
            <a:spLocks noGrp="1"/>
          </p:cNvSpPr>
          <p:nvPr/>
        </p:nvSpPr>
        <p:spPr>
          <a:xfrm>
            <a:off x="1638300" y="4762500"/>
            <a:ext cx="7715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The workflow's distinctive behavior is search-before-generation when current facts are needed.</a:t>
            </a:r>
          </a:p>
        </p:txBody>
      </p:sp>
    </p:spTree>
    <p:extLst>
      <p:ext uri="{BB962C8B-B14F-4D97-AF65-F5344CB8AC3E}">
        <p14:creationId xmlns:p14="http://schemas.microsoft.com/office/powerpoint/2010/main" val="1308627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">
            <a:extLst>
              <a:ext uri="{FF2B5EF4-FFF2-40B4-BE49-F238E27FC236}">
                <a16:creationId xmlns:a16="http://schemas.microsoft.com/office/drawing/2014/main" id="{8B758D35-6B7D-4B53-A76E-E3E7A290CF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C622BF25-259E-4383-983F-4EBDE54FCE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EDD8FEC4-1892-4030-8747-C4312F2349AE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2B82C9BD-2F69-4FA6-A252-467D9ED15060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9C0A4776-871F-4447-9399-43F091FF229C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8C22DEE9-5C6A-463F-9D7A-62295738D23B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61B625B1-7A4F-4C10-B876-FD1689AA498C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3E6F99E2-8736-410F-B3A6-BF4AB54079E1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CFC4AF37-8E5F-48F3-9CBB-24AAFD006C42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FD0591D3-B25D-434D-86F0-E76AA2B21A02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21CFFA5A-13FE-4ED0-B89C-FEC56C32FB42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F00BDA64-7BA0-418B-96D3-F334B635A7E8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1">
            <a:extLst>
              <a:ext uri="{FF2B5EF4-FFF2-40B4-BE49-F238E27FC236}">
                <a16:creationId xmlns:a16="http://schemas.microsoft.com/office/drawing/2014/main" id="{8F227A7F-8D4C-44FB-985B-30E7DFA12BD6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1">
            <a:extLst>
              <a:ext uri="{FF2B5EF4-FFF2-40B4-BE49-F238E27FC236}">
                <a16:creationId xmlns:a16="http://schemas.microsoft.com/office/drawing/2014/main" id="{8EC8FE98-5F0A-4CA9-ABB5-FD9BB0A4A2EC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MODEL ROUTING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4E7CEDA-EF1D-4D25-A18C-11D1F7A22446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product supports premium models while keeping the consumer surface simple.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3252A238-3A25-411B-973D-7A05FC4F37B1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A4803CE-F53B-40ED-8E69-FAF002CF9EA8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D0E3CE-0892-43C3-BEE2-6A19351DF3FB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38B9D29-8448-46E1-B14F-5B9928DEE1DC}"/>
              </a:ext>
            </a:extLst>
          </p:cNvPr>
          <p:cNvSpPr>
            <a:spLocks noGrp="1"/>
          </p:cNvSpPr>
          <p:nvPr/>
        </p:nvSpPr>
        <p:spPr>
          <a:xfrm>
            <a:off x="742950" y="1828800"/>
            <a:ext cx="10001250" cy="581025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C50B351-A755-4BEA-8488-1A00C9A107EB}"/>
              </a:ext>
            </a:extLst>
          </p:cNvPr>
          <p:cNvSpPr>
            <a:spLocks noGrp="1"/>
          </p:cNvSpPr>
          <p:nvPr/>
        </p:nvSpPr>
        <p:spPr>
          <a:xfrm>
            <a:off x="828675" y="1952625"/>
            <a:ext cx="14859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Provider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9917E9E-3943-4612-B716-29855F29A8DC}"/>
              </a:ext>
            </a:extLst>
          </p:cNvPr>
          <p:cNvSpPr>
            <a:spLocks noGrp="1"/>
          </p:cNvSpPr>
          <p:nvPr/>
        </p:nvSpPr>
        <p:spPr>
          <a:xfrm>
            <a:off x="2447925" y="1952625"/>
            <a:ext cx="3867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Configured or planned models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E460C2-E6B4-44D0-AA34-D5EA40337763}"/>
              </a:ext>
            </a:extLst>
          </p:cNvPr>
          <p:cNvSpPr>
            <a:spLocks noGrp="1"/>
          </p:cNvSpPr>
          <p:nvPr/>
        </p:nvSpPr>
        <p:spPr>
          <a:xfrm>
            <a:off x="6448425" y="1952625"/>
            <a:ext cx="4248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Aria role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7F9C46A-D05C-4ECD-8C96-538EC19F4632}"/>
              </a:ext>
            </a:extLst>
          </p:cNvPr>
          <p:cNvSpPr>
            <a:spLocks noGrp="1"/>
          </p:cNvSpPr>
          <p:nvPr/>
        </p:nvSpPr>
        <p:spPr>
          <a:xfrm>
            <a:off x="742950" y="2409825"/>
            <a:ext cx="10001250" cy="581025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37FF32E-F4A5-4705-B08D-0D9286A78CF4}"/>
              </a:ext>
            </a:extLst>
          </p:cNvPr>
          <p:cNvSpPr>
            <a:spLocks noGrp="1"/>
          </p:cNvSpPr>
          <p:nvPr/>
        </p:nvSpPr>
        <p:spPr>
          <a:xfrm>
            <a:off x="828675" y="2533650"/>
            <a:ext cx="14859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OpenAI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1B55EA-8FDC-4220-8251-F2AD07E1DE57}"/>
              </a:ext>
            </a:extLst>
          </p:cNvPr>
          <p:cNvSpPr>
            <a:spLocks noGrp="1"/>
          </p:cNvSpPr>
          <p:nvPr/>
        </p:nvSpPr>
        <p:spPr>
          <a:xfrm>
            <a:off x="2447925" y="2533650"/>
            <a:ext cx="3867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GPT-5.4 mini, GPT-5.5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CE6A9E-59C5-40E3-9625-23FFD9D5E13F}"/>
              </a:ext>
            </a:extLst>
          </p:cNvPr>
          <p:cNvSpPr>
            <a:spLocks noGrp="1"/>
          </p:cNvSpPr>
          <p:nvPr/>
        </p:nvSpPr>
        <p:spPr>
          <a:xfrm>
            <a:off x="6448425" y="2533650"/>
            <a:ext cx="4248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Mind, Research, Analyzer, Judge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BA90C9B-80CE-4CCE-AE73-7209A103040C}"/>
              </a:ext>
            </a:extLst>
          </p:cNvPr>
          <p:cNvSpPr>
            <a:spLocks noGrp="1"/>
          </p:cNvSpPr>
          <p:nvPr/>
        </p:nvSpPr>
        <p:spPr>
          <a:xfrm>
            <a:off x="742950" y="2990850"/>
            <a:ext cx="10001250" cy="581025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25B2B5-EC37-4111-B799-347431E61068}"/>
              </a:ext>
            </a:extLst>
          </p:cNvPr>
          <p:cNvSpPr>
            <a:spLocks noGrp="1"/>
          </p:cNvSpPr>
          <p:nvPr/>
        </p:nvSpPr>
        <p:spPr>
          <a:xfrm>
            <a:off x="828675" y="3114675"/>
            <a:ext cx="14859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Anthropic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09D1B8-82C2-4E0E-9723-756FAA6DCB87}"/>
              </a:ext>
            </a:extLst>
          </p:cNvPr>
          <p:cNvSpPr>
            <a:spLocks noGrp="1"/>
          </p:cNvSpPr>
          <p:nvPr/>
        </p:nvSpPr>
        <p:spPr>
          <a:xfrm>
            <a:off x="2447925" y="3114675"/>
            <a:ext cx="3867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Claude Opus 4.8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5448B76-7C31-4D58-B91E-F168CE0DCE3A}"/>
              </a:ext>
            </a:extLst>
          </p:cNvPr>
          <p:cNvSpPr>
            <a:spLocks noGrp="1"/>
          </p:cNvSpPr>
          <p:nvPr/>
        </p:nvSpPr>
        <p:spPr>
          <a:xfrm>
            <a:off x="6448425" y="3114675"/>
            <a:ext cx="4248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Research, Analyzer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137B9D5-1A5B-42B6-B1D9-00D7347866DA}"/>
              </a:ext>
            </a:extLst>
          </p:cNvPr>
          <p:cNvSpPr>
            <a:spLocks noGrp="1"/>
          </p:cNvSpPr>
          <p:nvPr/>
        </p:nvSpPr>
        <p:spPr>
          <a:xfrm>
            <a:off x="742950" y="3571875"/>
            <a:ext cx="10001250" cy="581025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FDDEFA-BCFA-44B7-972F-FCFA56A48C39}"/>
              </a:ext>
            </a:extLst>
          </p:cNvPr>
          <p:cNvSpPr>
            <a:spLocks noGrp="1"/>
          </p:cNvSpPr>
          <p:nvPr/>
        </p:nvSpPr>
        <p:spPr>
          <a:xfrm>
            <a:off x="828675" y="3695700"/>
            <a:ext cx="14859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DeepSeek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DCE9F48-A391-4013-8646-BDDDC3BC6C4D}"/>
              </a:ext>
            </a:extLst>
          </p:cNvPr>
          <p:cNvSpPr>
            <a:spLocks noGrp="1"/>
          </p:cNvSpPr>
          <p:nvPr/>
        </p:nvSpPr>
        <p:spPr>
          <a:xfrm>
            <a:off x="2447925" y="3695700"/>
            <a:ext cx="3867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DeepSeek V4 Pro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BBA5151-A774-4F1C-A0C7-C82847B93B47}"/>
              </a:ext>
            </a:extLst>
          </p:cNvPr>
          <p:cNvSpPr>
            <a:spLocks noGrp="1"/>
          </p:cNvSpPr>
          <p:nvPr/>
        </p:nvSpPr>
        <p:spPr>
          <a:xfrm>
            <a:off x="6448425" y="3695700"/>
            <a:ext cx="4248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Research, Analyzer, Judge option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04D28BB-A691-459E-A356-F19EDBA5C5DC}"/>
              </a:ext>
            </a:extLst>
          </p:cNvPr>
          <p:cNvSpPr>
            <a:spLocks noGrp="1"/>
          </p:cNvSpPr>
          <p:nvPr/>
        </p:nvSpPr>
        <p:spPr>
          <a:xfrm>
            <a:off x="742950" y="4152900"/>
            <a:ext cx="10001250" cy="581025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32C467-F65A-4A2C-8D16-1AD725C5CE9A}"/>
              </a:ext>
            </a:extLst>
          </p:cNvPr>
          <p:cNvSpPr>
            <a:spLocks noGrp="1"/>
          </p:cNvSpPr>
          <p:nvPr/>
        </p:nvSpPr>
        <p:spPr>
          <a:xfrm>
            <a:off x="828675" y="4276725"/>
            <a:ext cx="14859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Google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34A69F6-830E-43EB-9D0D-AF66F82F4306}"/>
              </a:ext>
            </a:extLst>
          </p:cNvPr>
          <p:cNvSpPr>
            <a:spLocks noGrp="1"/>
          </p:cNvSpPr>
          <p:nvPr/>
        </p:nvSpPr>
        <p:spPr>
          <a:xfrm>
            <a:off x="2447925" y="4276725"/>
            <a:ext cx="3867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Gemini 3.1 Pro Preview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8D28D2-8806-49DB-98FA-B4D1977A4C18}"/>
              </a:ext>
            </a:extLst>
          </p:cNvPr>
          <p:cNvSpPr>
            <a:spLocks noGrp="1"/>
          </p:cNvSpPr>
          <p:nvPr/>
        </p:nvSpPr>
        <p:spPr>
          <a:xfrm>
            <a:off x="6448425" y="4276725"/>
            <a:ext cx="4248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Research, Analyzer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1AE179-4D57-4D5C-85E4-EC7898E49177}"/>
              </a:ext>
            </a:extLst>
          </p:cNvPr>
          <p:cNvSpPr>
            <a:spLocks noGrp="1"/>
          </p:cNvSpPr>
          <p:nvPr/>
        </p:nvSpPr>
        <p:spPr>
          <a:xfrm>
            <a:off x="742950" y="4733925"/>
            <a:ext cx="10001250" cy="581025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79C28F4-85A3-43E7-B87A-5DE01C5E3A08}"/>
              </a:ext>
            </a:extLst>
          </p:cNvPr>
          <p:cNvSpPr>
            <a:spLocks noGrp="1"/>
          </p:cNvSpPr>
          <p:nvPr/>
        </p:nvSpPr>
        <p:spPr>
          <a:xfrm>
            <a:off x="828675" y="4857750"/>
            <a:ext cx="148590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xAI / Grok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1324196-6390-4D0C-AEB8-5A4D763431BD}"/>
              </a:ext>
            </a:extLst>
          </p:cNvPr>
          <p:cNvSpPr>
            <a:spLocks noGrp="1"/>
          </p:cNvSpPr>
          <p:nvPr/>
        </p:nvSpPr>
        <p:spPr>
          <a:xfrm>
            <a:off x="2447925" y="4857750"/>
            <a:ext cx="3867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Roadmap route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F5554A-6DF6-4032-9C48-EE91A7767A29}"/>
              </a:ext>
            </a:extLst>
          </p:cNvPr>
          <p:cNvSpPr>
            <a:spLocks noGrp="1"/>
          </p:cNvSpPr>
          <p:nvPr/>
        </p:nvSpPr>
        <p:spPr>
          <a:xfrm>
            <a:off x="6448425" y="4857750"/>
            <a:ext cx="42481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Social/current-event reasoning optional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0C023E5-ADFE-4F34-AC6D-65B0FAD0A318}"/>
              </a:ext>
            </a:extLst>
          </p:cNvPr>
          <p:cNvSpPr>
            <a:spLocks noGrp="1"/>
          </p:cNvSpPr>
          <p:nvPr/>
        </p:nvSpPr>
        <p:spPr>
          <a:xfrm>
            <a:off x="1200150" y="5619750"/>
            <a:ext cx="8810625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Consumer promise: users pick Aria modes. Admins manage providers, pricing, status, and balances behind the scenes.</a:t>
            </a:r>
          </a:p>
        </p:txBody>
      </p:sp>
    </p:spTree>
    <p:extLst>
      <p:ext uri="{BB962C8B-B14F-4D97-AF65-F5344CB8AC3E}">
        <p14:creationId xmlns:p14="http://schemas.microsoft.com/office/powerpoint/2010/main" val="2073012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g">
            <a:extLst>
              <a:ext uri="{FF2B5EF4-FFF2-40B4-BE49-F238E27FC236}">
                <a16:creationId xmlns:a16="http://schemas.microsoft.com/office/drawing/2014/main" id="{779409C5-9896-4CC8-A7C8-E3B29C9E3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BF59F7CF-F388-477D-846E-F0FD4FA97D5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740A21E7-0316-48D6-887F-1CF8D608EED4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DE8DD910-1A1A-4D5E-AE10-DE56709259B7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EB92ADED-92DB-4669-8792-A90E13620D85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D50511C6-35F4-41C8-AD6A-0BD892A96952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115A68A6-9EC3-4667-9FBE-2FBA1016F28D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DB195B28-FE88-4235-BD48-28946DCAF352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B51A219D-86DA-424E-BDA8-807A56076A22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E9753D77-9F74-4B8B-A691-CD52E31E7CCC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FB8EC40F-C8FA-4430-AA10-0C659EA8E856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5B99F714-09AE-42C3-9368-E9A848025662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2">
            <a:extLst>
              <a:ext uri="{FF2B5EF4-FFF2-40B4-BE49-F238E27FC236}">
                <a16:creationId xmlns:a16="http://schemas.microsoft.com/office/drawing/2014/main" id="{A588EA59-78E5-4AF3-9E4E-EC52AA21B992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2">
            <a:extLst>
              <a:ext uri="{FF2B5EF4-FFF2-40B4-BE49-F238E27FC236}">
                <a16:creationId xmlns:a16="http://schemas.microsoft.com/office/drawing/2014/main" id="{D9D87248-9614-429C-A9C7-C703F3ABA0CF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ANALYZER MODE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6314A83-045F-46F9-B573-B9BDF90766BF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Analyzer mode converts model disagreement into a final judged answer.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B00CB527-2A62-439B-B371-41D28503012E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A84F96-631B-428B-8BFD-A2127156C614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441AFC-7CBA-4B84-8547-EF72446FA21A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B07338C-8F98-4A75-B8B5-BAFD250DBAC9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2000250" cy="11049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D0C204-A99B-4DF4-8D2E-C1A0E6A5546F}"/>
              </a:ext>
            </a:extLst>
          </p:cNvPr>
          <p:cNvSpPr>
            <a:spLocks noGrp="1"/>
          </p:cNvSpPr>
          <p:nvPr/>
        </p:nvSpPr>
        <p:spPr>
          <a:xfrm>
            <a:off x="800100" y="2038350"/>
            <a:ext cx="38100" cy="11049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9F3C9F5-E934-429D-BF9F-D760D7A6113B}"/>
              </a:ext>
            </a:extLst>
          </p:cNvPr>
          <p:cNvSpPr>
            <a:spLocks noGrp="1"/>
          </p:cNvSpPr>
          <p:nvPr/>
        </p:nvSpPr>
        <p:spPr>
          <a:xfrm>
            <a:off x="971550" y="21717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Candidate 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3FAA9F-D14F-4D76-93B8-BC2662B0D82A}"/>
              </a:ext>
            </a:extLst>
          </p:cNvPr>
          <p:cNvSpPr>
            <a:spLocks noGrp="1"/>
          </p:cNvSpPr>
          <p:nvPr/>
        </p:nvSpPr>
        <p:spPr>
          <a:xfrm>
            <a:off x="971550" y="2495550"/>
            <a:ext cx="1695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OpenAI route</a:t>
            </a:r>
          </a:p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Independent draft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65325ED-C699-41A6-94BE-11CD8D933855}"/>
              </a:ext>
            </a:extLst>
          </p:cNvPr>
          <p:cNvSpPr>
            <a:spLocks noGrp="1"/>
          </p:cNvSpPr>
          <p:nvPr/>
        </p:nvSpPr>
        <p:spPr>
          <a:xfrm>
            <a:off x="1771650" y="3143250"/>
            <a:ext cx="19050" cy="5143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F43718A-0E66-427B-8D26-51B914ACCD78}"/>
              </a:ext>
            </a:extLst>
          </p:cNvPr>
          <p:cNvSpPr>
            <a:spLocks noGrp="1"/>
          </p:cNvSpPr>
          <p:nvPr/>
        </p:nvSpPr>
        <p:spPr>
          <a:xfrm>
            <a:off x="3162300" y="2038350"/>
            <a:ext cx="2000250" cy="11049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1FAAE6D-C94C-4921-935C-ADB2A4B07649}"/>
              </a:ext>
            </a:extLst>
          </p:cNvPr>
          <p:cNvSpPr>
            <a:spLocks noGrp="1"/>
          </p:cNvSpPr>
          <p:nvPr/>
        </p:nvSpPr>
        <p:spPr>
          <a:xfrm>
            <a:off x="3162300" y="2038350"/>
            <a:ext cx="38100" cy="11049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7B4B0C-4A5A-4F2F-B910-856CAE1ABF64}"/>
              </a:ext>
            </a:extLst>
          </p:cNvPr>
          <p:cNvSpPr>
            <a:spLocks noGrp="1"/>
          </p:cNvSpPr>
          <p:nvPr/>
        </p:nvSpPr>
        <p:spPr>
          <a:xfrm>
            <a:off x="3333750" y="21717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Candidate 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E776C5-61EC-429C-AAF8-3D3F55A9DEE4}"/>
              </a:ext>
            </a:extLst>
          </p:cNvPr>
          <p:cNvSpPr>
            <a:spLocks noGrp="1"/>
          </p:cNvSpPr>
          <p:nvPr/>
        </p:nvSpPr>
        <p:spPr>
          <a:xfrm>
            <a:off x="3333750" y="2495550"/>
            <a:ext cx="1695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Anthropic route</a:t>
            </a:r>
          </a:p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Independent draft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B85613-EBF7-4BE4-AECD-D78376959472}"/>
              </a:ext>
            </a:extLst>
          </p:cNvPr>
          <p:cNvSpPr>
            <a:spLocks noGrp="1"/>
          </p:cNvSpPr>
          <p:nvPr/>
        </p:nvSpPr>
        <p:spPr>
          <a:xfrm>
            <a:off x="4133850" y="3143250"/>
            <a:ext cx="19050" cy="5143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AEFC2C-6EFA-4431-B358-DEC66AA6876E}"/>
              </a:ext>
            </a:extLst>
          </p:cNvPr>
          <p:cNvSpPr>
            <a:spLocks noGrp="1"/>
          </p:cNvSpPr>
          <p:nvPr/>
        </p:nvSpPr>
        <p:spPr>
          <a:xfrm>
            <a:off x="5524500" y="2038350"/>
            <a:ext cx="2000250" cy="11049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D729465-3EC3-4A93-81F1-6C0C1D5FE8B6}"/>
              </a:ext>
            </a:extLst>
          </p:cNvPr>
          <p:cNvSpPr>
            <a:spLocks noGrp="1"/>
          </p:cNvSpPr>
          <p:nvPr/>
        </p:nvSpPr>
        <p:spPr>
          <a:xfrm>
            <a:off x="5524500" y="2038350"/>
            <a:ext cx="38100" cy="110490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6FFB5CD-2A9A-48E7-B4C7-F93EAE583BEB}"/>
              </a:ext>
            </a:extLst>
          </p:cNvPr>
          <p:cNvSpPr>
            <a:spLocks noGrp="1"/>
          </p:cNvSpPr>
          <p:nvPr/>
        </p:nvSpPr>
        <p:spPr>
          <a:xfrm>
            <a:off x="5695950" y="21717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Candidate 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65F315B-BFEE-4AE5-A62B-8F8A32B0181D}"/>
              </a:ext>
            </a:extLst>
          </p:cNvPr>
          <p:cNvSpPr>
            <a:spLocks noGrp="1"/>
          </p:cNvSpPr>
          <p:nvPr/>
        </p:nvSpPr>
        <p:spPr>
          <a:xfrm>
            <a:off x="5695950" y="2495550"/>
            <a:ext cx="1695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DeepSeek route</a:t>
            </a:r>
          </a:p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Independent draft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F5C42B9-BEB3-41BB-AC78-F1BA989A49EC}"/>
              </a:ext>
            </a:extLst>
          </p:cNvPr>
          <p:cNvSpPr>
            <a:spLocks noGrp="1"/>
          </p:cNvSpPr>
          <p:nvPr/>
        </p:nvSpPr>
        <p:spPr>
          <a:xfrm>
            <a:off x="6496050" y="3143250"/>
            <a:ext cx="19050" cy="5143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4D10B5-1D1C-4269-9B36-6A87FB8743BB}"/>
              </a:ext>
            </a:extLst>
          </p:cNvPr>
          <p:cNvSpPr>
            <a:spLocks noGrp="1"/>
          </p:cNvSpPr>
          <p:nvPr/>
        </p:nvSpPr>
        <p:spPr>
          <a:xfrm>
            <a:off x="7886700" y="2038350"/>
            <a:ext cx="2000250" cy="11049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DFA721D-533F-422D-9181-E1FA2C8024DF}"/>
              </a:ext>
            </a:extLst>
          </p:cNvPr>
          <p:cNvSpPr>
            <a:spLocks noGrp="1"/>
          </p:cNvSpPr>
          <p:nvPr/>
        </p:nvSpPr>
        <p:spPr>
          <a:xfrm>
            <a:off x="7886700" y="2038350"/>
            <a:ext cx="38100" cy="1104900"/>
          </a:xfrm>
          <a:prstGeom prst="rect">
            <a:avLst/>
          </a:prstGeom>
          <a:solidFill>
            <a:srgbClr val="63E6BE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933A99C-4C16-43B2-888D-65FFF97CE3BA}"/>
              </a:ext>
            </a:extLst>
          </p:cNvPr>
          <p:cNvSpPr>
            <a:spLocks noGrp="1"/>
          </p:cNvSpPr>
          <p:nvPr/>
        </p:nvSpPr>
        <p:spPr>
          <a:xfrm>
            <a:off x="8058150" y="2171700"/>
            <a:ext cx="1695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Candidate 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18E703-9572-405F-8A32-DD1205B36D7B}"/>
              </a:ext>
            </a:extLst>
          </p:cNvPr>
          <p:cNvSpPr>
            <a:spLocks noGrp="1"/>
          </p:cNvSpPr>
          <p:nvPr/>
        </p:nvSpPr>
        <p:spPr>
          <a:xfrm>
            <a:off x="8058150" y="2495550"/>
            <a:ext cx="16954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Gemini route</a:t>
            </a:r>
          </a:p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Independent draft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22D4DF-BDC7-4261-966A-61731182DFA9}"/>
              </a:ext>
            </a:extLst>
          </p:cNvPr>
          <p:cNvSpPr>
            <a:spLocks noGrp="1"/>
          </p:cNvSpPr>
          <p:nvPr/>
        </p:nvSpPr>
        <p:spPr>
          <a:xfrm>
            <a:off x="8858250" y="3143250"/>
            <a:ext cx="19050" cy="5143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95F5F53-53EE-4946-95A1-1B2DD8236841}"/>
              </a:ext>
            </a:extLst>
          </p:cNvPr>
          <p:cNvSpPr>
            <a:spLocks noGrp="1"/>
          </p:cNvSpPr>
          <p:nvPr/>
        </p:nvSpPr>
        <p:spPr>
          <a:xfrm>
            <a:off x="1771650" y="3657600"/>
            <a:ext cx="7105650" cy="19050"/>
          </a:xfrm>
          <a:prstGeom prst="rect">
            <a:avLst/>
          </a:prstGeom>
          <a:solidFill>
            <a:srgbClr val="28505B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799ED7-8B2E-4D2D-BE9B-8580F02B3835}"/>
              </a:ext>
            </a:extLst>
          </p:cNvPr>
          <p:cNvSpPr>
            <a:spLocks noGrp="1"/>
          </p:cNvSpPr>
          <p:nvPr/>
        </p:nvSpPr>
        <p:spPr>
          <a:xfrm>
            <a:off x="5638800" y="3657600"/>
            <a:ext cx="19050" cy="1905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B9B0334-BC05-4BB8-942E-FD506BE4EB5F}"/>
              </a:ext>
            </a:extLst>
          </p:cNvPr>
          <p:cNvSpPr>
            <a:spLocks noGrp="1"/>
          </p:cNvSpPr>
          <p:nvPr/>
        </p:nvSpPr>
        <p:spPr>
          <a:xfrm>
            <a:off x="4038600" y="3848100"/>
            <a:ext cx="3238500" cy="819150"/>
          </a:xfrm>
          <a:prstGeom prst="rect">
            <a:avLst/>
          </a:prstGeom>
          <a:solidFill>
            <a:srgbClr val="153C38"/>
          </a:solidFill>
          <a:ln w="9525">
            <a:solidFill>
              <a:srgbClr val="24E0B8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45E5C10-A164-48FA-8B14-2AC8DC04FC0E}"/>
              </a:ext>
            </a:extLst>
          </p:cNvPr>
          <p:cNvSpPr>
            <a:spLocks noGrp="1"/>
          </p:cNvSpPr>
          <p:nvPr/>
        </p:nvSpPr>
        <p:spPr>
          <a:xfrm>
            <a:off x="4305300" y="4038600"/>
            <a:ext cx="2705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Judge answer system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1CE7009-2675-4869-BF2A-877D24F55329}"/>
              </a:ext>
            </a:extLst>
          </p:cNvPr>
          <p:cNvSpPr>
            <a:spLocks noGrp="1"/>
          </p:cNvSpPr>
          <p:nvPr/>
        </p:nvSpPr>
        <p:spPr>
          <a:xfrm>
            <a:off x="4305300" y="4324350"/>
            <a:ext cx="2705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Compares strengths, conflicts, missing evidence, and user usefulness.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4EF7E49-61BB-41C8-AADA-DDF216DB5911}"/>
              </a:ext>
            </a:extLst>
          </p:cNvPr>
          <p:cNvSpPr>
            <a:spLocks noGrp="1"/>
          </p:cNvSpPr>
          <p:nvPr/>
        </p:nvSpPr>
        <p:spPr>
          <a:xfrm>
            <a:off x="3448050" y="5162550"/>
            <a:ext cx="4419600" cy="5143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9455906-C885-4A76-801D-9A1FA919436C}"/>
              </a:ext>
            </a:extLst>
          </p:cNvPr>
          <p:cNvSpPr>
            <a:spLocks noGrp="1"/>
          </p:cNvSpPr>
          <p:nvPr/>
        </p:nvSpPr>
        <p:spPr>
          <a:xfrm>
            <a:off x="3676650" y="5286375"/>
            <a:ext cx="3962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Judge model compares strengths, contradictions, missing evidence, and produces: Final answer powered by Aria Analyzer.</a:t>
            </a:r>
          </a:p>
        </p:txBody>
      </p:sp>
    </p:spTree>
    <p:extLst>
      <p:ext uri="{BB962C8B-B14F-4D97-AF65-F5344CB8AC3E}">
        <p14:creationId xmlns:p14="http://schemas.microsoft.com/office/powerpoint/2010/main" val="828276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bg">
            <a:extLst>
              <a:ext uri="{FF2B5EF4-FFF2-40B4-BE49-F238E27FC236}">
                <a16:creationId xmlns:a16="http://schemas.microsoft.com/office/drawing/2014/main" id="{E440FF3D-5623-4378-B34B-D9BD789600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B0D79D2E-4CE9-4118-AE34-89C919F0E5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D0A8592A-2C3A-4714-B504-C97A9BC01495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F5DE9D10-3C12-4554-A87E-5D55ABD94FE9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E5C67A32-2E54-4E03-9009-E5AE378FB090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F2A81B1F-6BDD-4864-960E-FC4D284843DE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E9972C3C-9311-483D-B6B2-796335672C1B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AFDAC9BD-DA09-4D9C-98DD-E4033B5564CF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845FE667-6A91-4D12-BCAF-56D8CD5621F8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7F15DE3B-E4DD-490A-81BD-BE4CA96B6C9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A7FA32AB-5EDA-4EC2-88F2-E22FFCDDBABE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FF82251A-3FB5-4845-AB5C-58373B1CE8D6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3">
            <a:extLst>
              <a:ext uri="{FF2B5EF4-FFF2-40B4-BE49-F238E27FC236}">
                <a16:creationId xmlns:a16="http://schemas.microsoft.com/office/drawing/2014/main" id="{C60A723A-EA07-407B-A26B-BF1F7DE7B097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3">
            <a:extLst>
              <a:ext uri="{FF2B5EF4-FFF2-40B4-BE49-F238E27FC236}">
                <a16:creationId xmlns:a16="http://schemas.microsoft.com/office/drawing/2014/main" id="{FE69BD80-2D34-4C4A-8361-53BAD3B8B89D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SOURCE VALIDATION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FF43792-9880-4616-811C-4ED77187BACB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Aria's trust promise is strongest when the system refuses to overclaim.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F149CB85-4959-46F1-8301-3163EBF8CE6A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1EA28BF-7A7C-40E6-AE57-660A0C672453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412B22-EC7E-42F0-8804-3B100D825661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81169D-164C-43FB-9684-735FD77941EE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521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8B6"/>
                </a:solidFill>
                <a:latin typeface="Aptos"/>
                <a:ea typeface="Aptos"/>
                <a:cs typeface="Aptos"/>
              </a:rPr>
              <a:t>Citation-supported sentences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3851513-7603-4FEC-B59E-10AFA2627DF3}"/>
              </a:ext>
            </a:extLst>
          </p:cNvPr>
          <p:cNvSpPr>
            <a:spLocks noGrp="1"/>
          </p:cNvSpPr>
          <p:nvPr/>
        </p:nvSpPr>
        <p:spPr>
          <a:xfrm>
            <a:off x="857250" y="2428875"/>
            <a:ext cx="5219700" cy="114300"/>
          </a:xfrm>
          <a:prstGeom prst="rect">
            <a:avLst/>
          </a:prstGeom>
          <a:solidFill>
            <a:srgbClr val="0B232A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DEECB9-9F03-4DBF-BFB3-A4E4B776A6CC}"/>
              </a:ext>
            </a:extLst>
          </p:cNvPr>
          <p:cNvSpPr>
            <a:spLocks noGrp="1"/>
          </p:cNvSpPr>
          <p:nvPr/>
        </p:nvSpPr>
        <p:spPr>
          <a:xfrm>
            <a:off x="857250" y="2428875"/>
            <a:ext cx="2688146" cy="1143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685F8F-6E3D-41AE-9794-31544342B04B}"/>
              </a:ext>
            </a:extLst>
          </p:cNvPr>
          <p:cNvSpPr>
            <a:spLocks noGrp="1"/>
          </p:cNvSpPr>
          <p:nvPr/>
        </p:nvSpPr>
        <p:spPr>
          <a:xfrm>
            <a:off x="3621596" y="236220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51.5%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C2B470-96D3-4556-B740-C9EFADAF2D41}"/>
              </a:ext>
            </a:extLst>
          </p:cNvPr>
          <p:cNvSpPr>
            <a:spLocks noGrp="1"/>
          </p:cNvSpPr>
          <p:nvPr/>
        </p:nvSpPr>
        <p:spPr>
          <a:xfrm>
            <a:off x="857250" y="2895600"/>
            <a:ext cx="521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8B6"/>
                </a:solidFill>
                <a:latin typeface="Aptos"/>
                <a:ea typeface="Aptos"/>
                <a:cs typeface="Aptos"/>
              </a:rPr>
              <a:t>Citations supporting sentence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1DFC36-88FB-4F98-A3E9-1611F9B8C461}"/>
              </a:ext>
            </a:extLst>
          </p:cNvPr>
          <p:cNvSpPr>
            <a:spLocks noGrp="1"/>
          </p:cNvSpPr>
          <p:nvPr/>
        </p:nvSpPr>
        <p:spPr>
          <a:xfrm>
            <a:off x="857250" y="3133725"/>
            <a:ext cx="5219700" cy="114300"/>
          </a:xfrm>
          <a:prstGeom prst="rect">
            <a:avLst/>
          </a:prstGeom>
          <a:solidFill>
            <a:srgbClr val="0B232A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7E73BE-F15E-4901-94C2-863D29A6DF78}"/>
              </a:ext>
            </a:extLst>
          </p:cNvPr>
          <p:cNvSpPr>
            <a:spLocks noGrp="1"/>
          </p:cNvSpPr>
          <p:nvPr/>
        </p:nvSpPr>
        <p:spPr>
          <a:xfrm>
            <a:off x="857250" y="3133725"/>
            <a:ext cx="3888677" cy="1143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636CFD-A7D4-4D56-9956-E8FECAE9B542}"/>
              </a:ext>
            </a:extLst>
          </p:cNvPr>
          <p:cNvSpPr>
            <a:spLocks noGrp="1"/>
          </p:cNvSpPr>
          <p:nvPr/>
        </p:nvSpPr>
        <p:spPr>
          <a:xfrm>
            <a:off x="4822127" y="306705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74.5%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6BE120-FDBE-4D9B-930E-4DA85A3665DE}"/>
              </a:ext>
            </a:extLst>
          </p:cNvPr>
          <p:cNvSpPr>
            <a:spLocks noGrp="1"/>
          </p:cNvSpPr>
          <p:nvPr/>
        </p:nvSpPr>
        <p:spPr>
          <a:xfrm>
            <a:off x="857250" y="3600450"/>
            <a:ext cx="5219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A9B8B6"/>
                </a:solidFill>
                <a:latin typeface="Aptos"/>
                <a:ea typeface="Aptos"/>
                <a:cs typeface="Aptos"/>
              </a:rPr>
              <a:t>AI-generated-source evidence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1D89A7-1AA0-4341-80D8-F92551CF464A}"/>
              </a:ext>
            </a:extLst>
          </p:cNvPr>
          <p:cNvSpPr>
            <a:spLocks noGrp="1"/>
          </p:cNvSpPr>
          <p:nvPr/>
        </p:nvSpPr>
        <p:spPr>
          <a:xfrm>
            <a:off x="857250" y="3838575"/>
            <a:ext cx="5219700" cy="114300"/>
          </a:xfrm>
          <a:prstGeom prst="rect">
            <a:avLst/>
          </a:prstGeom>
          <a:solidFill>
            <a:srgbClr val="0B232A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998A0F3-DA24-4D10-BB87-13EC2939C3E6}"/>
              </a:ext>
            </a:extLst>
          </p:cNvPr>
          <p:cNvSpPr>
            <a:spLocks noGrp="1"/>
          </p:cNvSpPr>
          <p:nvPr/>
        </p:nvSpPr>
        <p:spPr>
          <a:xfrm>
            <a:off x="857250" y="3838575"/>
            <a:ext cx="835152" cy="114300"/>
          </a:xfrm>
          <a:prstGeom prst="rect">
            <a:avLst/>
          </a:prstGeom>
          <a:solidFill>
            <a:srgbClr val="FF6B8A"/>
          </a:solidFill>
          <a:ln w="0">
            <a:noFill/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C61A17-EB9A-496F-83F6-ECD09C2AC9F4}"/>
              </a:ext>
            </a:extLst>
          </p:cNvPr>
          <p:cNvSpPr>
            <a:spLocks noGrp="1"/>
          </p:cNvSpPr>
          <p:nvPr/>
        </p:nvSpPr>
        <p:spPr>
          <a:xfrm>
            <a:off x="1768602" y="377190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FF6B8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B8A"/>
                </a:solidFill>
                <a:latin typeface="Aptos"/>
                <a:ea typeface="Aptos"/>
                <a:cs typeface="Aptos"/>
              </a:rPr>
              <a:t>16%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F9EB8CC-00D6-4B9C-8B85-EEF6098B4FB3}"/>
              </a:ext>
            </a:extLst>
          </p:cNvPr>
          <p:cNvSpPr>
            <a:spLocks noGrp="1"/>
          </p:cNvSpPr>
          <p:nvPr/>
        </p:nvSpPr>
        <p:spPr>
          <a:xfrm>
            <a:off x="6972300" y="1924050"/>
            <a:ext cx="304800" cy="3048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89A0F4-1EB4-4AAE-9573-D872011B8B15}"/>
              </a:ext>
            </a:extLst>
          </p:cNvPr>
          <p:cNvSpPr>
            <a:spLocks noGrp="1"/>
          </p:cNvSpPr>
          <p:nvPr/>
        </p:nvSpPr>
        <p:spPr>
          <a:xfrm>
            <a:off x="6972300" y="1990725"/>
            <a:ext cx="3048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A02D3FB-A1C4-4D53-B207-E8D351C99637}"/>
              </a:ext>
            </a:extLst>
          </p:cNvPr>
          <p:cNvSpPr>
            <a:spLocks noGrp="1"/>
          </p:cNvSpPr>
          <p:nvPr/>
        </p:nvSpPr>
        <p:spPr>
          <a:xfrm>
            <a:off x="7448550" y="190500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Search first for current facts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213A0FD-F74D-4B88-B95C-2D18595BBFAA}"/>
              </a:ext>
            </a:extLst>
          </p:cNvPr>
          <p:cNvSpPr>
            <a:spLocks noGrp="1"/>
          </p:cNvSpPr>
          <p:nvPr/>
        </p:nvSpPr>
        <p:spPr>
          <a:xfrm>
            <a:off x="6972300" y="2552700"/>
            <a:ext cx="304800" cy="3048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A53C288-F3D0-43B5-B17E-7806E18B4A06}"/>
              </a:ext>
            </a:extLst>
          </p:cNvPr>
          <p:cNvSpPr>
            <a:spLocks noGrp="1"/>
          </p:cNvSpPr>
          <p:nvPr/>
        </p:nvSpPr>
        <p:spPr>
          <a:xfrm>
            <a:off x="6972300" y="2619375"/>
            <a:ext cx="3048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9DE8C45-64F8-4B59-BA5E-2C58BE52AFD1}"/>
              </a:ext>
            </a:extLst>
          </p:cNvPr>
          <p:cNvSpPr>
            <a:spLocks noGrp="1"/>
          </p:cNvSpPr>
          <p:nvPr/>
        </p:nvSpPr>
        <p:spPr>
          <a:xfrm>
            <a:off x="7448550" y="253365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Return uncertainty when live verification is unavailable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E8DE3B6-FEA2-4433-8A55-D581FCEC3AFB}"/>
              </a:ext>
            </a:extLst>
          </p:cNvPr>
          <p:cNvSpPr>
            <a:spLocks noGrp="1"/>
          </p:cNvSpPr>
          <p:nvPr/>
        </p:nvSpPr>
        <p:spPr>
          <a:xfrm>
            <a:off x="6972300" y="3181350"/>
            <a:ext cx="304800" cy="3048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7F2BBAB-65DB-43B8-8789-177CA465BA92}"/>
              </a:ext>
            </a:extLst>
          </p:cNvPr>
          <p:cNvSpPr>
            <a:spLocks noGrp="1"/>
          </p:cNvSpPr>
          <p:nvPr/>
        </p:nvSpPr>
        <p:spPr>
          <a:xfrm>
            <a:off x="6972300" y="3248025"/>
            <a:ext cx="3048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084C489-B67A-4942-8522-99ACF9BA5B8E}"/>
              </a:ext>
            </a:extLst>
          </p:cNvPr>
          <p:cNvSpPr>
            <a:spLocks noGrp="1"/>
          </p:cNvSpPr>
          <p:nvPr/>
        </p:nvSpPr>
        <p:spPr>
          <a:xfrm>
            <a:off x="7448550" y="316230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Show sources in Research and Analyzer flows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F3696B5-216B-4461-B0BD-3ED988F9D4E2}"/>
              </a:ext>
            </a:extLst>
          </p:cNvPr>
          <p:cNvSpPr>
            <a:spLocks noGrp="1"/>
          </p:cNvSpPr>
          <p:nvPr/>
        </p:nvSpPr>
        <p:spPr>
          <a:xfrm>
            <a:off x="6972300" y="3810000"/>
            <a:ext cx="304800" cy="3048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9D6EEB-EFD4-43C3-8D53-3FB1C5AA18C8}"/>
              </a:ext>
            </a:extLst>
          </p:cNvPr>
          <p:cNvSpPr>
            <a:spLocks noGrp="1"/>
          </p:cNvSpPr>
          <p:nvPr/>
        </p:nvSpPr>
        <p:spPr>
          <a:xfrm>
            <a:off x="6972300" y="3876675"/>
            <a:ext cx="3048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9DC68F3-B664-4EFE-830D-8D3B549BBDF3}"/>
              </a:ext>
            </a:extLst>
          </p:cNvPr>
          <p:cNvSpPr>
            <a:spLocks noGrp="1"/>
          </p:cNvSpPr>
          <p:nvPr/>
        </p:nvSpPr>
        <p:spPr>
          <a:xfrm>
            <a:off x="7448550" y="379095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Keep provider diagnostics admin/debug scoped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4434FD3-32B4-4739-BB26-FC92239534AB}"/>
              </a:ext>
            </a:extLst>
          </p:cNvPr>
          <p:cNvSpPr>
            <a:spLocks noGrp="1"/>
          </p:cNvSpPr>
          <p:nvPr/>
        </p:nvSpPr>
        <p:spPr>
          <a:xfrm>
            <a:off x="6972300" y="4438650"/>
            <a:ext cx="304800" cy="3048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BEA643-6753-40D6-86F5-B35ABB481EAE}"/>
              </a:ext>
            </a:extLst>
          </p:cNvPr>
          <p:cNvSpPr>
            <a:spLocks noGrp="1"/>
          </p:cNvSpPr>
          <p:nvPr/>
        </p:nvSpPr>
        <p:spPr>
          <a:xfrm>
            <a:off x="6972300" y="4505325"/>
            <a:ext cx="3048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02060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20607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741EBB2-51C5-46C2-913A-548DE1B4196D}"/>
              </a:ext>
            </a:extLst>
          </p:cNvPr>
          <p:cNvSpPr>
            <a:spLocks noGrp="1"/>
          </p:cNvSpPr>
          <p:nvPr/>
        </p:nvSpPr>
        <p:spPr>
          <a:xfrm>
            <a:off x="7448550" y="4419600"/>
            <a:ext cx="3238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Use judging to surface disagreement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7C191AC-40F2-4334-BC2D-63F11A73FC4A}"/>
              </a:ext>
            </a:extLst>
          </p:cNvPr>
          <p:cNvSpPr>
            <a:spLocks noGrp="1"/>
          </p:cNvSpPr>
          <p:nvPr/>
        </p:nvSpPr>
        <p:spPr>
          <a:xfrm>
            <a:off x="1238250" y="5219700"/>
            <a:ext cx="876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Investor implication: trust features are not cosmetic; they reduce churn, support premium pricing, and create enterprise readiness.</a:t>
            </a:r>
          </a:p>
        </p:txBody>
      </p:sp>
    </p:spTree>
    <p:extLst>
      <p:ext uri="{BB962C8B-B14F-4D97-AF65-F5344CB8AC3E}">
        <p14:creationId xmlns:p14="http://schemas.microsoft.com/office/powerpoint/2010/main" val="893974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g">
            <a:extLst>
              <a:ext uri="{FF2B5EF4-FFF2-40B4-BE49-F238E27FC236}">
                <a16:creationId xmlns:a16="http://schemas.microsoft.com/office/drawing/2014/main" id="{EC32CDCF-AF06-42F0-832A-2BCB6810B9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64858264-684E-4377-8632-916E83723B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BC3EC8C4-9B0D-4D3C-BE54-E838623BAB9E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A82C590D-C70C-44D7-8123-709AD4E88372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51AA0C52-25EF-4FF6-8F93-B398E54F049B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36B8841D-E660-428D-9CA3-374F0F5D7C61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6AB71590-9C98-4024-B07F-76A5F471DF5D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887545D1-C6AB-46C0-9C50-209148E127E1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2F747A61-2F62-404C-B661-DBD709851A20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C8ED5628-CF61-42C6-9021-7DDC193C1D77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3657F935-F17A-4424-8BC4-F96E3EB8C0C4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50096575-9E91-4B2E-A0DB-8F8BC4BBE81A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4">
            <a:extLst>
              <a:ext uri="{FF2B5EF4-FFF2-40B4-BE49-F238E27FC236}">
                <a16:creationId xmlns:a16="http://schemas.microsoft.com/office/drawing/2014/main" id="{2BBC203E-0B5E-4E55-B834-CACED52B11AF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4">
            <a:extLst>
              <a:ext uri="{FF2B5EF4-FFF2-40B4-BE49-F238E27FC236}">
                <a16:creationId xmlns:a16="http://schemas.microsoft.com/office/drawing/2014/main" id="{181EE9A7-C24C-4AC0-9A5C-141F0E809921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USER JOURNEY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3A6EF8-C0F5-40D4-A67A-3E19FA606D10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conversion path moves users from habit to confidence to paid credits.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F88D0657-2EED-4CA4-8820-29D34C486493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6089A5-9404-471B-A825-31BF1C49DAB2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A43C78-CF0D-4FE7-8D00-C0A72C253024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52B058D-3D65-44F7-AAE6-59C2A9A23755}"/>
              </a:ext>
            </a:extLst>
          </p:cNvPr>
          <p:cNvSpPr>
            <a:spLocks noGrp="1"/>
          </p:cNvSpPr>
          <p:nvPr/>
        </p:nvSpPr>
        <p:spPr>
          <a:xfrm>
            <a:off x="895350" y="2362200"/>
            <a:ext cx="1524000" cy="11239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92EDD2-E702-4E0A-AC51-11190DF15F60}"/>
              </a:ext>
            </a:extLst>
          </p:cNvPr>
          <p:cNvSpPr>
            <a:spLocks noGrp="1"/>
          </p:cNvSpPr>
          <p:nvPr/>
        </p:nvSpPr>
        <p:spPr>
          <a:xfrm>
            <a:off x="1009650" y="2571750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Signup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B392B5-C7D5-4530-B6AE-063D3C7F241E}"/>
              </a:ext>
            </a:extLst>
          </p:cNvPr>
          <p:cNvSpPr>
            <a:spLocks noGrp="1"/>
          </p:cNvSpPr>
          <p:nvPr/>
        </p:nvSpPr>
        <p:spPr>
          <a:xfrm>
            <a:off x="1028700" y="29146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User enters the workspace and receives a free credit balance.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EA4D163-92EC-46B3-BFB0-A2EC2896C362}"/>
              </a:ext>
            </a:extLst>
          </p:cNvPr>
          <p:cNvSpPr>
            <a:spLocks noGrp="1"/>
          </p:cNvSpPr>
          <p:nvPr/>
        </p:nvSpPr>
        <p:spPr>
          <a:xfrm>
            <a:off x="2419350" y="2895600"/>
            <a:ext cx="47625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BA68801-59E7-4F3A-984A-43153E271803}"/>
              </a:ext>
            </a:extLst>
          </p:cNvPr>
          <p:cNvSpPr>
            <a:spLocks noGrp="1"/>
          </p:cNvSpPr>
          <p:nvPr/>
        </p:nvSpPr>
        <p:spPr>
          <a:xfrm>
            <a:off x="2895600" y="2362200"/>
            <a:ext cx="1524000" cy="11239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67FF7F-0C31-4A25-B28F-CB3D5A7C89D6}"/>
              </a:ext>
            </a:extLst>
          </p:cNvPr>
          <p:cNvSpPr>
            <a:spLocks noGrp="1"/>
          </p:cNvSpPr>
          <p:nvPr/>
        </p:nvSpPr>
        <p:spPr>
          <a:xfrm>
            <a:off x="3009900" y="2571750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First interaction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6C3FA6-FDE8-42F2-9894-CB6DBE9D8075}"/>
              </a:ext>
            </a:extLst>
          </p:cNvPr>
          <p:cNvSpPr>
            <a:spLocks noGrp="1"/>
          </p:cNvSpPr>
          <p:nvPr/>
        </p:nvSpPr>
        <p:spPr>
          <a:xfrm>
            <a:off x="3028950" y="29146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Aria Mind answers a familiar everyday prompt quickly.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467824-58C1-4D60-97C6-977437911B00}"/>
              </a:ext>
            </a:extLst>
          </p:cNvPr>
          <p:cNvSpPr>
            <a:spLocks noGrp="1"/>
          </p:cNvSpPr>
          <p:nvPr/>
        </p:nvSpPr>
        <p:spPr>
          <a:xfrm>
            <a:off x="4419600" y="2895600"/>
            <a:ext cx="47625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2C74229-520B-4B77-B0F7-A9639BFDB82D}"/>
              </a:ext>
            </a:extLst>
          </p:cNvPr>
          <p:cNvSpPr>
            <a:spLocks noGrp="1"/>
          </p:cNvSpPr>
          <p:nvPr/>
        </p:nvSpPr>
        <p:spPr>
          <a:xfrm>
            <a:off x="4895850" y="2362200"/>
            <a:ext cx="1524000" cy="11239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EF3AE7A-BE90-4790-8E36-F5E348D96B9E}"/>
              </a:ext>
            </a:extLst>
          </p:cNvPr>
          <p:cNvSpPr>
            <a:spLocks noGrp="1"/>
          </p:cNvSpPr>
          <p:nvPr/>
        </p:nvSpPr>
        <p:spPr>
          <a:xfrm>
            <a:off x="5010150" y="2571750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Daily flow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8C176C1-AD74-406E-A247-B95BE168B7CC}"/>
              </a:ext>
            </a:extLst>
          </p:cNvPr>
          <p:cNvSpPr>
            <a:spLocks noGrp="1"/>
          </p:cNvSpPr>
          <p:nvPr/>
        </p:nvSpPr>
        <p:spPr>
          <a:xfrm>
            <a:off x="5029200" y="29146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Saved chats and memory make repeat use easier.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77659B-7B4B-448A-8394-48C40BEA4869}"/>
              </a:ext>
            </a:extLst>
          </p:cNvPr>
          <p:cNvSpPr>
            <a:spLocks noGrp="1"/>
          </p:cNvSpPr>
          <p:nvPr/>
        </p:nvSpPr>
        <p:spPr>
          <a:xfrm>
            <a:off x="6419850" y="2895600"/>
            <a:ext cx="47625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93931BD-2B93-4E53-9501-DF2468368558}"/>
              </a:ext>
            </a:extLst>
          </p:cNvPr>
          <p:cNvSpPr>
            <a:spLocks noGrp="1"/>
          </p:cNvSpPr>
          <p:nvPr/>
        </p:nvSpPr>
        <p:spPr>
          <a:xfrm>
            <a:off x="6896100" y="2362200"/>
            <a:ext cx="1524000" cy="11239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EE17A5-089B-4CF9-9161-B7E6BED8D660}"/>
              </a:ext>
            </a:extLst>
          </p:cNvPr>
          <p:cNvSpPr>
            <a:spLocks noGrp="1"/>
          </p:cNvSpPr>
          <p:nvPr/>
        </p:nvSpPr>
        <p:spPr>
          <a:xfrm>
            <a:off x="7010400" y="2571750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High-stakes task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99DAAB7-3A8B-46F6-A428-6C27CAA02524}"/>
              </a:ext>
            </a:extLst>
          </p:cNvPr>
          <p:cNvSpPr>
            <a:spLocks noGrp="1"/>
          </p:cNvSpPr>
          <p:nvPr/>
        </p:nvSpPr>
        <p:spPr>
          <a:xfrm>
            <a:off x="7029450" y="29146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Research or Analyzer handles work that needs sources or comparison.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AF983DF-F246-441B-9A1C-862670B10180}"/>
              </a:ext>
            </a:extLst>
          </p:cNvPr>
          <p:cNvSpPr>
            <a:spLocks noGrp="1"/>
          </p:cNvSpPr>
          <p:nvPr/>
        </p:nvSpPr>
        <p:spPr>
          <a:xfrm>
            <a:off x="8420100" y="2895600"/>
            <a:ext cx="47625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75EDA03-9BD6-4A37-8244-1EC02648AFFA}"/>
              </a:ext>
            </a:extLst>
          </p:cNvPr>
          <p:cNvSpPr>
            <a:spLocks noGrp="1"/>
          </p:cNvSpPr>
          <p:nvPr/>
        </p:nvSpPr>
        <p:spPr>
          <a:xfrm>
            <a:off x="8896350" y="2362200"/>
            <a:ext cx="1524000" cy="11239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C924804-1E81-4CAE-8362-2B71B1F163AA}"/>
              </a:ext>
            </a:extLst>
          </p:cNvPr>
          <p:cNvSpPr>
            <a:spLocks noGrp="1"/>
          </p:cNvSpPr>
          <p:nvPr/>
        </p:nvSpPr>
        <p:spPr>
          <a:xfrm>
            <a:off x="9010650" y="2571750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Premium conversion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3127F1-0896-45BA-9CBE-AB5593CF530C}"/>
              </a:ext>
            </a:extLst>
          </p:cNvPr>
          <p:cNvSpPr>
            <a:spLocks noGrp="1"/>
          </p:cNvSpPr>
          <p:nvPr/>
        </p:nvSpPr>
        <p:spPr>
          <a:xfrm>
            <a:off x="9029700" y="2914650"/>
            <a:ext cx="125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Credits run low; user buys a plan or top-up without losing feature access.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6241287-4A79-4DA5-9BBF-ABF3EFED702B}"/>
              </a:ext>
            </a:extLst>
          </p:cNvPr>
          <p:cNvSpPr>
            <a:spLocks noGrp="1"/>
          </p:cNvSpPr>
          <p:nvPr/>
        </p:nvSpPr>
        <p:spPr>
          <a:xfrm>
            <a:off x="1638300" y="4419600"/>
            <a:ext cx="7715250" cy="552450"/>
          </a:xfrm>
          <a:prstGeom prst="rect">
            <a:avLst/>
          </a:prstGeom>
          <a:solidFill>
            <a:srgbClr val="102A32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A61BA57-2D90-4CE8-983B-FE0018328E89}"/>
              </a:ext>
            </a:extLst>
          </p:cNvPr>
          <p:cNvSpPr>
            <a:spLocks noGrp="1"/>
          </p:cNvSpPr>
          <p:nvPr/>
        </p:nvSpPr>
        <p:spPr>
          <a:xfrm>
            <a:off x="1905000" y="4581525"/>
            <a:ext cx="71818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Premium trigger: users do not pay to unlock a model; they pay to continue useful work with credits.</a:t>
            </a:r>
          </a:p>
        </p:txBody>
      </p:sp>
    </p:spTree>
    <p:extLst>
      <p:ext uri="{BB962C8B-B14F-4D97-AF65-F5344CB8AC3E}">
        <p14:creationId xmlns:p14="http://schemas.microsoft.com/office/powerpoint/2010/main" val="983388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g">
            <a:extLst>
              <a:ext uri="{FF2B5EF4-FFF2-40B4-BE49-F238E27FC236}">
                <a16:creationId xmlns:a16="http://schemas.microsoft.com/office/drawing/2014/main" id="{536615E1-02E1-43F1-8895-BC740CA5F97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68726D9B-CCA1-4FA5-94B5-74AA446FB2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8BB3537D-528C-402D-9E65-DF9D2FD13274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18AF4105-D72D-4EE3-83EA-1144465C77B7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FF3ED6BD-84CF-4717-92D1-D1840F95AFA4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89E9E11D-299C-4962-B380-AFE040EF53E9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DF6B61E1-7A0B-48EA-8594-76DEFA89C866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F48193DE-AD1F-440C-A1AF-3BD3C218DBAD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0B92E340-C805-43B0-A305-CA9420FBA9C6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AB25F932-E81F-4DE6-82CC-3B104CD0E514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5C637D3D-515B-4D0A-9C12-56FB8D7802B5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7071F159-DD70-4E9F-8AD1-5229A5E5CD38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5">
            <a:extLst>
              <a:ext uri="{FF2B5EF4-FFF2-40B4-BE49-F238E27FC236}">
                <a16:creationId xmlns:a16="http://schemas.microsoft.com/office/drawing/2014/main" id="{E77299B4-8649-45A0-B06A-0ACF6E8B7BEC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5">
            <a:extLst>
              <a:ext uri="{FF2B5EF4-FFF2-40B4-BE49-F238E27FC236}">
                <a16:creationId xmlns:a16="http://schemas.microsoft.com/office/drawing/2014/main" id="{D8BA7683-D85F-4B97-A850-C2E58A59D907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TECHNICAL ARCHITECTURE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BC4047-29D7-4FE4-A99D-B86FD94BFAE8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stack separates user experience, routing policy, provider execution, and admin controls.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4DCA7FBD-721D-4701-884B-3B804029CD11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A743D8D-026E-4CAF-BBDC-E36B441E0758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038D68-5013-4CAB-B2CA-09A2D2717932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49DD35-715F-4299-8239-61E5977C1A3C}"/>
              </a:ext>
            </a:extLst>
          </p:cNvPr>
          <p:cNvSpPr>
            <a:spLocks noGrp="1"/>
          </p:cNvSpPr>
          <p:nvPr/>
        </p:nvSpPr>
        <p:spPr>
          <a:xfrm>
            <a:off x="1028700" y="1676400"/>
            <a:ext cx="2476500" cy="4572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A2E2F0-BFE0-4F61-A878-D29C88FF9063}"/>
              </a:ext>
            </a:extLst>
          </p:cNvPr>
          <p:cNvSpPr>
            <a:spLocks noGrp="1"/>
          </p:cNvSpPr>
          <p:nvPr/>
        </p:nvSpPr>
        <p:spPr>
          <a:xfrm>
            <a:off x="1219200" y="18097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Frontend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113372-42CC-4D7D-B2F8-323AB2DC797B}"/>
              </a:ext>
            </a:extLst>
          </p:cNvPr>
          <p:cNvSpPr>
            <a:spLocks noGrp="1"/>
          </p:cNvSpPr>
          <p:nvPr/>
        </p:nvSpPr>
        <p:spPr>
          <a:xfrm>
            <a:off x="3714750" y="1676400"/>
            <a:ext cx="6496050" cy="4572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8651D7-4505-47F7-B8F5-EC20D95F37BB}"/>
              </a:ext>
            </a:extLst>
          </p:cNvPr>
          <p:cNvSpPr>
            <a:spLocks noGrp="1"/>
          </p:cNvSpPr>
          <p:nvPr/>
        </p:nvSpPr>
        <p:spPr>
          <a:xfrm>
            <a:off x="3905250" y="17907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Next.js, React, TypeScript, Zustand, Radix, TipTap, Framer Motion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E626356-5CA1-4397-9236-E777BE06C4E7}"/>
              </a:ext>
            </a:extLst>
          </p:cNvPr>
          <p:cNvSpPr>
            <a:spLocks noGrp="1"/>
          </p:cNvSpPr>
          <p:nvPr/>
        </p:nvSpPr>
        <p:spPr>
          <a:xfrm>
            <a:off x="1028700" y="2324100"/>
            <a:ext cx="2476500" cy="4572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36F2B41-B6AE-4C5F-8E03-976FE3869C9C}"/>
              </a:ext>
            </a:extLst>
          </p:cNvPr>
          <p:cNvSpPr>
            <a:spLocks noGrp="1"/>
          </p:cNvSpPr>
          <p:nvPr/>
        </p:nvSpPr>
        <p:spPr>
          <a:xfrm>
            <a:off x="1219200" y="24574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App APIs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FDC016F-0A8F-4CD5-91B4-160C61948584}"/>
              </a:ext>
            </a:extLst>
          </p:cNvPr>
          <p:cNvSpPr>
            <a:spLocks noGrp="1"/>
          </p:cNvSpPr>
          <p:nvPr/>
        </p:nvSpPr>
        <p:spPr>
          <a:xfrm>
            <a:off x="3714750" y="2324100"/>
            <a:ext cx="6496050" cy="4572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2B31224-BC66-459F-8EFB-D78ECB47D8C7}"/>
              </a:ext>
            </a:extLst>
          </p:cNvPr>
          <p:cNvSpPr>
            <a:spLocks noGrp="1"/>
          </p:cNvSpPr>
          <p:nvPr/>
        </p:nvSpPr>
        <p:spPr>
          <a:xfrm>
            <a:off x="3905250" y="24384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Chat, billing, admin, model balances, provider status, routing actions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D226BE-4C3D-4AA9-8529-5F99457A9E3C}"/>
              </a:ext>
            </a:extLst>
          </p:cNvPr>
          <p:cNvSpPr>
            <a:spLocks noGrp="1"/>
          </p:cNvSpPr>
          <p:nvPr/>
        </p:nvSpPr>
        <p:spPr>
          <a:xfrm>
            <a:off x="1028700" y="2971800"/>
            <a:ext cx="2476500" cy="4572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321C95A-629E-42C4-A846-62A020C19F27}"/>
              </a:ext>
            </a:extLst>
          </p:cNvPr>
          <p:cNvSpPr>
            <a:spLocks noGrp="1"/>
          </p:cNvSpPr>
          <p:nvPr/>
        </p:nvSpPr>
        <p:spPr>
          <a:xfrm>
            <a:off x="1219200" y="31051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AI orchestration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ABAC41-8073-4794-9D5B-041214989B1E}"/>
              </a:ext>
            </a:extLst>
          </p:cNvPr>
          <p:cNvSpPr>
            <a:spLocks noGrp="1"/>
          </p:cNvSpPr>
          <p:nvPr/>
        </p:nvSpPr>
        <p:spPr>
          <a:xfrm>
            <a:off x="3714750" y="2971800"/>
            <a:ext cx="6496050" cy="4572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1DD820-9C4C-4813-82C2-308CFE3EC408}"/>
              </a:ext>
            </a:extLst>
          </p:cNvPr>
          <p:cNvSpPr>
            <a:spLocks noGrp="1"/>
          </p:cNvSpPr>
          <p:nvPr/>
        </p:nvSpPr>
        <p:spPr>
          <a:xfrm>
            <a:off x="3905250" y="30861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Intent detection, live-search trigger, mode routing, candidate fan-out, judge synthesis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F4F4CF-A3CB-4E31-8EC7-EDB92A041EC6}"/>
              </a:ext>
            </a:extLst>
          </p:cNvPr>
          <p:cNvSpPr>
            <a:spLocks noGrp="1"/>
          </p:cNvSpPr>
          <p:nvPr/>
        </p:nvSpPr>
        <p:spPr>
          <a:xfrm>
            <a:off x="1028700" y="3619500"/>
            <a:ext cx="2476500" cy="4572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D02DFA-551F-4A00-B52A-F1F2B7CFB5D7}"/>
              </a:ext>
            </a:extLst>
          </p:cNvPr>
          <p:cNvSpPr>
            <a:spLocks noGrp="1"/>
          </p:cNvSpPr>
          <p:nvPr/>
        </p:nvSpPr>
        <p:spPr>
          <a:xfrm>
            <a:off x="1219200" y="37528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3E6B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E6BE"/>
                </a:solidFill>
                <a:latin typeface="Aptos"/>
                <a:ea typeface="Aptos"/>
                <a:cs typeface="Aptos"/>
              </a:rPr>
              <a:t>Provider layer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F43190-14A9-4007-9CA3-10AC9B4B2F1E}"/>
              </a:ext>
            </a:extLst>
          </p:cNvPr>
          <p:cNvSpPr>
            <a:spLocks noGrp="1"/>
          </p:cNvSpPr>
          <p:nvPr/>
        </p:nvSpPr>
        <p:spPr>
          <a:xfrm>
            <a:off x="3714750" y="3619500"/>
            <a:ext cx="6496050" cy="4572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7E3038B-B26B-4FF8-B4F5-D2985370DFCA}"/>
              </a:ext>
            </a:extLst>
          </p:cNvPr>
          <p:cNvSpPr>
            <a:spLocks noGrp="1"/>
          </p:cNvSpPr>
          <p:nvPr/>
        </p:nvSpPr>
        <p:spPr>
          <a:xfrm>
            <a:off x="3905250" y="37338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OpenAI, Anthropic, DeepSeek, Gemini, Tavily, optional Grok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E489A7-00F8-4E9C-8741-C0BE50BD5A38}"/>
              </a:ext>
            </a:extLst>
          </p:cNvPr>
          <p:cNvSpPr>
            <a:spLocks noGrp="1"/>
          </p:cNvSpPr>
          <p:nvPr/>
        </p:nvSpPr>
        <p:spPr>
          <a:xfrm>
            <a:off x="1028700" y="4267200"/>
            <a:ext cx="2476500" cy="4572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F2C538-1A7C-4345-95E6-7B457D5329B5}"/>
              </a:ext>
            </a:extLst>
          </p:cNvPr>
          <p:cNvSpPr>
            <a:spLocks noGrp="1"/>
          </p:cNvSpPr>
          <p:nvPr/>
        </p:nvSpPr>
        <p:spPr>
          <a:xfrm>
            <a:off x="1219200" y="44005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6B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8A"/>
                </a:solidFill>
                <a:latin typeface="Aptos"/>
                <a:ea typeface="Aptos"/>
                <a:cs typeface="Aptos"/>
              </a:rPr>
              <a:t>Data layer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DBE2AED-7B0D-4D1B-A857-F1B22699FD15}"/>
              </a:ext>
            </a:extLst>
          </p:cNvPr>
          <p:cNvSpPr>
            <a:spLocks noGrp="1"/>
          </p:cNvSpPr>
          <p:nvPr/>
        </p:nvSpPr>
        <p:spPr>
          <a:xfrm>
            <a:off x="3714750" y="4267200"/>
            <a:ext cx="6496050" cy="4572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E775FCF-5CE1-42E6-83F7-924B95454060}"/>
              </a:ext>
            </a:extLst>
          </p:cNvPr>
          <p:cNvSpPr>
            <a:spLocks noGrp="1"/>
          </p:cNvSpPr>
          <p:nvPr/>
        </p:nvSpPr>
        <p:spPr>
          <a:xfrm>
            <a:off x="3905250" y="43815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PostgreSQL chats, sessions, user state, local routing catalog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D9A8595-6A76-4973-A268-516074E0A824}"/>
              </a:ext>
            </a:extLst>
          </p:cNvPr>
          <p:cNvSpPr>
            <a:spLocks noGrp="1"/>
          </p:cNvSpPr>
          <p:nvPr/>
        </p:nvSpPr>
        <p:spPr>
          <a:xfrm>
            <a:off x="1028700" y="4914900"/>
            <a:ext cx="2476500" cy="4572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2D2EE3C-39C0-45F0-B5F0-0FE6C3144611}"/>
              </a:ext>
            </a:extLst>
          </p:cNvPr>
          <p:cNvSpPr>
            <a:spLocks noGrp="1"/>
          </p:cNvSpPr>
          <p:nvPr/>
        </p:nvSpPr>
        <p:spPr>
          <a:xfrm>
            <a:off x="1219200" y="504825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Admin layer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AD278EE-80EA-4BEA-AE30-3552410D9A70}"/>
              </a:ext>
            </a:extLst>
          </p:cNvPr>
          <p:cNvSpPr>
            <a:spLocks noGrp="1"/>
          </p:cNvSpPr>
          <p:nvPr/>
        </p:nvSpPr>
        <p:spPr>
          <a:xfrm>
            <a:off x="3714750" y="4914900"/>
            <a:ext cx="6496050" cy="4572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104735-1FED-47F7-A318-DFEB91D67B89}"/>
              </a:ext>
            </a:extLst>
          </p:cNvPr>
          <p:cNvSpPr>
            <a:spLocks noGrp="1"/>
          </p:cNvSpPr>
          <p:nvPr/>
        </p:nvSpPr>
        <p:spPr>
          <a:xfrm>
            <a:off x="3905250" y="5029200"/>
            <a:ext cx="6096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Hidden URL, admin email allowlist, plans, provider balances, routing, user/session controls</a:t>
            </a:r>
          </a:p>
        </p:txBody>
      </p:sp>
    </p:spTree>
    <p:extLst>
      <p:ext uri="{BB962C8B-B14F-4D97-AF65-F5344CB8AC3E}">
        <p14:creationId xmlns:p14="http://schemas.microsoft.com/office/powerpoint/2010/main" val="1877713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g">
            <a:extLst>
              <a:ext uri="{FF2B5EF4-FFF2-40B4-BE49-F238E27FC236}">
                <a16:creationId xmlns:a16="http://schemas.microsoft.com/office/drawing/2014/main" id="{A5FD47D5-E96C-41EC-931F-C8FBC35385D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01E3515F-09E0-4B58-9C0C-EBEE2FF558A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BDA5935F-846F-4258-9B15-1065AC627AB4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DC626972-089E-4E1A-A6E6-16E65F6EE97B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5620A9F1-A6AA-4908-BB91-35539412DB31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5CB13F3C-148A-41F3-9118-07F824AA1C9B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8D638D16-3CF7-4849-8F34-7DF7DD9CC4A3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651D2F0A-7725-4AF1-A80E-1E8AE527467D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FE8E312A-13C3-4D9F-8974-98E3E7E63996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542FFA78-7D3A-415F-BEAC-773BF269092C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7D0F1794-11AB-4525-9B0E-DA9A12801734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E6B25EB8-13B9-43AD-97EF-F602B2E56E49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6">
            <a:extLst>
              <a:ext uri="{FF2B5EF4-FFF2-40B4-BE49-F238E27FC236}">
                <a16:creationId xmlns:a16="http://schemas.microsoft.com/office/drawing/2014/main" id="{44384D00-36E5-4A94-A25E-2B08724EFCEE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6">
            <a:extLst>
              <a:ext uri="{FF2B5EF4-FFF2-40B4-BE49-F238E27FC236}">
                <a16:creationId xmlns:a16="http://schemas.microsoft.com/office/drawing/2014/main" id="{AF420080-9604-4F73-B0C4-EC13D37CC848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SECURITY &amp; PRIVACY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66AC86A-76ED-490C-B624-3962DED871D3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security model is simple: server-side keys, scoped admins, and memory under product control.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63C6FF47-7955-4994-9DB5-FA403C56BDE3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B85A0D-3C2F-4AC5-8438-08308AE42797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E84FBAD-7B58-42C5-B3D9-3BA5CCB95362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E06E27-706A-40E4-A0A1-10E996D3E0E2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10001250" cy="498021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A68E58-E3AB-4130-BE4F-9023A9F9A006}"/>
              </a:ext>
            </a:extLst>
          </p:cNvPr>
          <p:cNvSpPr>
            <a:spLocks noGrp="1"/>
          </p:cNvSpPr>
          <p:nvPr/>
        </p:nvSpPr>
        <p:spPr>
          <a:xfrm>
            <a:off x="923925" y="1933575"/>
            <a:ext cx="1819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149B5E3-13E7-4AF6-B0E5-0675601D4321}"/>
              </a:ext>
            </a:extLst>
          </p:cNvPr>
          <p:cNvSpPr>
            <a:spLocks noGrp="1"/>
          </p:cNvSpPr>
          <p:nvPr/>
        </p:nvSpPr>
        <p:spPr>
          <a:xfrm>
            <a:off x="2876550" y="1933575"/>
            <a:ext cx="7915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16638D-DEC4-4C99-B442-6EF26B236027}"/>
              </a:ext>
            </a:extLst>
          </p:cNvPr>
          <p:cNvSpPr>
            <a:spLocks noGrp="1"/>
          </p:cNvSpPr>
          <p:nvPr/>
        </p:nvSpPr>
        <p:spPr>
          <a:xfrm>
            <a:off x="838200" y="2307771"/>
            <a:ext cx="10001250" cy="498021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2BC3C24-B58C-4ED9-A981-9D1AFCC523E7}"/>
              </a:ext>
            </a:extLst>
          </p:cNvPr>
          <p:cNvSpPr>
            <a:spLocks noGrp="1"/>
          </p:cNvSpPr>
          <p:nvPr/>
        </p:nvSpPr>
        <p:spPr>
          <a:xfrm>
            <a:off x="923925" y="2431596"/>
            <a:ext cx="1819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API keys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588F36-9BBD-4013-91AF-E3B7D50B8CFC}"/>
              </a:ext>
            </a:extLst>
          </p:cNvPr>
          <p:cNvSpPr>
            <a:spLocks noGrp="1"/>
          </p:cNvSpPr>
          <p:nvPr/>
        </p:nvSpPr>
        <p:spPr>
          <a:xfrm>
            <a:off x="2876550" y="2431596"/>
            <a:ext cx="7915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Kept server-side; not exposed to client UI.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77A896-A9C7-4230-BEEA-5F3C4DDDD19E}"/>
              </a:ext>
            </a:extLst>
          </p:cNvPr>
          <p:cNvSpPr>
            <a:spLocks noGrp="1"/>
          </p:cNvSpPr>
          <p:nvPr/>
        </p:nvSpPr>
        <p:spPr>
          <a:xfrm>
            <a:off x="838200" y="2805793"/>
            <a:ext cx="10001250" cy="498021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F3A968-9564-4700-979E-5E5FC1255E64}"/>
              </a:ext>
            </a:extLst>
          </p:cNvPr>
          <p:cNvSpPr>
            <a:spLocks noGrp="1"/>
          </p:cNvSpPr>
          <p:nvPr/>
        </p:nvSpPr>
        <p:spPr>
          <a:xfrm>
            <a:off x="923925" y="2929618"/>
            <a:ext cx="1819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User data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3620DC-A812-4373-9EBD-A6EDA4E4056A}"/>
              </a:ext>
            </a:extLst>
          </p:cNvPr>
          <p:cNvSpPr>
            <a:spLocks noGrp="1"/>
          </p:cNvSpPr>
          <p:nvPr/>
        </p:nvSpPr>
        <p:spPr>
          <a:xfrm>
            <a:off x="2876550" y="2929618"/>
            <a:ext cx="7915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Signed-in chats saved in PostgreSQL; temporary chats excluded from memory retrieval.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3F4588-CC34-47A1-90FF-DF8A24AB102E}"/>
              </a:ext>
            </a:extLst>
          </p:cNvPr>
          <p:cNvSpPr>
            <a:spLocks noGrp="1"/>
          </p:cNvSpPr>
          <p:nvPr/>
        </p:nvSpPr>
        <p:spPr>
          <a:xfrm>
            <a:off x="838200" y="3303814"/>
            <a:ext cx="10001250" cy="498021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21803E-67A3-4BF2-99D7-E033837B6715}"/>
              </a:ext>
            </a:extLst>
          </p:cNvPr>
          <p:cNvSpPr>
            <a:spLocks noGrp="1"/>
          </p:cNvSpPr>
          <p:nvPr/>
        </p:nvSpPr>
        <p:spPr>
          <a:xfrm>
            <a:off x="923925" y="3427639"/>
            <a:ext cx="1819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Admin access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7EF536-0F25-4882-880D-917D0A294EDE}"/>
              </a:ext>
            </a:extLst>
          </p:cNvPr>
          <p:cNvSpPr>
            <a:spLocks noGrp="1"/>
          </p:cNvSpPr>
          <p:nvPr/>
        </p:nvSpPr>
        <p:spPr>
          <a:xfrm>
            <a:off x="2876550" y="3427639"/>
            <a:ext cx="7915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Hidden route plus login and AION_ADMIN_EMAILS allowlist.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C64F08D-3836-4067-ACF8-2CD05E955336}"/>
              </a:ext>
            </a:extLst>
          </p:cNvPr>
          <p:cNvSpPr>
            <a:spLocks noGrp="1"/>
          </p:cNvSpPr>
          <p:nvPr/>
        </p:nvSpPr>
        <p:spPr>
          <a:xfrm>
            <a:off x="838200" y="3801836"/>
            <a:ext cx="10001250" cy="498021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3E6DCA-88A3-4452-85FA-9A2BCF6AEEA4}"/>
              </a:ext>
            </a:extLst>
          </p:cNvPr>
          <p:cNvSpPr>
            <a:spLocks noGrp="1"/>
          </p:cNvSpPr>
          <p:nvPr/>
        </p:nvSpPr>
        <p:spPr>
          <a:xfrm>
            <a:off x="923925" y="3925661"/>
            <a:ext cx="1819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Provider trust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28EBA9-ED34-4969-A7DB-3632E0366A11}"/>
              </a:ext>
            </a:extLst>
          </p:cNvPr>
          <p:cNvSpPr>
            <a:spLocks noGrp="1"/>
          </p:cNvSpPr>
          <p:nvPr/>
        </p:nvSpPr>
        <p:spPr>
          <a:xfrm>
            <a:off x="2876550" y="3925661"/>
            <a:ext cx="7915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Model diagnostics kept away from normal user surface.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597D60-F5D2-4D8F-B27C-E490AF1E7AA0}"/>
              </a:ext>
            </a:extLst>
          </p:cNvPr>
          <p:cNvSpPr>
            <a:spLocks noGrp="1"/>
          </p:cNvSpPr>
          <p:nvPr/>
        </p:nvSpPr>
        <p:spPr>
          <a:xfrm>
            <a:off x="838200" y="4299857"/>
            <a:ext cx="10001250" cy="498021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BD126CB-55B0-4A06-8065-E343E1BC9E26}"/>
              </a:ext>
            </a:extLst>
          </p:cNvPr>
          <p:cNvSpPr>
            <a:spLocks noGrp="1"/>
          </p:cNvSpPr>
          <p:nvPr/>
        </p:nvSpPr>
        <p:spPr>
          <a:xfrm>
            <a:off x="923925" y="4423682"/>
            <a:ext cx="1819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Financial 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2B11488-EB7C-4FDD-AA4B-A473DCF0A4DC}"/>
              </a:ext>
            </a:extLst>
          </p:cNvPr>
          <p:cNvSpPr>
            <a:spLocks noGrp="1"/>
          </p:cNvSpPr>
          <p:nvPr/>
        </p:nvSpPr>
        <p:spPr>
          <a:xfrm>
            <a:off x="2876550" y="4423682"/>
            <a:ext cx="7915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Payments should rely on PSP webhooks and server-side credit grants.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3B87A16-C1A3-4592-8BA4-ADD14315258F}"/>
              </a:ext>
            </a:extLst>
          </p:cNvPr>
          <p:cNvSpPr>
            <a:spLocks noGrp="1"/>
          </p:cNvSpPr>
          <p:nvPr/>
        </p:nvSpPr>
        <p:spPr>
          <a:xfrm>
            <a:off x="838200" y="4797879"/>
            <a:ext cx="10001250" cy="498021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98875B-D4E1-42C2-9046-F805E998F5BF}"/>
              </a:ext>
            </a:extLst>
          </p:cNvPr>
          <p:cNvSpPr>
            <a:spLocks noGrp="1"/>
          </p:cNvSpPr>
          <p:nvPr/>
        </p:nvSpPr>
        <p:spPr>
          <a:xfrm>
            <a:off x="923925" y="4921704"/>
            <a:ext cx="1819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Enterprise path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EC02A0-394A-48D5-BD2C-299B068A4465}"/>
              </a:ext>
            </a:extLst>
          </p:cNvPr>
          <p:cNvSpPr>
            <a:spLocks noGrp="1"/>
          </p:cNvSpPr>
          <p:nvPr/>
        </p:nvSpPr>
        <p:spPr>
          <a:xfrm>
            <a:off x="2876550" y="4921704"/>
            <a:ext cx="7915275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Add SSO, audit logs, data retention policy, and workspace-level controls.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798CE6-FAF4-43F4-9DB0-A49ADD081AD6}"/>
              </a:ext>
            </a:extLst>
          </p:cNvPr>
          <p:cNvSpPr>
            <a:spLocks noGrp="1"/>
          </p:cNvSpPr>
          <p:nvPr/>
        </p:nvSpPr>
        <p:spPr>
          <a:xfrm>
            <a:off x="1181100" y="5657850"/>
            <a:ext cx="8572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Enterprise hardening roadmap: SSO, audit logs, workspace retention, procurement-ready invoicing, and model routing policies per team.</a:t>
            </a:r>
          </a:p>
        </p:txBody>
      </p:sp>
    </p:spTree>
    <p:extLst>
      <p:ext uri="{BB962C8B-B14F-4D97-AF65-F5344CB8AC3E}">
        <p14:creationId xmlns:p14="http://schemas.microsoft.com/office/powerpoint/2010/main" val="108326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g">
            <a:extLst>
              <a:ext uri="{FF2B5EF4-FFF2-40B4-BE49-F238E27FC236}">
                <a16:creationId xmlns:a16="http://schemas.microsoft.com/office/drawing/2014/main" id="{31AA6C8E-6B29-4DEA-8713-2C27175C6E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4CF726D8-20D8-4DEE-8B46-2852854E23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0A28E272-CADB-4849-A677-3B943B92DDB7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1353F450-A118-4FA9-B50D-B9617BF398B3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7AF5E999-B8B0-4FDA-851A-9E0AA32DB491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9EF48231-0F19-43A2-A2C5-B4354B7AEBE6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B8A3AD89-D52C-4F4F-8B54-5DE15BF54CF5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A7CDDF95-607B-41CC-966A-9E6A9EB8E393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3150FF6D-16A0-45EB-8636-548C248F4C69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2226FB72-AEAD-4CC3-8015-D3F00B72504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3922C825-C25A-4E49-AEE2-E18560755E57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DC87F1DB-A48D-4944-87CB-F559876CD460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7">
            <a:extLst>
              <a:ext uri="{FF2B5EF4-FFF2-40B4-BE49-F238E27FC236}">
                <a16:creationId xmlns:a16="http://schemas.microsoft.com/office/drawing/2014/main" id="{6B000A28-31A8-4E46-BB7A-54B66B0A5F04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7">
            <a:extLst>
              <a:ext uri="{FF2B5EF4-FFF2-40B4-BE49-F238E27FC236}">
                <a16:creationId xmlns:a16="http://schemas.microsoft.com/office/drawing/2014/main" id="{397F6837-4156-4528-9266-6CC0815BFBCC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CURRENT STATUS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37CE10-1191-4F26-AE6F-85F21E656C13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product foundation is already beyond a static chatbot.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B16A867D-D8F9-4632-B1D3-3A3322F5BE64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18431B-E168-4C1C-8019-2E0F170766D4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8CCAF0-1C42-4EFA-9E83-AF932F1639AE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D6AD2D-BEEA-48B2-9DC8-291440EDAB8D}"/>
              </a:ext>
            </a:extLst>
          </p:cNvPr>
          <p:cNvSpPr>
            <a:spLocks noGrp="1"/>
          </p:cNvSpPr>
          <p:nvPr/>
        </p:nvSpPr>
        <p:spPr>
          <a:xfrm>
            <a:off x="1066800" y="18097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Completed foundation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E27B14-07F6-4D61-AAC3-6B9A8CC2C07B}"/>
              </a:ext>
            </a:extLst>
          </p:cNvPr>
          <p:cNvSpPr>
            <a:spLocks noGrp="1"/>
          </p:cNvSpPr>
          <p:nvPr/>
        </p:nvSpPr>
        <p:spPr>
          <a:xfrm>
            <a:off x="1123950" y="2228850"/>
            <a:ext cx="171450" cy="1714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654B72-D963-4CC5-A41A-35A3B85CFC51}"/>
              </a:ext>
            </a:extLst>
          </p:cNvPr>
          <p:cNvSpPr>
            <a:spLocks noGrp="1"/>
          </p:cNvSpPr>
          <p:nvPr/>
        </p:nvSpPr>
        <p:spPr>
          <a:xfrm>
            <a:off x="1466850" y="2181225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Three-mode chat surface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672936-E24D-4818-9103-15DC1F009845}"/>
              </a:ext>
            </a:extLst>
          </p:cNvPr>
          <p:cNvSpPr>
            <a:spLocks noGrp="1"/>
          </p:cNvSpPr>
          <p:nvPr/>
        </p:nvSpPr>
        <p:spPr>
          <a:xfrm>
            <a:off x="1123950" y="2628900"/>
            <a:ext cx="171450" cy="1714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6844E0-D323-4B1D-B0B2-020B61409B6E}"/>
              </a:ext>
            </a:extLst>
          </p:cNvPr>
          <p:cNvSpPr>
            <a:spLocks noGrp="1"/>
          </p:cNvSpPr>
          <p:nvPr/>
        </p:nvSpPr>
        <p:spPr>
          <a:xfrm>
            <a:off x="1466850" y="2581275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Multi-provider routing file and UI controls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704DE7-D114-4068-9B82-D3F011CFC082}"/>
              </a:ext>
            </a:extLst>
          </p:cNvPr>
          <p:cNvSpPr>
            <a:spLocks noGrp="1"/>
          </p:cNvSpPr>
          <p:nvPr/>
        </p:nvSpPr>
        <p:spPr>
          <a:xfrm>
            <a:off x="1123950" y="3028950"/>
            <a:ext cx="171450" cy="1714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256B43-2B4A-4E72-AF67-CBA9E7C72A54}"/>
              </a:ext>
            </a:extLst>
          </p:cNvPr>
          <p:cNvSpPr>
            <a:spLocks noGrp="1"/>
          </p:cNvSpPr>
          <p:nvPr/>
        </p:nvSpPr>
        <p:spPr>
          <a:xfrm>
            <a:off x="1466850" y="2981325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Analyzer candidate fan-out and judge answer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55A668-F407-4A2C-9BDD-6A6B20A9400E}"/>
              </a:ext>
            </a:extLst>
          </p:cNvPr>
          <p:cNvSpPr>
            <a:spLocks noGrp="1"/>
          </p:cNvSpPr>
          <p:nvPr/>
        </p:nvSpPr>
        <p:spPr>
          <a:xfrm>
            <a:off x="1123950" y="3429000"/>
            <a:ext cx="171450" cy="1714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9093C1-91DF-4713-83C4-B74652863F0D}"/>
              </a:ext>
            </a:extLst>
          </p:cNvPr>
          <p:cNvSpPr>
            <a:spLocks noGrp="1"/>
          </p:cNvSpPr>
          <p:nvPr/>
        </p:nvSpPr>
        <p:spPr>
          <a:xfrm>
            <a:off x="1466850" y="3381375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Live-search path for current factual questions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94964C6-B198-4503-ACF7-98CC17D9A40E}"/>
              </a:ext>
            </a:extLst>
          </p:cNvPr>
          <p:cNvSpPr>
            <a:spLocks noGrp="1"/>
          </p:cNvSpPr>
          <p:nvPr/>
        </p:nvSpPr>
        <p:spPr>
          <a:xfrm>
            <a:off x="1123950" y="3829050"/>
            <a:ext cx="171450" cy="1714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C2F763F-2FC4-455F-969D-22C3F0AACAE7}"/>
              </a:ext>
            </a:extLst>
          </p:cNvPr>
          <p:cNvSpPr>
            <a:spLocks noGrp="1"/>
          </p:cNvSpPr>
          <p:nvPr/>
        </p:nvSpPr>
        <p:spPr>
          <a:xfrm>
            <a:off x="1466850" y="3781425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Workspace memory for signed-in users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3177249-EE84-423F-A3BD-EE90283419AA}"/>
              </a:ext>
            </a:extLst>
          </p:cNvPr>
          <p:cNvSpPr>
            <a:spLocks noGrp="1"/>
          </p:cNvSpPr>
          <p:nvPr/>
        </p:nvSpPr>
        <p:spPr>
          <a:xfrm>
            <a:off x="1123950" y="4229100"/>
            <a:ext cx="171450" cy="1714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512CA40-8941-4FB9-8891-8E34D03AC929}"/>
              </a:ext>
            </a:extLst>
          </p:cNvPr>
          <p:cNvSpPr>
            <a:spLocks noGrp="1"/>
          </p:cNvSpPr>
          <p:nvPr/>
        </p:nvSpPr>
        <p:spPr>
          <a:xfrm>
            <a:off x="1466850" y="4181475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Credit billing catalog and wallet concept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EEAB030-17FA-4C1F-AA37-351EFB0E6D46}"/>
              </a:ext>
            </a:extLst>
          </p:cNvPr>
          <p:cNvSpPr>
            <a:spLocks noGrp="1"/>
          </p:cNvSpPr>
          <p:nvPr/>
        </p:nvSpPr>
        <p:spPr>
          <a:xfrm>
            <a:off x="1123950" y="4629150"/>
            <a:ext cx="171450" cy="1714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F54855-EE0E-4A5A-B949-84608DEC61CE}"/>
              </a:ext>
            </a:extLst>
          </p:cNvPr>
          <p:cNvSpPr>
            <a:spLocks noGrp="1"/>
          </p:cNvSpPr>
          <p:nvPr/>
        </p:nvSpPr>
        <p:spPr>
          <a:xfrm>
            <a:off x="1466850" y="4581525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Hidden admin panel for operational controls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0C3A33-913A-497A-8B72-924AF88E474F}"/>
              </a:ext>
            </a:extLst>
          </p:cNvPr>
          <p:cNvSpPr>
            <a:spLocks noGrp="1"/>
          </p:cNvSpPr>
          <p:nvPr/>
        </p:nvSpPr>
        <p:spPr>
          <a:xfrm>
            <a:off x="6572250" y="18097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Under development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77526B-A394-4125-A4D9-BF803036B2B5}"/>
              </a:ext>
            </a:extLst>
          </p:cNvPr>
          <p:cNvSpPr>
            <a:spLocks noGrp="1"/>
          </p:cNvSpPr>
          <p:nvPr/>
        </p:nvSpPr>
        <p:spPr>
          <a:xfrm>
            <a:off x="6629400" y="2228850"/>
            <a:ext cx="171450" cy="1714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A359BBE-438C-4BE7-AF9E-83A0E18E426F}"/>
              </a:ext>
            </a:extLst>
          </p:cNvPr>
          <p:cNvSpPr>
            <a:spLocks noGrp="1"/>
          </p:cNvSpPr>
          <p:nvPr/>
        </p:nvSpPr>
        <p:spPr>
          <a:xfrm>
            <a:off x="6972300" y="21812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Payment provider activation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3FB382E-ED70-45C4-99AD-507E241CF05D}"/>
              </a:ext>
            </a:extLst>
          </p:cNvPr>
          <p:cNvSpPr>
            <a:spLocks noGrp="1"/>
          </p:cNvSpPr>
          <p:nvPr/>
        </p:nvSpPr>
        <p:spPr>
          <a:xfrm>
            <a:off x="6629400" y="2724150"/>
            <a:ext cx="171450" cy="1714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A1348C-0EF8-4AEE-98F6-0E90EAFE307B}"/>
              </a:ext>
            </a:extLst>
          </p:cNvPr>
          <p:cNvSpPr>
            <a:spLocks noGrp="1"/>
          </p:cNvSpPr>
          <p:nvPr/>
        </p:nvSpPr>
        <p:spPr>
          <a:xfrm>
            <a:off x="6972300" y="26765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Credit ledger enforcement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FAEB676-59BD-41EB-BF00-5E79DE0DE32B}"/>
              </a:ext>
            </a:extLst>
          </p:cNvPr>
          <p:cNvSpPr>
            <a:spLocks noGrp="1"/>
          </p:cNvSpPr>
          <p:nvPr/>
        </p:nvSpPr>
        <p:spPr>
          <a:xfrm>
            <a:off x="6629400" y="3219450"/>
            <a:ext cx="171450" cy="1714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9641ED9-63C2-4696-9F24-E907ADC7136A}"/>
              </a:ext>
            </a:extLst>
          </p:cNvPr>
          <p:cNvSpPr>
            <a:spLocks noGrp="1"/>
          </p:cNvSpPr>
          <p:nvPr/>
        </p:nvSpPr>
        <p:spPr>
          <a:xfrm>
            <a:off x="6972300" y="31718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Team workspaces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DDC8DB6-1A79-4C6A-A5F1-7DF027B38459}"/>
              </a:ext>
            </a:extLst>
          </p:cNvPr>
          <p:cNvSpPr>
            <a:spLocks noGrp="1"/>
          </p:cNvSpPr>
          <p:nvPr/>
        </p:nvSpPr>
        <p:spPr>
          <a:xfrm>
            <a:off x="6629400" y="3714750"/>
            <a:ext cx="171450" cy="1714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86A56FC-3222-4145-9AEF-7E63EF50A5C3}"/>
              </a:ext>
            </a:extLst>
          </p:cNvPr>
          <p:cNvSpPr>
            <a:spLocks noGrp="1"/>
          </p:cNvSpPr>
          <p:nvPr/>
        </p:nvSpPr>
        <p:spPr>
          <a:xfrm>
            <a:off x="6972300" y="36671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Enterprise audit controls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6181FB8-3AFE-4B0B-BFB1-598EE5D2BF47}"/>
              </a:ext>
            </a:extLst>
          </p:cNvPr>
          <p:cNvSpPr>
            <a:spLocks noGrp="1"/>
          </p:cNvSpPr>
          <p:nvPr/>
        </p:nvSpPr>
        <p:spPr>
          <a:xfrm>
            <a:off x="6629400" y="4210050"/>
            <a:ext cx="171450" cy="1714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03B60E8-3DC0-4A97-8EFA-6D96D34D8A2D}"/>
              </a:ext>
            </a:extLst>
          </p:cNvPr>
          <p:cNvSpPr>
            <a:spLocks noGrp="1"/>
          </p:cNvSpPr>
          <p:nvPr/>
        </p:nvSpPr>
        <p:spPr>
          <a:xfrm>
            <a:off x="6972300" y="4162425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Public growth onboarding</a:t>
            </a:r>
          </a:p>
        </p:txBody>
      </p:sp>
    </p:spTree>
    <p:extLst>
      <p:ext uri="{BB962C8B-B14F-4D97-AF65-F5344CB8AC3E}">
        <p14:creationId xmlns:p14="http://schemas.microsoft.com/office/powerpoint/2010/main" val="107676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bg">
            <a:extLst>
              <a:ext uri="{FF2B5EF4-FFF2-40B4-BE49-F238E27FC236}">
                <a16:creationId xmlns:a16="http://schemas.microsoft.com/office/drawing/2014/main" id="{19D0226F-AE2D-4FC6-BDD3-99016DFEA2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E2023B8E-8637-415F-BCB8-E577962E01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AE756463-7732-4027-87FE-815EA37667D9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39947E14-20DB-4F8A-AE0A-C6F87586A094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04409191-78EB-464C-B471-38302F11D0B4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2143DA2C-B1AC-469B-AC1D-A6559F652BCF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E550ADBD-ACE5-4773-AE45-F2945DB38B15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0FE2FDDC-55BA-45D4-A62E-0A7D7D7EAB42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41016925-17A8-4398-B495-261988FF7BC4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789E2B38-B500-4350-993A-A5D563EB97D9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8B736692-C267-4FCF-92B9-E2E603E262F6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C50A0BFF-9E0C-45CD-9570-82A2BB38B1F6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8">
            <a:extLst>
              <a:ext uri="{FF2B5EF4-FFF2-40B4-BE49-F238E27FC236}">
                <a16:creationId xmlns:a16="http://schemas.microsoft.com/office/drawing/2014/main" id="{8AFB89AE-A3CC-4611-87F4-2F082AB475F4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8">
            <a:extLst>
              <a:ext uri="{FF2B5EF4-FFF2-40B4-BE49-F238E27FC236}">
                <a16:creationId xmlns:a16="http://schemas.microsoft.com/office/drawing/2014/main" id="{95534742-0FC6-4388-A12A-06C31F191943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EAB618B-5DEC-4286-8D41-FC19823CE5C2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next year should convert the prototype into a measured commercial engine.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4616D694-08F4-4F35-9ADF-FADB769FD013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82A6F0-B8E0-456B-BDDF-F54B1489DC81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9A5D50-F185-44F2-9697-3200F9B9EBB5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55E560-96D9-4FD7-B3D0-9DFB10BDBB95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2762250" cy="28575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5F0C02-FB0A-4899-8588-7E12842BBC4D}"/>
              </a:ext>
            </a:extLst>
          </p:cNvPr>
          <p:cNvSpPr>
            <a:spLocks noGrp="1"/>
          </p:cNvSpPr>
          <p:nvPr/>
        </p:nvSpPr>
        <p:spPr>
          <a:xfrm>
            <a:off x="990600" y="2000250"/>
            <a:ext cx="2762250" cy="66675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69BD26-40EA-4EC6-ABF7-370BD1AA2C53}"/>
              </a:ext>
            </a:extLst>
          </p:cNvPr>
          <p:cNvSpPr>
            <a:spLocks noGrp="1"/>
          </p:cNvSpPr>
          <p:nvPr/>
        </p:nvSpPr>
        <p:spPr>
          <a:xfrm>
            <a:off x="1162050" y="22860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0-3 months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8DACE3-1CE6-4388-AC72-FB5601919D4D}"/>
              </a:ext>
            </a:extLst>
          </p:cNvPr>
          <p:cNvSpPr>
            <a:spLocks noGrp="1"/>
          </p:cNvSpPr>
          <p:nvPr/>
        </p:nvSpPr>
        <p:spPr>
          <a:xfrm>
            <a:off x="1181100" y="2781300"/>
            <a:ext cx="95250" cy="952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DD18CDE-E6F1-4441-A39F-D3B6AB799290}"/>
              </a:ext>
            </a:extLst>
          </p:cNvPr>
          <p:cNvSpPr>
            <a:spLocks noGrp="1"/>
          </p:cNvSpPr>
          <p:nvPr/>
        </p:nvSpPr>
        <p:spPr>
          <a:xfrm>
            <a:off x="1390650" y="27051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Billing launch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7954C4-9652-490C-9A4E-384033A8D7D8}"/>
              </a:ext>
            </a:extLst>
          </p:cNvPr>
          <p:cNvSpPr>
            <a:spLocks noGrp="1"/>
          </p:cNvSpPr>
          <p:nvPr/>
        </p:nvSpPr>
        <p:spPr>
          <a:xfrm>
            <a:off x="1181100" y="3133725"/>
            <a:ext cx="95250" cy="952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B214CF-E14D-409B-8BF5-E1C499179D83}"/>
              </a:ext>
            </a:extLst>
          </p:cNvPr>
          <p:cNvSpPr>
            <a:spLocks noGrp="1"/>
          </p:cNvSpPr>
          <p:nvPr/>
        </p:nvSpPr>
        <p:spPr>
          <a:xfrm>
            <a:off x="1390650" y="305752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Credit ledger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0AE9F-4D32-4B9D-9657-60DE9F60E857}"/>
              </a:ext>
            </a:extLst>
          </p:cNvPr>
          <p:cNvSpPr>
            <a:spLocks noGrp="1"/>
          </p:cNvSpPr>
          <p:nvPr/>
        </p:nvSpPr>
        <p:spPr>
          <a:xfrm>
            <a:off x="1181100" y="3486150"/>
            <a:ext cx="95250" cy="952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3F38E4-1EBF-451B-837E-ABA196B844AD}"/>
              </a:ext>
            </a:extLst>
          </p:cNvPr>
          <p:cNvSpPr>
            <a:spLocks noGrp="1"/>
          </p:cNvSpPr>
          <p:nvPr/>
        </p:nvSpPr>
        <p:spPr>
          <a:xfrm>
            <a:off x="1390650" y="3409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Beta cohort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39F9C56-B23A-4CBD-AC48-271CA58C6057}"/>
              </a:ext>
            </a:extLst>
          </p:cNvPr>
          <p:cNvSpPr>
            <a:spLocks noGrp="1"/>
          </p:cNvSpPr>
          <p:nvPr/>
        </p:nvSpPr>
        <p:spPr>
          <a:xfrm>
            <a:off x="1181100" y="3838575"/>
            <a:ext cx="95250" cy="952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A42653-E303-4032-821A-5ACB757C4392}"/>
              </a:ext>
            </a:extLst>
          </p:cNvPr>
          <p:cNvSpPr>
            <a:spLocks noGrp="1"/>
          </p:cNvSpPr>
          <p:nvPr/>
        </p:nvSpPr>
        <p:spPr>
          <a:xfrm>
            <a:off x="1390650" y="37623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Quality analytics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4AB76D-F102-4A06-9B19-2CC9188919D8}"/>
              </a:ext>
            </a:extLst>
          </p:cNvPr>
          <p:cNvSpPr>
            <a:spLocks noGrp="1"/>
          </p:cNvSpPr>
          <p:nvPr/>
        </p:nvSpPr>
        <p:spPr>
          <a:xfrm>
            <a:off x="1181100" y="4191000"/>
            <a:ext cx="95250" cy="952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82A4921-7771-49F6-B2AF-B2629D1B80EC}"/>
              </a:ext>
            </a:extLst>
          </p:cNvPr>
          <p:cNvSpPr>
            <a:spLocks noGrp="1"/>
          </p:cNvSpPr>
          <p:nvPr/>
        </p:nvSpPr>
        <p:spPr>
          <a:xfrm>
            <a:off x="1390650" y="41148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Payment webhooks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54A3202-56A5-4F00-AF3E-13BB42388DB7}"/>
              </a:ext>
            </a:extLst>
          </p:cNvPr>
          <p:cNvSpPr>
            <a:spLocks noGrp="1"/>
          </p:cNvSpPr>
          <p:nvPr/>
        </p:nvSpPr>
        <p:spPr>
          <a:xfrm>
            <a:off x="4267200" y="2000250"/>
            <a:ext cx="2762250" cy="28575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B48C68-55C7-4308-A99D-52515261DA6B}"/>
              </a:ext>
            </a:extLst>
          </p:cNvPr>
          <p:cNvSpPr>
            <a:spLocks noGrp="1"/>
          </p:cNvSpPr>
          <p:nvPr/>
        </p:nvSpPr>
        <p:spPr>
          <a:xfrm>
            <a:off x="4267200" y="2000250"/>
            <a:ext cx="2762250" cy="66675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8586C39-68EC-4254-A366-8D8813778AF8}"/>
              </a:ext>
            </a:extLst>
          </p:cNvPr>
          <p:cNvSpPr>
            <a:spLocks noGrp="1"/>
          </p:cNvSpPr>
          <p:nvPr/>
        </p:nvSpPr>
        <p:spPr>
          <a:xfrm>
            <a:off x="4438650" y="22860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3-6 months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025AC3D-00C2-416C-8467-13CEE5E0E71B}"/>
              </a:ext>
            </a:extLst>
          </p:cNvPr>
          <p:cNvSpPr>
            <a:spLocks noGrp="1"/>
          </p:cNvSpPr>
          <p:nvPr/>
        </p:nvSpPr>
        <p:spPr>
          <a:xfrm>
            <a:off x="4457700" y="2781300"/>
            <a:ext cx="95250" cy="952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D82598-23F6-4544-98ED-C792BB0B6E6A}"/>
              </a:ext>
            </a:extLst>
          </p:cNvPr>
          <p:cNvSpPr>
            <a:spLocks noGrp="1"/>
          </p:cNvSpPr>
          <p:nvPr/>
        </p:nvSpPr>
        <p:spPr>
          <a:xfrm>
            <a:off x="4667250" y="27051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Team plans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C8C4378-04A7-4B86-83ED-DA62E617AEB3}"/>
              </a:ext>
            </a:extLst>
          </p:cNvPr>
          <p:cNvSpPr>
            <a:spLocks noGrp="1"/>
          </p:cNvSpPr>
          <p:nvPr/>
        </p:nvSpPr>
        <p:spPr>
          <a:xfrm>
            <a:off x="4457700" y="3133725"/>
            <a:ext cx="95250" cy="952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15D960-0EDB-4F1E-9CDE-3C964760C708}"/>
              </a:ext>
            </a:extLst>
          </p:cNvPr>
          <p:cNvSpPr>
            <a:spLocks noGrp="1"/>
          </p:cNvSpPr>
          <p:nvPr/>
        </p:nvSpPr>
        <p:spPr>
          <a:xfrm>
            <a:off x="4667250" y="305752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Source scoring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205A703-A0D9-4ED1-9873-621BCDD314BD}"/>
              </a:ext>
            </a:extLst>
          </p:cNvPr>
          <p:cNvSpPr>
            <a:spLocks noGrp="1"/>
          </p:cNvSpPr>
          <p:nvPr/>
        </p:nvSpPr>
        <p:spPr>
          <a:xfrm>
            <a:off x="4457700" y="3486150"/>
            <a:ext cx="95250" cy="952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653A0BD-BA29-46B7-8BF2-94D359B26C98}"/>
              </a:ext>
            </a:extLst>
          </p:cNvPr>
          <p:cNvSpPr>
            <a:spLocks noGrp="1"/>
          </p:cNvSpPr>
          <p:nvPr/>
        </p:nvSpPr>
        <p:spPr>
          <a:xfrm>
            <a:off x="4667250" y="3409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Grok route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105F2D-8E04-4C30-9D5F-86176C85A372}"/>
              </a:ext>
            </a:extLst>
          </p:cNvPr>
          <p:cNvSpPr>
            <a:spLocks noGrp="1"/>
          </p:cNvSpPr>
          <p:nvPr/>
        </p:nvSpPr>
        <p:spPr>
          <a:xfrm>
            <a:off x="4457700" y="3838575"/>
            <a:ext cx="95250" cy="952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16E83E6-4F8D-44FA-89DB-D019748AF395}"/>
              </a:ext>
            </a:extLst>
          </p:cNvPr>
          <p:cNvSpPr>
            <a:spLocks noGrp="1"/>
          </p:cNvSpPr>
          <p:nvPr/>
        </p:nvSpPr>
        <p:spPr>
          <a:xfrm>
            <a:off x="4667250" y="37623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Referral loop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CC96B63-662C-4BE6-A022-DE487BE9403D}"/>
              </a:ext>
            </a:extLst>
          </p:cNvPr>
          <p:cNvSpPr>
            <a:spLocks noGrp="1"/>
          </p:cNvSpPr>
          <p:nvPr/>
        </p:nvSpPr>
        <p:spPr>
          <a:xfrm>
            <a:off x="4457700" y="4191000"/>
            <a:ext cx="95250" cy="952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E0A6BB5-6363-443F-AB56-7D8DF89897C6}"/>
              </a:ext>
            </a:extLst>
          </p:cNvPr>
          <p:cNvSpPr>
            <a:spLocks noGrp="1"/>
          </p:cNvSpPr>
          <p:nvPr/>
        </p:nvSpPr>
        <p:spPr>
          <a:xfrm>
            <a:off x="4667250" y="41148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Creator templates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4DB728-E677-46D5-8A78-A11090EF1129}"/>
              </a:ext>
            </a:extLst>
          </p:cNvPr>
          <p:cNvSpPr>
            <a:spLocks noGrp="1"/>
          </p:cNvSpPr>
          <p:nvPr/>
        </p:nvSpPr>
        <p:spPr>
          <a:xfrm>
            <a:off x="7543800" y="2000250"/>
            <a:ext cx="2762250" cy="28575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D21C32B-E7AC-4204-A000-DD498F696D06}"/>
              </a:ext>
            </a:extLst>
          </p:cNvPr>
          <p:cNvSpPr>
            <a:spLocks noGrp="1"/>
          </p:cNvSpPr>
          <p:nvPr/>
        </p:nvSpPr>
        <p:spPr>
          <a:xfrm>
            <a:off x="7543800" y="2000250"/>
            <a:ext cx="2762250" cy="66675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320A1A5-EF9A-4082-B21D-D61FB16AF159}"/>
              </a:ext>
            </a:extLst>
          </p:cNvPr>
          <p:cNvSpPr>
            <a:spLocks noGrp="1"/>
          </p:cNvSpPr>
          <p:nvPr/>
        </p:nvSpPr>
        <p:spPr>
          <a:xfrm>
            <a:off x="7715250" y="2286000"/>
            <a:ext cx="2286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6-12 months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CBF1392-8BC6-46B4-972F-D002164ADADD}"/>
              </a:ext>
            </a:extLst>
          </p:cNvPr>
          <p:cNvSpPr>
            <a:spLocks noGrp="1"/>
          </p:cNvSpPr>
          <p:nvPr/>
        </p:nvSpPr>
        <p:spPr>
          <a:xfrm>
            <a:off x="7734300" y="2781300"/>
            <a:ext cx="95250" cy="952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5018E45-3EFC-400E-8BD2-9B136F22E6DE}"/>
              </a:ext>
            </a:extLst>
          </p:cNvPr>
          <p:cNvSpPr>
            <a:spLocks noGrp="1"/>
          </p:cNvSpPr>
          <p:nvPr/>
        </p:nvSpPr>
        <p:spPr>
          <a:xfrm>
            <a:off x="7943850" y="27051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Enterprise admin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73AEF10-7980-491F-8C2B-1E0D0467C565}"/>
              </a:ext>
            </a:extLst>
          </p:cNvPr>
          <p:cNvSpPr>
            <a:spLocks noGrp="1"/>
          </p:cNvSpPr>
          <p:nvPr/>
        </p:nvSpPr>
        <p:spPr>
          <a:xfrm>
            <a:off x="7734300" y="3133725"/>
            <a:ext cx="95250" cy="952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C761F199-8E77-44B3-A853-D152B2262A06}"/>
              </a:ext>
            </a:extLst>
          </p:cNvPr>
          <p:cNvSpPr>
            <a:spLocks noGrp="1"/>
          </p:cNvSpPr>
          <p:nvPr/>
        </p:nvSpPr>
        <p:spPr>
          <a:xfrm>
            <a:off x="7943850" y="305752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API access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B9EC0AB-4808-46EB-89DE-4795B21C0AD4}"/>
              </a:ext>
            </a:extLst>
          </p:cNvPr>
          <p:cNvSpPr>
            <a:spLocks noGrp="1"/>
          </p:cNvSpPr>
          <p:nvPr/>
        </p:nvSpPr>
        <p:spPr>
          <a:xfrm>
            <a:off x="7734300" y="3486150"/>
            <a:ext cx="95250" cy="952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546D2E3-CA09-4D41-A6DB-FE957B29D283}"/>
              </a:ext>
            </a:extLst>
          </p:cNvPr>
          <p:cNvSpPr>
            <a:spLocks noGrp="1"/>
          </p:cNvSpPr>
          <p:nvPr/>
        </p:nvSpPr>
        <p:spPr>
          <a:xfrm>
            <a:off x="7943850" y="340995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White-label pilots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922C649-E9DC-41CA-B9CF-E1A622C434CD}"/>
              </a:ext>
            </a:extLst>
          </p:cNvPr>
          <p:cNvSpPr>
            <a:spLocks noGrp="1"/>
          </p:cNvSpPr>
          <p:nvPr/>
        </p:nvSpPr>
        <p:spPr>
          <a:xfrm>
            <a:off x="7734300" y="3838575"/>
            <a:ext cx="95250" cy="952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302B669-7277-4A0E-AF41-5DC9D492C9CF}"/>
              </a:ext>
            </a:extLst>
          </p:cNvPr>
          <p:cNvSpPr>
            <a:spLocks noGrp="1"/>
          </p:cNvSpPr>
          <p:nvPr/>
        </p:nvSpPr>
        <p:spPr>
          <a:xfrm>
            <a:off x="7943850" y="3762375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Compliance posture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6717B79-7C02-4D0A-9089-C50BEA6DE12D}"/>
              </a:ext>
            </a:extLst>
          </p:cNvPr>
          <p:cNvSpPr>
            <a:spLocks noGrp="1"/>
          </p:cNvSpPr>
          <p:nvPr/>
        </p:nvSpPr>
        <p:spPr>
          <a:xfrm>
            <a:off x="7734300" y="4191000"/>
            <a:ext cx="95250" cy="952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5B8440F-F33F-4C59-A0C4-0D65A687E911}"/>
              </a:ext>
            </a:extLst>
          </p:cNvPr>
          <p:cNvSpPr>
            <a:spLocks noGrp="1"/>
          </p:cNvSpPr>
          <p:nvPr/>
        </p:nvSpPr>
        <p:spPr>
          <a:xfrm>
            <a:off x="7943850" y="4114800"/>
            <a:ext cx="2095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Global pricing</a:t>
            </a:r>
          </a:p>
        </p:txBody>
      </p:sp>
    </p:spTree>
    <p:extLst>
      <p:ext uri="{BB962C8B-B14F-4D97-AF65-F5344CB8AC3E}">
        <p14:creationId xmlns:p14="http://schemas.microsoft.com/office/powerpoint/2010/main" val="4316152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bg">
            <a:extLst>
              <a:ext uri="{FF2B5EF4-FFF2-40B4-BE49-F238E27FC236}">
                <a16:creationId xmlns:a16="http://schemas.microsoft.com/office/drawing/2014/main" id="{6BF80077-CFAC-4CCB-A0C8-CAEEBB35CC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F0F8B439-D80A-46E4-806C-8E0A85F6018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3A768F08-9361-4645-9320-A74519AB2F7F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AF98109B-D73D-478B-B788-9299D981091A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71499EA9-1938-4002-AE3E-34C741E51B01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A45A3673-6B2D-47BE-9F57-EB1FBF657AB5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158D1974-A585-4994-9F35-0AF151CC0F1C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197215D1-F082-4C4F-B253-683DCFB09604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FAD353FF-03F1-4B0D-A7E8-AFE0FBFE7E26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B39FBE8B-1174-44F3-8EC7-507418350F0F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424BBF6F-7D67-40D3-A948-48A39119C66F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B6959397-42B9-4052-8610-EA092C6EE9FF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19">
            <a:extLst>
              <a:ext uri="{FF2B5EF4-FFF2-40B4-BE49-F238E27FC236}">
                <a16:creationId xmlns:a16="http://schemas.microsoft.com/office/drawing/2014/main" id="{FC04293C-7ACA-4E4C-BB3F-1E84F9AFECDF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19">
            <a:extLst>
              <a:ext uri="{FF2B5EF4-FFF2-40B4-BE49-F238E27FC236}">
                <a16:creationId xmlns:a16="http://schemas.microsoft.com/office/drawing/2014/main" id="{D73FE4FE-B1F6-460B-939E-AC9F883991CE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TARGET AUDIENCE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A966977-B7BF-4F41-888D-5A9F6E86593F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Aria can enter through consumers, then expand into teams.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7FEF573C-C37E-4BFE-87B1-AE6D27BA5521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3AAF93-FF6C-4320-B04F-07E1FB74149A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8BF6F6C-281B-4078-BFC6-02E7D11C8571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88BAC9-BD15-42F0-8101-34C58772D3E6}"/>
              </a:ext>
            </a:extLst>
          </p:cNvPr>
          <p:cNvSpPr>
            <a:spLocks noGrp="1"/>
          </p:cNvSpPr>
          <p:nvPr/>
        </p:nvSpPr>
        <p:spPr>
          <a:xfrm>
            <a:off x="762000" y="1809750"/>
            <a:ext cx="10172700" cy="587375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393D5D1-63FA-413D-87A9-9723D0DF7686}"/>
              </a:ext>
            </a:extLst>
          </p:cNvPr>
          <p:cNvSpPr>
            <a:spLocks noGrp="1"/>
          </p:cNvSpPr>
          <p:nvPr/>
        </p:nvSpPr>
        <p:spPr>
          <a:xfrm>
            <a:off x="847725" y="1933575"/>
            <a:ext cx="14859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Segment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243A38-4033-4ABC-972C-516279D45059}"/>
              </a:ext>
            </a:extLst>
          </p:cNvPr>
          <p:cNvSpPr>
            <a:spLocks noGrp="1"/>
          </p:cNvSpPr>
          <p:nvPr/>
        </p:nvSpPr>
        <p:spPr>
          <a:xfrm>
            <a:off x="2466975" y="1933575"/>
            <a:ext cx="32956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Primary job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DF7849-3A99-4A2A-9A92-2FA9B250D684}"/>
              </a:ext>
            </a:extLst>
          </p:cNvPr>
          <p:cNvSpPr>
            <a:spLocks noGrp="1"/>
          </p:cNvSpPr>
          <p:nvPr/>
        </p:nvSpPr>
        <p:spPr>
          <a:xfrm>
            <a:off x="5895975" y="1933575"/>
            <a:ext cx="15811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Willingness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844A1AA-C876-4D72-AD24-D2E6687D6011}"/>
              </a:ext>
            </a:extLst>
          </p:cNvPr>
          <p:cNvSpPr>
            <a:spLocks noGrp="1"/>
          </p:cNvSpPr>
          <p:nvPr/>
        </p:nvSpPr>
        <p:spPr>
          <a:xfrm>
            <a:off x="7610475" y="1933575"/>
            <a:ext cx="3276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Expansion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239352E-8DDB-4178-8F2C-699472E6C529}"/>
              </a:ext>
            </a:extLst>
          </p:cNvPr>
          <p:cNvSpPr>
            <a:spLocks noGrp="1"/>
          </p:cNvSpPr>
          <p:nvPr/>
        </p:nvSpPr>
        <p:spPr>
          <a:xfrm>
            <a:off x="762000" y="2397125"/>
            <a:ext cx="10172700" cy="587375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B94AFD-FC4F-48BC-8E65-6780A3D9C937}"/>
              </a:ext>
            </a:extLst>
          </p:cNvPr>
          <p:cNvSpPr>
            <a:spLocks noGrp="1"/>
          </p:cNvSpPr>
          <p:nvPr/>
        </p:nvSpPr>
        <p:spPr>
          <a:xfrm>
            <a:off x="847725" y="2520950"/>
            <a:ext cx="14859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Students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207CF4D-9768-4F50-9C42-9C08FEB92CA9}"/>
              </a:ext>
            </a:extLst>
          </p:cNvPr>
          <p:cNvSpPr>
            <a:spLocks noGrp="1"/>
          </p:cNvSpPr>
          <p:nvPr/>
        </p:nvSpPr>
        <p:spPr>
          <a:xfrm>
            <a:off x="2466975" y="2520950"/>
            <a:ext cx="32956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Learn and summarize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043FC8B-BDC3-4EDD-96D4-286E831DF45D}"/>
              </a:ext>
            </a:extLst>
          </p:cNvPr>
          <p:cNvSpPr>
            <a:spLocks noGrp="1"/>
          </p:cNvSpPr>
          <p:nvPr/>
        </p:nvSpPr>
        <p:spPr>
          <a:xfrm>
            <a:off x="5895975" y="2520950"/>
            <a:ext cx="15811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Medium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325A68-F533-42BA-9FC0-2FEA40D9C9ED}"/>
              </a:ext>
            </a:extLst>
          </p:cNvPr>
          <p:cNvSpPr>
            <a:spLocks noGrp="1"/>
          </p:cNvSpPr>
          <p:nvPr/>
        </p:nvSpPr>
        <p:spPr>
          <a:xfrm>
            <a:off x="7610475" y="2520950"/>
            <a:ext cx="3276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Campus ambassadors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944AD43-A760-4DC8-99A2-547F53C695E6}"/>
              </a:ext>
            </a:extLst>
          </p:cNvPr>
          <p:cNvSpPr>
            <a:spLocks noGrp="1"/>
          </p:cNvSpPr>
          <p:nvPr/>
        </p:nvSpPr>
        <p:spPr>
          <a:xfrm>
            <a:off x="762000" y="2984500"/>
            <a:ext cx="10172700" cy="587375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4901723-3E44-4501-AC6A-C99DBBD7AD28}"/>
              </a:ext>
            </a:extLst>
          </p:cNvPr>
          <p:cNvSpPr>
            <a:spLocks noGrp="1"/>
          </p:cNvSpPr>
          <p:nvPr/>
        </p:nvSpPr>
        <p:spPr>
          <a:xfrm>
            <a:off x="847725" y="3108325"/>
            <a:ext cx="14859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Professionals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B3A591-748D-41FE-A497-E5E3A4F714A0}"/>
              </a:ext>
            </a:extLst>
          </p:cNvPr>
          <p:cNvSpPr>
            <a:spLocks noGrp="1"/>
          </p:cNvSpPr>
          <p:nvPr/>
        </p:nvSpPr>
        <p:spPr>
          <a:xfrm>
            <a:off x="2466975" y="3108325"/>
            <a:ext cx="32956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Draft and decide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836E5AD-C482-49B2-B183-02EF40D5A4BA}"/>
              </a:ext>
            </a:extLst>
          </p:cNvPr>
          <p:cNvSpPr>
            <a:spLocks noGrp="1"/>
          </p:cNvSpPr>
          <p:nvPr/>
        </p:nvSpPr>
        <p:spPr>
          <a:xfrm>
            <a:off x="5895975" y="3108325"/>
            <a:ext cx="15811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9C927FE-D800-4761-8568-B76FE99EE76E}"/>
              </a:ext>
            </a:extLst>
          </p:cNvPr>
          <p:cNvSpPr>
            <a:spLocks noGrp="1"/>
          </p:cNvSpPr>
          <p:nvPr/>
        </p:nvSpPr>
        <p:spPr>
          <a:xfrm>
            <a:off x="7610475" y="3108325"/>
            <a:ext cx="3276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Team seats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E0B75F5-E242-48DA-B51D-E528A212A7E3}"/>
              </a:ext>
            </a:extLst>
          </p:cNvPr>
          <p:cNvSpPr>
            <a:spLocks noGrp="1"/>
          </p:cNvSpPr>
          <p:nvPr/>
        </p:nvSpPr>
        <p:spPr>
          <a:xfrm>
            <a:off x="762000" y="3571875"/>
            <a:ext cx="10172700" cy="587375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0AF7C8-131B-4B83-9E2B-237CCA490A83}"/>
              </a:ext>
            </a:extLst>
          </p:cNvPr>
          <p:cNvSpPr>
            <a:spLocks noGrp="1"/>
          </p:cNvSpPr>
          <p:nvPr/>
        </p:nvSpPr>
        <p:spPr>
          <a:xfrm>
            <a:off x="847725" y="3695700"/>
            <a:ext cx="14859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Researchers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744E70-5DD7-4EE8-9AA4-A26B1693C17B}"/>
              </a:ext>
            </a:extLst>
          </p:cNvPr>
          <p:cNvSpPr>
            <a:spLocks noGrp="1"/>
          </p:cNvSpPr>
          <p:nvPr/>
        </p:nvSpPr>
        <p:spPr>
          <a:xfrm>
            <a:off x="2466975" y="3695700"/>
            <a:ext cx="32956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Source-backed synthesis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1AB7AA-E2EF-47C2-AE74-A50759187557}"/>
              </a:ext>
            </a:extLst>
          </p:cNvPr>
          <p:cNvSpPr>
            <a:spLocks noGrp="1"/>
          </p:cNvSpPr>
          <p:nvPr/>
        </p:nvSpPr>
        <p:spPr>
          <a:xfrm>
            <a:off x="5895975" y="3695700"/>
            <a:ext cx="15811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511D47A-D5A8-4A46-844D-AEA84729D798}"/>
              </a:ext>
            </a:extLst>
          </p:cNvPr>
          <p:cNvSpPr>
            <a:spLocks noGrp="1"/>
          </p:cNvSpPr>
          <p:nvPr/>
        </p:nvSpPr>
        <p:spPr>
          <a:xfrm>
            <a:off x="7610475" y="3695700"/>
            <a:ext cx="3276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Institution plans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0402B58-559D-4BBF-9C19-25051F28D9C6}"/>
              </a:ext>
            </a:extLst>
          </p:cNvPr>
          <p:cNvSpPr>
            <a:spLocks noGrp="1"/>
          </p:cNvSpPr>
          <p:nvPr/>
        </p:nvSpPr>
        <p:spPr>
          <a:xfrm>
            <a:off x="762000" y="4159250"/>
            <a:ext cx="10172700" cy="587375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E1C9943-93AA-4C85-AD6E-8F51F7A45C26}"/>
              </a:ext>
            </a:extLst>
          </p:cNvPr>
          <p:cNvSpPr>
            <a:spLocks noGrp="1"/>
          </p:cNvSpPr>
          <p:nvPr/>
        </p:nvSpPr>
        <p:spPr>
          <a:xfrm>
            <a:off x="847725" y="4283075"/>
            <a:ext cx="14859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Founders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7C01898-F014-40BD-AFAC-918B88E2C970}"/>
              </a:ext>
            </a:extLst>
          </p:cNvPr>
          <p:cNvSpPr>
            <a:spLocks noGrp="1"/>
          </p:cNvSpPr>
          <p:nvPr/>
        </p:nvSpPr>
        <p:spPr>
          <a:xfrm>
            <a:off x="2466975" y="4283075"/>
            <a:ext cx="32956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Strategy and GTM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BCEBF77-0DC8-4EE7-AB90-E16C798819DA}"/>
              </a:ext>
            </a:extLst>
          </p:cNvPr>
          <p:cNvSpPr>
            <a:spLocks noGrp="1"/>
          </p:cNvSpPr>
          <p:nvPr/>
        </p:nvSpPr>
        <p:spPr>
          <a:xfrm>
            <a:off x="5895975" y="4283075"/>
            <a:ext cx="15811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High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321639-AA41-4348-AE74-EA2F9B0AC4E3}"/>
              </a:ext>
            </a:extLst>
          </p:cNvPr>
          <p:cNvSpPr>
            <a:spLocks noGrp="1"/>
          </p:cNvSpPr>
          <p:nvPr/>
        </p:nvSpPr>
        <p:spPr>
          <a:xfrm>
            <a:off x="7610475" y="4283075"/>
            <a:ext cx="3276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Agency referrals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62F820C-9BCD-4053-BC3D-2B21C91EBBC0}"/>
              </a:ext>
            </a:extLst>
          </p:cNvPr>
          <p:cNvSpPr>
            <a:spLocks noGrp="1"/>
          </p:cNvSpPr>
          <p:nvPr/>
        </p:nvSpPr>
        <p:spPr>
          <a:xfrm>
            <a:off x="762000" y="4746625"/>
            <a:ext cx="10172700" cy="587375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2AEC89B-A1F8-4F0D-996C-5DB7091C31CB}"/>
              </a:ext>
            </a:extLst>
          </p:cNvPr>
          <p:cNvSpPr>
            <a:spLocks noGrp="1"/>
          </p:cNvSpPr>
          <p:nvPr/>
        </p:nvSpPr>
        <p:spPr>
          <a:xfrm>
            <a:off x="847725" y="4870450"/>
            <a:ext cx="14859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Enterprises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1BD7796-B2AB-425B-ACCA-98AB451E1E6A}"/>
              </a:ext>
            </a:extLst>
          </p:cNvPr>
          <p:cNvSpPr>
            <a:spLocks noGrp="1"/>
          </p:cNvSpPr>
          <p:nvPr/>
        </p:nvSpPr>
        <p:spPr>
          <a:xfrm>
            <a:off x="2466975" y="4870450"/>
            <a:ext cx="32956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Controlled AI workflows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FCAC8DB-D22E-4F8E-A4BF-9771A2938B30}"/>
              </a:ext>
            </a:extLst>
          </p:cNvPr>
          <p:cNvSpPr>
            <a:spLocks noGrp="1"/>
          </p:cNvSpPr>
          <p:nvPr/>
        </p:nvSpPr>
        <p:spPr>
          <a:xfrm>
            <a:off x="5895975" y="4870450"/>
            <a:ext cx="15811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Very high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07EE5A-60FE-4796-A37B-D3EA7C90D26E}"/>
              </a:ext>
            </a:extLst>
          </p:cNvPr>
          <p:cNvSpPr>
            <a:spLocks noGrp="1"/>
          </p:cNvSpPr>
          <p:nvPr/>
        </p:nvSpPr>
        <p:spPr>
          <a:xfrm>
            <a:off x="7610475" y="4870450"/>
            <a:ext cx="3276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SSO and audit logs</a:t>
            </a:r>
          </a:p>
        </p:txBody>
      </p:sp>
    </p:spTree>
    <p:extLst>
      <p:ext uri="{BB962C8B-B14F-4D97-AF65-F5344CB8AC3E}">
        <p14:creationId xmlns:p14="http://schemas.microsoft.com/office/powerpoint/2010/main" val="2060626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g">
            <a:extLst>
              <a:ext uri="{FF2B5EF4-FFF2-40B4-BE49-F238E27FC236}">
                <a16:creationId xmlns:a16="http://schemas.microsoft.com/office/drawing/2014/main" id="{50A94DD2-0B4F-4AA9-BA96-2F6D7269AB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5685111A-B37C-4147-A494-4B64A7F95B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B9A8C215-87A0-4BE4-B013-A6B0DA557DC6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D67051B1-1B3C-4170-AB05-56DDB7E58334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9FCFCE4F-D181-4EB7-BB8C-4CC0558F29BB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AB002894-77B1-43CA-A54D-46E31CD3FA85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358C184B-C46D-4E03-8934-EE735F945CD1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7E7E514B-00DF-4880-8EBF-BC50597B7B1E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4F9055B2-282A-43A9-8D86-055E860B69F4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7178BB26-529C-4BBA-88DD-E0FCAB56E528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CCA68C5A-194C-46A6-B250-9AA23CD2E833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CC515186-0649-4207-B3BE-2F7F9D3C8B07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0">
            <a:extLst>
              <a:ext uri="{FF2B5EF4-FFF2-40B4-BE49-F238E27FC236}">
                <a16:creationId xmlns:a16="http://schemas.microsoft.com/office/drawing/2014/main" id="{2829CC7B-EE3A-4B26-B362-ACD24BEDB2B9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0">
            <a:extLst>
              <a:ext uri="{FF2B5EF4-FFF2-40B4-BE49-F238E27FC236}">
                <a16:creationId xmlns:a16="http://schemas.microsoft.com/office/drawing/2014/main" id="{DA869534-734F-4A89-8B02-2BF012A4684D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MARKET OPPORTUNITY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FC1F0B-1C2A-48B4-AD11-E4A48F675BBB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GenAI market is expanding fast enough for focused workflow players to matter.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1C14295F-C0BF-439D-8EBB-5B62638BFCF2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8EF3259-A54B-4925-A60C-2CBE0BEE435E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F5911B-845D-44E3-9799-75BBB80681DE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86F611-56BB-45F3-B538-DD9A4BD5AF9D}"/>
              </a:ext>
            </a:extLst>
          </p:cNvPr>
          <p:cNvSpPr>
            <a:spLocks noGrp="1"/>
          </p:cNvSpPr>
          <p:nvPr/>
        </p:nvSpPr>
        <p:spPr>
          <a:xfrm>
            <a:off x="1314450" y="4502007"/>
            <a:ext cx="1390650" cy="260493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483D42-04DD-4A0D-A766-E25CAD788ACF}"/>
              </a:ext>
            </a:extLst>
          </p:cNvPr>
          <p:cNvSpPr>
            <a:spLocks noGrp="1"/>
          </p:cNvSpPr>
          <p:nvPr/>
        </p:nvSpPr>
        <p:spPr>
          <a:xfrm>
            <a:off x="1143000" y="4178157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USD 29.6B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082E74-95EF-47CA-BD3F-FED433994502}"/>
              </a:ext>
            </a:extLst>
          </p:cNvPr>
          <p:cNvSpPr>
            <a:spLocks noGrp="1"/>
          </p:cNvSpPr>
          <p:nvPr/>
        </p:nvSpPr>
        <p:spPr>
          <a:xfrm>
            <a:off x="1314450" y="49530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9FB5B1E-3764-427F-9954-7FB1BD048DF8}"/>
              </a:ext>
            </a:extLst>
          </p:cNvPr>
          <p:cNvSpPr>
            <a:spLocks noGrp="1"/>
          </p:cNvSpPr>
          <p:nvPr/>
        </p:nvSpPr>
        <p:spPr>
          <a:xfrm>
            <a:off x="3790950" y="1905000"/>
            <a:ext cx="1390650" cy="28575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9B392F-C919-47E8-A037-3654E5F8A239}"/>
              </a:ext>
            </a:extLst>
          </p:cNvPr>
          <p:cNvSpPr>
            <a:spLocks noGrp="1"/>
          </p:cNvSpPr>
          <p:nvPr/>
        </p:nvSpPr>
        <p:spPr>
          <a:xfrm>
            <a:off x="3619500" y="15811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USD 324.7B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B8C5DAF-8B57-4465-91D3-8D8B28E39011}"/>
              </a:ext>
            </a:extLst>
          </p:cNvPr>
          <p:cNvSpPr>
            <a:spLocks noGrp="1"/>
          </p:cNvSpPr>
          <p:nvPr/>
        </p:nvSpPr>
        <p:spPr>
          <a:xfrm>
            <a:off x="3790950" y="4953000"/>
            <a:ext cx="13906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2033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CCD128C-DDED-4239-84CE-44D3C8BF5282}"/>
              </a:ext>
            </a:extLst>
          </p:cNvPr>
          <p:cNvSpPr>
            <a:spLocks noGrp="1"/>
          </p:cNvSpPr>
          <p:nvPr/>
        </p:nvSpPr>
        <p:spPr>
          <a:xfrm>
            <a:off x="6858000" y="1943100"/>
            <a:ext cx="2552700" cy="6667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D0AB67D-E2C0-41FC-B2B0-B178FCEAEF24}"/>
              </a:ext>
            </a:extLst>
          </p:cNvPr>
          <p:cNvSpPr>
            <a:spLocks noGrp="1"/>
          </p:cNvSpPr>
          <p:nvPr/>
        </p:nvSpPr>
        <p:spPr>
          <a:xfrm>
            <a:off x="7067550" y="2066925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40.8%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6FAB8D-FCFE-4DC0-8104-205E491BFB90}"/>
              </a:ext>
            </a:extLst>
          </p:cNvPr>
          <p:cNvSpPr>
            <a:spLocks noGrp="1"/>
          </p:cNvSpPr>
          <p:nvPr/>
        </p:nvSpPr>
        <p:spPr>
          <a:xfrm>
            <a:off x="8001000" y="2085975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GenAI CAGR 2026-2033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BED8495-FCB5-40C0-B6FA-75481D98D147}"/>
              </a:ext>
            </a:extLst>
          </p:cNvPr>
          <p:cNvSpPr>
            <a:spLocks noGrp="1"/>
          </p:cNvSpPr>
          <p:nvPr/>
        </p:nvSpPr>
        <p:spPr>
          <a:xfrm>
            <a:off x="6858000" y="2933700"/>
            <a:ext cx="2552700" cy="6667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CC1423-81BD-47B7-A4C3-D2C351D0FB4C}"/>
              </a:ext>
            </a:extLst>
          </p:cNvPr>
          <p:cNvSpPr>
            <a:spLocks noGrp="1"/>
          </p:cNvSpPr>
          <p:nvPr/>
        </p:nvSpPr>
        <p:spPr>
          <a:xfrm>
            <a:off x="7067550" y="3057525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88%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839A86-7B14-456B-83D5-F87B94EF9DD9}"/>
              </a:ext>
            </a:extLst>
          </p:cNvPr>
          <p:cNvSpPr>
            <a:spLocks noGrp="1"/>
          </p:cNvSpPr>
          <p:nvPr/>
        </p:nvSpPr>
        <p:spPr>
          <a:xfrm>
            <a:off x="8001000" y="3076575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regular AI use in at least one function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F7F324-461A-47B9-898A-9C189A538810}"/>
              </a:ext>
            </a:extLst>
          </p:cNvPr>
          <p:cNvSpPr>
            <a:spLocks noGrp="1"/>
          </p:cNvSpPr>
          <p:nvPr/>
        </p:nvSpPr>
        <p:spPr>
          <a:xfrm>
            <a:off x="6858000" y="3924300"/>
            <a:ext cx="2552700" cy="6667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9D01032-0E34-4F9D-A262-758218155ADE}"/>
              </a:ext>
            </a:extLst>
          </p:cNvPr>
          <p:cNvSpPr>
            <a:spLocks noGrp="1"/>
          </p:cNvSpPr>
          <p:nvPr/>
        </p:nvSpPr>
        <p:spPr>
          <a:xfrm>
            <a:off x="7067550" y="4048125"/>
            <a:ext cx="857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23%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E4D06E-9642-411A-B631-A490DF6FB5C2}"/>
              </a:ext>
            </a:extLst>
          </p:cNvPr>
          <p:cNvSpPr>
            <a:spLocks noGrp="1"/>
          </p:cNvSpPr>
          <p:nvPr/>
        </p:nvSpPr>
        <p:spPr>
          <a:xfrm>
            <a:off x="8001000" y="4067175"/>
            <a:ext cx="1200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agentic AI scaling somewhere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1A26CAC-3BCE-4008-94FF-CF1FED2A6710}"/>
              </a:ext>
            </a:extLst>
          </p:cNvPr>
          <p:cNvSpPr>
            <a:spLocks noGrp="1"/>
          </p:cNvSpPr>
          <p:nvPr/>
        </p:nvSpPr>
        <p:spPr>
          <a:xfrm>
            <a:off x="1371600" y="5619750"/>
            <a:ext cx="8286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Aria does not need to own foundation models; it needs to own the user workflow, trust layer, and credit economics around them.</a:t>
            </a:r>
          </a:p>
        </p:txBody>
      </p:sp>
    </p:spTree>
    <p:extLst>
      <p:ext uri="{BB962C8B-B14F-4D97-AF65-F5344CB8AC3E}">
        <p14:creationId xmlns:p14="http://schemas.microsoft.com/office/powerpoint/2010/main" val="12610755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g">
            <a:extLst>
              <a:ext uri="{FF2B5EF4-FFF2-40B4-BE49-F238E27FC236}">
                <a16:creationId xmlns:a16="http://schemas.microsoft.com/office/drawing/2014/main" id="{CAFFC3C5-BCC5-4BA8-9375-14D727F2FD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0F6EF35C-BF3B-4B24-A982-BCADC8737F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77F21DF7-C38E-4300-AC05-0C1D621CAC63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896B6941-8B01-4321-9DAB-2DAAC137E9F2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14EEFA22-3FE0-41A7-80D3-B74EEAFE6460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4FB563DE-3655-418A-AB98-FD4ACFE061F3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0DCB1B73-82A5-4598-B104-1B74C718EBBB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42D4DA33-9943-4D31-8708-65D2B6B8EFBB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85D96964-3A55-4E0B-A3B9-E6ABBEE7470F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7A7925BC-A683-4D5F-81BA-12EBB1DF13E2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DD3C684D-A483-4590-B527-DE62BDFCDC36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83C7FD51-5407-403D-91FB-2696CE1A7065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1">
            <a:extLst>
              <a:ext uri="{FF2B5EF4-FFF2-40B4-BE49-F238E27FC236}">
                <a16:creationId xmlns:a16="http://schemas.microsoft.com/office/drawing/2014/main" id="{59F971C4-3D95-4678-A099-DB311F16D596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1">
            <a:extLst>
              <a:ext uri="{FF2B5EF4-FFF2-40B4-BE49-F238E27FC236}">
                <a16:creationId xmlns:a16="http://schemas.microsoft.com/office/drawing/2014/main" id="{0A4CC88E-E2B6-4D34-A04B-9B9B92F09FC0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COMPETITOR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D13259-DBD1-458D-87E7-2150028373DC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Aria's opening is between chatbots, answer engines, and model marketplaces.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8DCD88E2-C038-4CD3-BFD5-0B096ADA49F5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2E69E8-304D-4A81-973A-C1C883EFB67F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C97C03-07E6-4B01-8D2A-F1F2314DAB66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60669F-56D2-4F0D-93C9-460A0B6FD0B1}"/>
              </a:ext>
            </a:extLst>
          </p:cNvPr>
          <p:cNvSpPr>
            <a:spLocks noGrp="1"/>
          </p:cNvSpPr>
          <p:nvPr/>
        </p:nvSpPr>
        <p:spPr>
          <a:xfrm>
            <a:off x="533400" y="1733550"/>
            <a:ext cx="10934700" cy="471488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15C9A7-AE2A-485A-B9B8-44046C2D459C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105727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2C2B46-A336-4530-A0D3-09071BB0C750}"/>
              </a:ext>
            </a:extLst>
          </p:cNvPr>
          <p:cNvSpPr>
            <a:spLocks noGrp="1"/>
          </p:cNvSpPr>
          <p:nvPr/>
        </p:nvSpPr>
        <p:spPr>
          <a:xfrm>
            <a:off x="1809750" y="1857375"/>
            <a:ext cx="2343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Core strength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7C9198-8176-453C-8B07-7CE0DF965FCE}"/>
              </a:ext>
            </a:extLst>
          </p:cNvPr>
          <p:cNvSpPr>
            <a:spLocks noGrp="1"/>
          </p:cNvSpPr>
          <p:nvPr/>
        </p:nvSpPr>
        <p:spPr>
          <a:xfrm>
            <a:off x="4286250" y="1857375"/>
            <a:ext cx="148590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Source trust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78767C2-2A12-4C47-AA3E-7D90FF3513C9}"/>
              </a:ext>
            </a:extLst>
          </p:cNvPr>
          <p:cNvSpPr>
            <a:spLocks noGrp="1"/>
          </p:cNvSpPr>
          <p:nvPr/>
        </p:nvSpPr>
        <p:spPr>
          <a:xfrm>
            <a:off x="5905500" y="1857375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Multi-model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CD781A-1BE4-4830-96A8-4B52D05B39E3}"/>
              </a:ext>
            </a:extLst>
          </p:cNvPr>
          <p:cNvSpPr>
            <a:spLocks noGrp="1"/>
          </p:cNvSpPr>
          <p:nvPr/>
        </p:nvSpPr>
        <p:spPr>
          <a:xfrm>
            <a:off x="7381875" y="1857375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Judge answer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52AEED-C314-40C6-AF7F-A465212E7891}"/>
              </a:ext>
            </a:extLst>
          </p:cNvPr>
          <p:cNvSpPr>
            <a:spLocks noGrp="1"/>
          </p:cNvSpPr>
          <p:nvPr/>
        </p:nvSpPr>
        <p:spPr>
          <a:xfrm>
            <a:off x="8858250" y="1857375"/>
            <a:ext cx="1581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Credit wallet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B26A490-0616-4C2D-A48E-20A8EBF95381}"/>
              </a:ext>
            </a:extLst>
          </p:cNvPr>
          <p:cNvSpPr>
            <a:spLocks noGrp="1"/>
          </p:cNvSpPr>
          <p:nvPr/>
        </p:nvSpPr>
        <p:spPr>
          <a:xfrm>
            <a:off x="533400" y="2205038"/>
            <a:ext cx="10934700" cy="471488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05ECE0-E6FF-433E-AAE5-89820617957C}"/>
              </a:ext>
            </a:extLst>
          </p:cNvPr>
          <p:cNvSpPr>
            <a:spLocks noGrp="1"/>
          </p:cNvSpPr>
          <p:nvPr/>
        </p:nvSpPr>
        <p:spPr>
          <a:xfrm>
            <a:off x="619125" y="2328863"/>
            <a:ext cx="105727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ChatGPT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D0034E1-08B6-4049-B298-D90B68BBDB5C}"/>
              </a:ext>
            </a:extLst>
          </p:cNvPr>
          <p:cNvSpPr>
            <a:spLocks noGrp="1"/>
          </p:cNvSpPr>
          <p:nvPr/>
        </p:nvSpPr>
        <p:spPr>
          <a:xfrm>
            <a:off x="1809750" y="2328863"/>
            <a:ext cx="2343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General AI assistant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71415C-DF92-4229-AA08-B5A11F1B7892}"/>
              </a:ext>
            </a:extLst>
          </p:cNvPr>
          <p:cNvSpPr>
            <a:spLocks noGrp="1"/>
          </p:cNvSpPr>
          <p:nvPr/>
        </p:nvSpPr>
        <p:spPr>
          <a:xfrm>
            <a:off x="4286250" y="2328863"/>
            <a:ext cx="148590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6FB64D3-24E5-4BB4-8893-59C18DA39139}"/>
              </a:ext>
            </a:extLst>
          </p:cNvPr>
          <p:cNvSpPr>
            <a:spLocks noGrp="1"/>
          </p:cNvSpPr>
          <p:nvPr/>
        </p:nvSpPr>
        <p:spPr>
          <a:xfrm>
            <a:off x="5905500" y="2328863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Limited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5F783DC-37B1-444F-9DF5-EAAA2480BB7F}"/>
              </a:ext>
            </a:extLst>
          </p:cNvPr>
          <p:cNvSpPr>
            <a:spLocks noGrp="1"/>
          </p:cNvSpPr>
          <p:nvPr/>
        </p:nvSpPr>
        <p:spPr>
          <a:xfrm>
            <a:off x="7381875" y="2328863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0A51D73-25D0-461D-912A-4647552B30B5}"/>
              </a:ext>
            </a:extLst>
          </p:cNvPr>
          <p:cNvSpPr>
            <a:spLocks noGrp="1"/>
          </p:cNvSpPr>
          <p:nvPr/>
        </p:nvSpPr>
        <p:spPr>
          <a:xfrm>
            <a:off x="8858250" y="2328863"/>
            <a:ext cx="1581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A240166-032E-4426-91FF-4AE832DB0CAA}"/>
              </a:ext>
            </a:extLst>
          </p:cNvPr>
          <p:cNvSpPr>
            <a:spLocks noGrp="1"/>
          </p:cNvSpPr>
          <p:nvPr/>
        </p:nvSpPr>
        <p:spPr>
          <a:xfrm>
            <a:off x="533400" y="2676525"/>
            <a:ext cx="10934700" cy="471488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8656F97-C733-48E4-BF2B-0A8B5BC2250B}"/>
              </a:ext>
            </a:extLst>
          </p:cNvPr>
          <p:cNvSpPr>
            <a:spLocks noGrp="1"/>
          </p:cNvSpPr>
          <p:nvPr/>
        </p:nvSpPr>
        <p:spPr>
          <a:xfrm>
            <a:off x="619125" y="2800350"/>
            <a:ext cx="105727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Perplexity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5345ABD-2565-40F6-B439-4591A63F64C1}"/>
              </a:ext>
            </a:extLst>
          </p:cNvPr>
          <p:cNvSpPr>
            <a:spLocks noGrp="1"/>
          </p:cNvSpPr>
          <p:nvPr/>
        </p:nvSpPr>
        <p:spPr>
          <a:xfrm>
            <a:off x="1809750" y="2800350"/>
            <a:ext cx="2343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Answer search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578C5EA-6065-4F78-8C35-4DB35051C692}"/>
              </a:ext>
            </a:extLst>
          </p:cNvPr>
          <p:cNvSpPr>
            <a:spLocks noGrp="1"/>
          </p:cNvSpPr>
          <p:nvPr/>
        </p:nvSpPr>
        <p:spPr>
          <a:xfrm>
            <a:off x="4286250" y="2800350"/>
            <a:ext cx="148590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30134DC-4683-4336-AC11-54E76016AF8E}"/>
              </a:ext>
            </a:extLst>
          </p:cNvPr>
          <p:cNvSpPr>
            <a:spLocks noGrp="1"/>
          </p:cNvSpPr>
          <p:nvPr/>
        </p:nvSpPr>
        <p:spPr>
          <a:xfrm>
            <a:off x="5905500" y="2800350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Limited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9B2D572-6B5E-4F5C-905B-F7969A4CE1B2}"/>
              </a:ext>
            </a:extLst>
          </p:cNvPr>
          <p:cNvSpPr>
            <a:spLocks noGrp="1"/>
          </p:cNvSpPr>
          <p:nvPr/>
        </p:nvSpPr>
        <p:spPr>
          <a:xfrm>
            <a:off x="7381875" y="2800350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AFF7B53-50B4-4186-9448-98E794650B31}"/>
              </a:ext>
            </a:extLst>
          </p:cNvPr>
          <p:cNvSpPr>
            <a:spLocks noGrp="1"/>
          </p:cNvSpPr>
          <p:nvPr/>
        </p:nvSpPr>
        <p:spPr>
          <a:xfrm>
            <a:off x="8858250" y="2800350"/>
            <a:ext cx="1581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F492235-B4DB-454D-B67C-5289F4FF0CC3}"/>
              </a:ext>
            </a:extLst>
          </p:cNvPr>
          <p:cNvSpPr>
            <a:spLocks noGrp="1"/>
          </p:cNvSpPr>
          <p:nvPr/>
        </p:nvSpPr>
        <p:spPr>
          <a:xfrm>
            <a:off x="533400" y="3148013"/>
            <a:ext cx="10934700" cy="471488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A1DCF78-A5A2-4BF9-B080-9A4CC0CBF775}"/>
              </a:ext>
            </a:extLst>
          </p:cNvPr>
          <p:cNvSpPr>
            <a:spLocks noGrp="1"/>
          </p:cNvSpPr>
          <p:nvPr/>
        </p:nvSpPr>
        <p:spPr>
          <a:xfrm>
            <a:off x="619125" y="3271838"/>
            <a:ext cx="105727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Claude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BFC1FFB-6DC3-4B30-9970-3747C1B65DC8}"/>
              </a:ext>
            </a:extLst>
          </p:cNvPr>
          <p:cNvSpPr>
            <a:spLocks noGrp="1"/>
          </p:cNvSpPr>
          <p:nvPr/>
        </p:nvSpPr>
        <p:spPr>
          <a:xfrm>
            <a:off x="1809750" y="3271838"/>
            <a:ext cx="2343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Writing and reasoning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D9F7198-FA3B-4043-A60D-3D695ABFF3F6}"/>
              </a:ext>
            </a:extLst>
          </p:cNvPr>
          <p:cNvSpPr>
            <a:spLocks noGrp="1"/>
          </p:cNvSpPr>
          <p:nvPr/>
        </p:nvSpPr>
        <p:spPr>
          <a:xfrm>
            <a:off x="4286250" y="3271838"/>
            <a:ext cx="148590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AB26274-FD1A-4970-81F8-E9EA5A269F2B}"/>
              </a:ext>
            </a:extLst>
          </p:cNvPr>
          <p:cNvSpPr>
            <a:spLocks noGrp="1"/>
          </p:cNvSpPr>
          <p:nvPr/>
        </p:nvSpPr>
        <p:spPr>
          <a:xfrm>
            <a:off x="5905500" y="3271838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BC50670-F617-4A2B-AEDE-19B0BD6AF399}"/>
              </a:ext>
            </a:extLst>
          </p:cNvPr>
          <p:cNvSpPr>
            <a:spLocks noGrp="1"/>
          </p:cNvSpPr>
          <p:nvPr/>
        </p:nvSpPr>
        <p:spPr>
          <a:xfrm>
            <a:off x="7381875" y="3271838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85E32CD-CE66-4DC6-92EB-2595AEC230AC}"/>
              </a:ext>
            </a:extLst>
          </p:cNvPr>
          <p:cNvSpPr>
            <a:spLocks noGrp="1"/>
          </p:cNvSpPr>
          <p:nvPr/>
        </p:nvSpPr>
        <p:spPr>
          <a:xfrm>
            <a:off x="8858250" y="3271838"/>
            <a:ext cx="1581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5CD0467-5DB7-4707-9BB4-DAB06FD9DC3A}"/>
              </a:ext>
            </a:extLst>
          </p:cNvPr>
          <p:cNvSpPr>
            <a:spLocks noGrp="1"/>
          </p:cNvSpPr>
          <p:nvPr/>
        </p:nvSpPr>
        <p:spPr>
          <a:xfrm>
            <a:off x="533400" y="3619500"/>
            <a:ext cx="10934700" cy="471488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9CE5711-4516-4366-B017-8AC3EADCB905}"/>
              </a:ext>
            </a:extLst>
          </p:cNvPr>
          <p:cNvSpPr>
            <a:spLocks noGrp="1"/>
          </p:cNvSpPr>
          <p:nvPr/>
        </p:nvSpPr>
        <p:spPr>
          <a:xfrm>
            <a:off x="619125" y="3743325"/>
            <a:ext cx="105727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Gemini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5F2C3B-50DD-434F-BE0D-59264DBFE63C}"/>
              </a:ext>
            </a:extLst>
          </p:cNvPr>
          <p:cNvSpPr>
            <a:spLocks noGrp="1"/>
          </p:cNvSpPr>
          <p:nvPr/>
        </p:nvSpPr>
        <p:spPr>
          <a:xfrm>
            <a:off x="1809750" y="3743325"/>
            <a:ext cx="2343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Google ecosystem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9E7A5F6-CBE0-47A3-B849-2B6D6637DDCC}"/>
              </a:ext>
            </a:extLst>
          </p:cNvPr>
          <p:cNvSpPr>
            <a:spLocks noGrp="1"/>
          </p:cNvSpPr>
          <p:nvPr/>
        </p:nvSpPr>
        <p:spPr>
          <a:xfrm>
            <a:off x="4286250" y="3743325"/>
            <a:ext cx="148590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6102B2-43AA-4597-9EFE-536212CBFE55}"/>
              </a:ext>
            </a:extLst>
          </p:cNvPr>
          <p:cNvSpPr>
            <a:spLocks noGrp="1"/>
          </p:cNvSpPr>
          <p:nvPr/>
        </p:nvSpPr>
        <p:spPr>
          <a:xfrm>
            <a:off x="5905500" y="3743325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9C6E660-4407-4EDA-9519-488CCD079612}"/>
              </a:ext>
            </a:extLst>
          </p:cNvPr>
          <p:cNvSpPr>
            <a:spLocks noGrp="1"/>
          </p:cNvSpPr>
          <p:nvPr/>
        </p:nvSpPr>
        <p:spPr>
          <a:xfrm>
            <a:off x="7381875" y="3743325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6261644-1B3D-4305-B231-794C9548627A}"/>
              </a:ext>
            </a:extLst>
          </p:cNvPr>
          <p:cNvSpPr>
            <a:spLocks noGrp="1"/>
          </p:cNvSpPr>
          <p:nvPr/>
        </p:nvSpPr>
        <p:spPr>
          <a:xfrm>
            <a:off x="8858250" y="3743325"/>
            <a:ext cx="1581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5A5FBEC-EC5E-47A5-96EE-FF22E99D570D}"/>
              </a:ext>
            </a:extLst>
          </p:cNvPr>
          <p:cNvSpPr>
            <a:spLocks noGrp="1"/>
          </p:cNvSpPr>
          <p:nvPr/>
        </p:nvSpPr>
        <p:spPr>
          <a:xfrm>
            <a:off x="533400" y="4090988"/>
            <a:ext cx="10934700" cy="471488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D9B23D9-D7CA-45F4-98F0-94532EA98EE6}"/>
              </a:ext>
            </a:extLst>
          </p:cNvPr>
          <p:cNvSpPr>
            <a:spLocks noGrp="1"/>
          </p:cNvSpPr>
          <p:nvPr/>
        </p:nvSpPr>
        <p:spPr>
          <a:xfrm>
            <a:off x="619125" y="4214813"/>
            <a:ext cx="105727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Grok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395C3FD-FE5F-4EDF-AB35-CFE59DAFF829}"/>
              </a:ext>
            </a:extLst>
          </p:cNvPr>
          <p:cNvSpPr>
            <a:spLocks noGrp="1"/>
          </p:cNvSpPr>
          <p:nvPr/>
        </p:nvSpPr>
        <p:spPr>
          <a:xfrm>
            <a:off x="1809750" y="4214813"/>
            <a:ext cx="2343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Realtime/social context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7C21816-102F-4D02-A7EF-8344F8F29DAA}"/>
              </a:ext>
            </a:extLst>
          </p:cNvPr>
          <p:cNvSpPr>
            <a:spLocks noGrp="1"/>
          </p:cNvSpPr>
          <p:nvPr/>
        </p:nvSpPr>
        <p:spPr>
          <a:xfrm>
            <a:off x="4286250" y="4214813"/>
            <a:ext cx="148590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8385D12-04FE-47FE-AE6C-B489DF3BFA2A}"/>
              </a:ext>
            </a:extLst>
          </p:cNvPr>
          <p:cNvSpPr>
            <a:spLocks noGrp="1"/>
          </p:cNvSpPr>
          <p:nvPr/>
        </p:nvSpPr>
        <p:spPr>
          <a:xfrm>
            <a:off x="5905500" y="4214813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C2D3803-9351-42BD-8725-645D268E12DD}"/>
              </a:ext>
            </a:extLst>
          </p:cNvPr>
          <p:cNvSpPr>
            <a:spLocks noGrp="1"/>
          </p:cNvSpPr>
          <p:nvPr/>
        </p:nvSpPr>
        <p:spPr>
          <a:xfrm>
            <a:off x="7381875" y="4214813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2724B79-A09A-426F-8068-FD8D657EE08E}"/>
              </a:ext>
            </a:extLst>
          </p:cNvPr>
          <p:cNvSpPr>
            <a:spLocks noGrp="1"/>
          </p:cNvSpPr>
          <p:nvPr/>
        </p:nvSpPr>
        <p:spPr>
          <a:xfrm>
            <a:off x="8858250" y="4214813"/>
            <a:ext cx="1581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2385B17-5402-4F50-BEC4-78E89981D26A}"/>
              </a:ext>
            </a:extLst>
          </p:cNvPr>
          <p:cNvSpPr>
            <a:spLocks noGrp="1"/>
          </p:cNvSpPr>
          <p:nvPr/>
        </p:nvSpPr>
        <p:spPr>
          <a:xfrm>
            <a:off x="533400" y="4562475"/>
            <a:ext cx="10934700" cy="471488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7C0E88F5-59C8-4829-8334-2CA31EE2B31C}"/>
              </a:ext>
            </a:extLst>
          </p:cNvPr>
          <p:cNvSpPr>
            <a:spLocks noGrp="1"/>
          </p:cNvSpPr>
          <p:nvPr/>
        </p:nvSpPr>
        <p:spPr>
          <a:xfrm>
            <a:off x="619125" y="4686300"/>
            <a:ext cx="105727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Poe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F99535C-D2E1-4A32-9967-0F09A7A1A4A9}"/>
              </a:ext>
            </a:extLst>
          </p:cNvPr>
          <p:cNvSpPr>
            <a:spLocks noGrp="1"/>
          </p:cNvSpPr>
          <p:nvPr/>
        </p:nvSpPr>
        <p:spPr>
          <a:xfrm>
            <a:off x="1809750" y="4686300"/>
            <a:ext cx="2343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Model marketplace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365EAAC-3342-4964-AF4E-39D7B1D0CA0B}"/>
              </a:ext>
            </a:extLst>
          </p:cNvPr>
          <p:cNvSpPr>
            <a:spLocks noGrp="1"/>
          </p:cNvSpPr>
          <p:nvPr/>
        </p:nvSpPr>
        <p:spPr>
          <a:xfrm>
            <a:off x="4286250" y="4686300"/>
            <a:ext cx="148590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Varies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1F4AF4F-B953-4C78-B66F-2AD5901D2CD9}"/>
              </a:ext>
            </a:extLst>
          </p:cNvPr>
          <p:cNvSpPr>
            <a:spLocks noGrp="1"/>
          </p:cNvSpPr>
          <p:nvPr/>
        </p:nvSpPr>
        <p:spPr>
          <a:xfrm>
            <a:off x="5905500" y="4686300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4E9D1B14-24FF-469C-8F76-C46113A5A7C0}"/>
              </a:ext>
            </a:extLst>
          </p:cNvPr>
          <p:cNvSpPr>
            <a:spLocks noGrp="1"/>
          </p:cNvSpPr>
          <p:nvPr/>
        </p:nvSpPr>
        <p:spPr>
          <a:xfrm>
            <a:off x="7381875" y="4686300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217E104-6932-473D-8B95-E3C46B9E51EC}"/>
              </a:ext>
            </a:extLst>
          </p:cNvPr>
          <p:cNvSpPr>
            <a:spLocks noGrp="1"/>
          </p:cNvSpPr>
          <p:nvPr/>
        </p:nvSpPr>
        <p:spPr>
          <a:xfrm>
            <a:off x="8858250" y="4686300"/>
            <a:ext cx="1581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Credits/subscription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0E74CC5-A841-40EB-8B4C-1D96824495D2}"/>
              </a:ext>
            </a:extLst>
          </p:cNvPr>
          <p:cNvSpPr>
            <a:spLocks noGrp="1"/>
          </p:cNvSpPr>
          <p:nvPr/>
        </p:nvSpPr>
        <p:spPr>
          <a:xfrm>
            <a:off x="533400" y="5033963"/>
            <a:ext cx="10934700" cy="471488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BCC5466-CD5F-47C4-9EE1-D4D61140D330}"/>
              </a:ext>
            </a:extLst>
          </p:cNvPr>
          <p:cNvSpPr>
            <a:spLocks noGrp="1"/>
          </p:cNvSpPr>
          <p:nvPr/>
        </p:nvSpPr>
        <p:spPr>
          <a:xfrm>
            <a:off x="619125" y="5157788"/>
            <a:ext cx="105727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Aria AI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68F46E7-8D28-4B9B-B8AF-FAA03D2ECC7D}"/>
              </a:ext>
            </a:extLst>
          </p:cNvPr>
          <p:cNvSpPr>
            <a:spLocks noGrp="1"/>
          </p:cNvSpPr>
          <p:nvPr/>
        </p:nvSpPr>
        <p:spPr>
          <a:xfrm>
            <a:off x="1809750" y="5157788"/>
            <a:ext cx="2343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Routed workflow trust layer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EB23D4C-D62F-420D-A775-4079E013A007}"/>
              </a:ext>
            </a:extLst>
          </p:cNvPr>
          <p:cNvSpPr>
            <a:spLocks noGrp="1"/>
          </p:cNvSpPr>
          <p:nvPr/>
        </p:nvSpPr>
        <p:spPr>
          <a:xfrm>
            <a:off x="4286250" y="5157788"/>
            <a:ext cx="148590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Designed-in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2938E8A-A86D-48BD-9BAA-E4ADE1C42981}"/>
              </a:ext>
            </a:extLst>
          </p:cNvPr>
          <p:cNvSpPr>
            <a:spLocks noGrp="1"/>
          </p:cNvSpPr>
          <p:nvPr/>
        </p:nvSpPr>
        <p:spPr>
          <a:xfrm>
            <a:off x="5905500" y="5157788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86EA29C-62C6-459E-9A53-1C91D76568A6}"/>
              </a:ext>
            </a:extLst>
          </p:cNvPr>
          <p:cNvSpPr>
            <a:spLocks noGrp="1"/>
          </p:cNvSpPr>
          <p:nvPr/>
        </p:nvSpPr>
        <p:spPr>
          <a:xfrm>
            <a:off x="7381875" y="5157788"/>
            <a:ext cx="1343025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45F5C5E8-6D79-43D8-B2D6-3CD22B5D5C0A}"/>
              </a:ext>
            </a:extLst>
          </p:cNvPr>
          <p:cNvSpPr>
            <a:spLocks noGrp="1"/>
          </p:cNvSpPr>
          <p:nvPr/>
        </p:nvSpPr>
        <p:spPr>
          <a:xfrm>
            <a:off x="8858250" y="5157788"/>
            <a:ext cx="1581150" cy="2238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8246609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bg">
            <a:extLst>
              <a:ext uri="{FF2B5EF4-FFF2-40B4-BE49-F238E27FC236}">
                <a16:creationId xmlns:a16="http://schemas.microsoft.com/office/drawing/2014/main" id="{72A9EAB3-3728-4082-A11C-7CFFA1E5DE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59ACDBE1-04FD-41D0-BCD4-D731052385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3D426768-1E98-42D7-B719-114035CE7537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510B3AE1-6BC3-4128-85CA-01ED87CA22C7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3915A26D-2F54-4832-9BAD-05AD8D7775A9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0004B0D4-89E5-4A71-8134-9F7D5971C373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B362EC11-74F5-44A6-89E4-01CDC805FBE3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36509CC7-8488-46C0-A07F-B1712875554E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A3641E03-3B0C-45F6-BF26-F6EED1DAA42E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527F0ED2-F534-4F3D-9B73-744469F8D6C2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F25296C0-29D2-4742-9174-9AFBF5646281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BCE95B32-1464-4D71-9BE8-F2FEA99BE2AD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2">
            <a:extLst>
              <a:ext uri="{FF2B5EF4-FFF2-40B4-BE49-F238E27FC236}">
                <a16:creationId xmlns:a16="http://schemas.microsoft.com/office/drawing/2014/main" id="{B053B6FD-65FC-474D-8AAA-528E960EF0EA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2">
            <a:extLst>
              <a:ext uri="{FF2B5EF4-FFF2-40B4-BE49-F238E27FC236}">
                <a16:creationId xmlns:a16="http://schemas.microsoft.com/office/drawing/2014/main" id="{128CF0B6-5B91-467C-9812-217661603339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POSITIONING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066CF97-5CE4-46D2-AFAA-CB39C67FB581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Aria AI should own the high-control, high-trust quadrant.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790EECD8-299D-4C74-B8F8-1D4F94193629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943519-DB2F-46B1-BC8B-87F062CDFF3D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239313-8BF1-4E87-A822-164325B51FCB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EFDFF7D-922C-4F1D-8D09-54EE5F3780E1}"/>
              </a:ext>
            </a:extLst>
          </p:cNvPr>
          <p:cNvSpPr>
            <a:spLocks noGrp="1"/>
          </p:cNvSpPr>
          <p:nvPr/>
        </p:nvSpPr>
        <p:spPr>
          <a:xfrm>
            <a:off x="1619250" y="1714500"/>
            <a:ext cx="7239000" cy="3238500"/>
          </a:xfrm>
          <a:prstGeom prst="rect">
            <a:avLst/>
          </a:prstGeom>
          <a:solidFill>
            <a:srgbClr val="08191E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AFCD96-3D54-4786-A320-433E36502877}"/>
              </a:ext>
            </a:extLst>
          </p:cNvPr>
          <p:cNvSpPr>
            <a:spLocks noGrp="1"/>
          </p:cNvSpPr>
          <p:nvPr/>
        </p:nvSpPr>
        <p:spPr>
          <a:xfrm>
            <a:off x="5238750" y="1714500"/>
            <a:ext cx="9525" cy="32385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7EDCBA2-673A-4887-9396-26FB58F29386}"/>
              </a:ext>
            </a:extLst>
          </p:cNvPr>
          <p:cNvSpPr>
            <a:spLocks noGrp="1"/>
          </p:cNvSpPr>
          <p:nvPr/>
        </p:nvSpPr>
        <p:spPr>
          <a:xfrm>
            <a:off x="1619250" y="3333750"/>
            <a:ext cx="72390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4A74D20-567B-4747-A2E2-7BCDE5B5FED1}"/>
              </a:ext>
            </a:extLst>
          </p:cNvPr>
          <p:cNvSpPr>
            <a:spLocks noGrp="1"/>
          </p:cNvSpPr>
          <p:nvPr/>
        </p:nvSpPr>
        <p:spPr>
          <a:xfrm>
            <a:off x="742950" y="1733550"/>
            <a:ext cx="819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High trust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390CABD-F73F-413B-9F66-1407E303CC46}"/>
              </a:ext>
            </a:extLst>
          </p:cNvPr>
          <p:cNvSpPr>
            <a:spLocks noGrp="1"/>
          </p:cNvSpPr>
          <p:nvPr/>
        </p:nvSpPr>
        <p:spPr>
          <a:xfrm>
            <a:off x="7953375" y="5124450"/>
            <a:ext cx="1143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High breadth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2E33B8-B0F1-421B-B779-85C0745BB73A}"/>
              </a:ext>
            </a:extLst>
          </p:cNvPr>
          <p:cNvSpPr>
            <a:spLocks noGrp="1"/>
          </p:cNvSpPr>
          <p:nvPr/>
        </p:nvSpPr>
        <p:spPr>
          <a:xfrm>
            <a:off x="4086225" y="3331845"/>
            <a:ext cx="133350" cy="1333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F87C1AA-9C59-4707-851E-7796A9920580}"/>
              </a:ext>
            </a:extLst>
          </p:cNvPr>
          <p:cNvSpPr>
            <a:spLocks noGrp="1"/>
          </p:cNvSpPr>
          <p:nvPr/>
        </p:nvSpPr>
        <p:spPr>
          <a:xfrm>
            <a:off x="4267200" y="332232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ChatGPT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A1A8D6-3867-4222-8922-8C6F17253723}"/>
              </a:ext>
            </a:extLst>
          </p:cNvPr>
          <p:cNvSpPr>
            <a:spLocks noGrp="1"/>
          </p:cNvSpPr>
          <p:nvPr/>
        </p:nvSpPr>
        <p:spPr>
          <a:xfrm>
            <a:off x="3724275" y="3105150"/>
            <a:ext cx="133350" cy="1333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D6024EF-0ADD-4ECA-BC95-5F83F3A79CEC}"/>
              </a:ext>
            </a:extLst>
          </p:cNvPr>
          <p:cNvSpPr>
            <a:spLocks noGrp="1"/>
          </p:cNvSpPr>
          <p:nvPr/>
        </p:nvSpPr>
        <p:spPr>
          <a:xfrm>
            <a:off x="3905250" y="309562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Claude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3AAA77-84D8-4F7C-A078-80C6D5132FD5}"/>
              </a:ext>
            </a:extLst>
          </p:cNvPr>
          <p:cNvSpPr>
            <a:spLocks noGrp="1"/>
          </p:cNvSpPr>
          <p:nvPr/>
        </p:nvSpPr>
        <p:spPr>
          <a:xfrm>
            <a:off x="4592955" y="2554605"/>
            <a:ext cx="133350" cy="1333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7A2F08E-B3FC-4147-965B-B26C9C293DA3}"/>
              </a:ext>
            </a:extLst>
          </p:cNvPr>
          <p:cNvSpPr>
            <a:spLocks noGrp="1"/>
          </p:cNvSpPr>
          <p:nvPr/>
        </p:nvSpPr>
        <p:spPr>
          <a:xfrm>
            <a:off x="4773930" y="254508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Perplexity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DDD9083-E2FE-4D76-B913-21246419E006}"/>
              </a:ext>
            </a:extLst>
          </p:cNvPr>
          <p:cNvSpPr>
            <a:spLocks noGrp="1"/>
          </p:cNvSpPr>
          <p:nvPr/>
        </p:nvSpPr>
        <p:spPr>
          <a:xfrm>
            <a:off x="6981825" y="3429000"/>
            <a:ext cx="133350" cy="1333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6E4A490-21E9-4591-B415-B085D661CD3B}"/>
              </a:ext>
            </a:extLst>
          </p:cNvPr>
          <p:cNvSpPr>
            <a:spLocks noGrp="1"/>
          </p:cNvSpPr>
          <p:nvPr/>
        </p:nvSpPr>
        <p:spPr>
          <a:xfrm>
            <a:off x="7162800" y="34194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Poe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CF527BF-9AB5-4F05-98A3-849B1F9EB34E}"/>
              </a:ext>
            </a:extLst>
          </p:cNvPr>
          <p:cNvSpPr>
            <a:spLocks noGrp="1"/>
          </p:cNvSpPr>
          <p:nvPr/>
        </p:nvSpPr>
        <p:spPr>
          <a:xfrm>
            <a:off x="7488555" y="2230755"/>
            <a:ext cx="133350" cy="1333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937F154-2134-441A-902D-3D39434A674D}"/>
              </a:ext>
            </a:extLst>
          </p:cNvPr>
          <p:cNvSpPr>
            <a:spLocks noGrp="1"/>
          </p:cNvSpPr>
          <p:nvPr/>
        </p:nvSpPr>
        <p:spPr>
          <a:xfrm>
            <a:off x="7669530" y="2221230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Aria AI</a:t>
            </a:r>
          </a:p>
        </p:txBody>
      </p:sp>
      <p:sp>
        <p:nvSpPr>
          <p:cNvPr id="34" name="note-box">
            <a:extLst>
              <a:ext uri="{FF2B5EF4-FFF2-40B4-BE49-F238E27FC236}">
                <a16:creationId xmlns:a16="http://schemas.microsoft.com/office/drawing/2014/main" id="{5DA6AB2A-5D6F-429E-A67E-E1D2A46AC980}"/>
              </a:ext>
            </a:extLst>
          </p:cNvPr>
          <p:cNvSpPr>
            <a:spLocks noGrp="1"/>
          </p:cNvSpPr>
          <p:nvPr/>
        </p:nvSpPr>
        <p:spPr>
          <a:xfrm>
            <a:off x="9086850" y="2438400"/>
            <a:ext cx="2000250" cy="1143000"/>
          </a:xfrm>
          <a:prstGeom prst="rect">
            <a:avLst/>
          </a:prstGeom>
          <a:solidFill>
            <a:srgbClr val="08171C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419B3DB-C7EE-4C67-9EE9-7B98DF4FE7F0}"/>
              </a:ext>
            </a:extLst>
          </p:cNvPr>
          <p:cNvSpPr>
            <a:spLocks noGrp="1"/>
          </p:cNvSpPr>
          <p:nvPr/>
        </p:nvSpPr>
        <p:spPr>
          <a:xfrm>
            <a:off x="9258300" y="2581275"/>
            <a:ext cx="16573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Aria's route: combine model breadth with visible trust workflows and credit governance.</a:t>
            </a:r>
          </a:p>
        </p:txBody>
      </p:sp>
    </p:spTree>
    <p:extLst>
      <p:ext uri="{BB962C8B-B14F-4D97-AF65-F5344CB8AC3E}">
        <p14:creationId xmlns:p14="http://schemas.microsoft.com/office/powerpoint/2010/main" val="6581885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bg">
            <a:extLst>
              <a:ext uri="{FF2B5EF4-FFF2-40B4-BE49-F238E27FC236}">
                <a16:creationId xmlns:a16="http://schemas.microsoft.com/office/drawing/2014/main" id="{3291F8D4-8AA4-4A03-8662-118B8264E07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B22DCBC8-F958-47E8-8706-CF773187BB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1D68F57D-0FED-4B47-B2ED-1FF6C8070D3A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05355F08-63BB-4D24-9BC5-0FAD6B22F6E8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DC9BFBE5-EAB0-47F1-9348-A91D911A277A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CD4086CA-FB75-4B07-8854-F421533AB19F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B981B780-83D8-4630-9F76-77AA3B9709FE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829A967B-78EE-44A0-8B31-1123D0AFE2D0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C733F87A-00CE-447F-AAB3-26C2C7217864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73B8649E-A403-4C74-8348-222C31ED4A23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12B6EA48-8851-4593-899F-7D945E377626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06683A63-BE38-41E0-82BC-842DF4EE7F92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3">
            <a:extLst>
              <a:ext uri="{FF2B5EF4-FFF2-40B4-BE49-F238E27FC236}">
                <a16:creationId xmlns:a16="http://schemas.microsoft.com/office/drawing/2014/main" id="{25621EC8-467C-43C0-920D-8E2690CB23AA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3">
            <a:extLst>
              <a:ext uri="{FF2B5EF4-FFF2-40B4-BE49-F238E27FC236}">
                <a16:creationId xmlns:a16="http://schemas.microsoft.com/office/drawing/2014/main" id="{3B8CADEB-CE34-4CE7-9349-DAC8A610B082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BUSINESS MODEL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9BC521-EB05-4EA5-AE36-5B3040899DA8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credit wallet keeps feature access broad while protecting unit economics.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DB8EB8D0-9EE4-48ED-AC24-11C63C6DB349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A3BE210-51DD-40EF-856D-3ED23EE5D47A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9EF585-C0D5-40BF-9923-39C8F6931526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0D6FB7-E49C-41F5-A2F5-26B0D7C5F348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2876550" cy="9144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7022BB-4F4E-425F-9AD2-F0C93D9436E9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38100" cy="9144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9AD25B-D977-447C-8287-3BB79C3E301D}"/>
              </a:ext>
            </a:extLst>
          </p:cNvPr>
          <p:cNvSpPr>
            <a:spLocks noGrp="1"/>
          </p:cNvSpPr>
          <p:nvPr/>
        </p:nvSpPr>
        <p:spPr>
          <a:xfrm>
            <a:off x="1009650" y="19431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Free plan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C80D24D-0ECE-4ACA-A174-A15232B799D1}"/>
              </a:ext>
            </a:extLst>
          </p:cNvPr>
          <p:cNvSpPr>
            <a:spLocks noGrp="1"/>
          </p:cNvSpPr>
          <p:nvPr/>
        </p:nvSpPr>
        <p:spPr>
          <a:xfrm>
            <a:off x="1009650" y="226695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Small credit balance to seed habit and onboarding.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568037-D484-4529-B988-E592C513FBE6}"/>
              </a:ext>
            </a:extLst>
          </p:cNvPr>
          <p:cNvSpPr>
            <a:spLocks noGrp="1"/>
          </p:cNvSpPr>
          <p:nvPr/>
        </p:nvSpPr>
        <p:spPr>
          <a:xfrm>
            <a:off x="4171950" y="1809750"/>
            <a:ext cx="2876550" cy="9144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BB66AD-A835-4057-AE2D-A484DAC2E4A7}"/>
              </a:ext>
            </a:extLst>
          </p:cNvPr>
          <p:cNvSpPr>
            <a:spLocks noGrp="1"/>
          </p:cNvSpPr>
          <p:nvPr/>
        </p:nvSpPr>
        <p:spPr>
          <a:xfrm>
            <a:off x="4171950" y="1809750"/>
            <a:ext cx="38100" cy="9144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1DA638C-4DCE-4FED-9C0B-F82D264196DD}"/>
              </a:ext>
            </a:extLst>
          </p:cNvPr>
          <p:cNvSpPr>
            <a:spLocks noGrp="1"/>
          </p:cNvSpPr>
          <p:nvPr/>
        </p:nvSpPr>
        <p:spPr>
          <a:xfrm>
            <a:off x="4343400" y="19431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Premium plans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253E18-D655-41D1-AB26-7093DF7ADA6D}"/>
              </a:ext>
            </a:extLst>
          </p:cNvPr>
          <p:cNvSpPr>
            <a:spLocks noGrp="1"/>
          </p:cNvSpPr>
          <p:nvPr/>
        </p:nvSpPr>
        <p:spPr>
          <a:xfrm>
            <a:off x="4343400" y="226695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Monthly credit bundles for individual users.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48BD1B2-D74E-4369-A84E-226C8B6B3B86}"/>
              </a:ext>
            </a:extLst>
          </p:cNvPr>
          <p:cNvSpPr>
            <a:spLocks noGrp="1"/>
          </p:cNvSpPr>
          <p:nvPr/>
        </p:nvSpPr>
        <p:spPr>
          <a:xfrm>
            <a:off x="7505700" y="1809750"/>
            <a:ext cx="2876550" cy="9144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9E70AC-5485-44D1-817F-6083E5DCF40F}"/>
              </a:ext>
            </a:extLst>
          </p:cNvPr>
          <p:cNvSpPr>
            <a:spLocks noGrp="1"/>
          </p:cNvSpPr>
          <p:nvPr/>
        </p:nvSpPr>
        <p:spPr>
          <a:xfrm>
            <a:off x="7505700" y="1809750"/>
            <a:ext cx="38100" cy="91440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1B0C349-2B33-4FED-95FB-9AA40F7E6BEA}"/>
              </a:ext>
            </a:extLst>
          </p:cNvPr>
          <p:cNvSpPr>
            <a:spLocks noGrp="1"/>
          </p:cNvSpPr>
          <p:nvPr/>
        </p:nvSpPr>
        <p:spPr>
          <a:xfrm>
            <a:off x="7677150" y="194310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Top-ups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840CE6-2EC7-4728-A0DF-16F5DBE4B6C5}"/>
              </a:ext>
            </a:extLst>
          </p:cNvPr>
          <p:cNvSpPr>
            <a:spLocks noGrp="1"/>
          </p:cNvSpPr>
          <p:nvPr/>
        </p:nvSpPr>
        <p:spPr>
          <a:xfrm>
            <a:off x="7677150" y="226695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Usage spikes without forcing plan upgrades.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66C0069-F9D8-40E7-B01E-C93FD20DBB0E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2876550" cy="9144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1B222B-0E8A-4EA5-8E98-706FC5AE6431}"/>
              </a:ext>
            </a:extLst>
          </p:cNvPr>
          <p:cNvSpPr>
            <a:spLocks noGrp="1"/>
          </p:cNvSpPr>
          <p:nvPr/>
        </p:nvSpPr>
        <p:spPr>
          <a:xfrm>
            <a:off x="838200" y="3086100"/>
            <a:ext cx="38100" cy="914400"/>
          </a:xfrm>
          <a:prstGeom prst="rect">
            <a:avLst/>
          </a:prstGeom>
          <a:solidFill>
            <a:srgbClr val="63E6BE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12B03F8-3C72-470B-B40E-F1357EF774CC}"/>
              </a:ext>
            </a:extLst>
          </p:cNvPr>
          <p:cNvSpPr>
            <a:spLocks noGrp="1"/>
          </p:cNvSpPr>
          <p:nvPr/>
        </p:nvSpPr>
        <p:spPr>
          <a:xfrm>
            <a:off x="1009650" y="32194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Enterprise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842F9DE-9BED-4D14-8134-DA8A5E3FC530}"/>
              </a:ext>
            </a:extLst>
          </p:cNvPr>
          <p:cNvSpPr>
            <a:spLocks noGrp="1"/>
          </p:cNvSpPr>
          <p:nvPr/>
        </p:nvSpPr>
        <p:spPr>
          <a:xfrm>
            <a:off x="1009650" y="354330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Team credits, admin controls, compliance add-ons, custom routing.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1DFB7E-5C02-4B05-B23D-CF49C8234862}"/>
              </a:ext>
            </a:extLst>
          </p:cNvPr>
          <p:cNvSpPr>
            <a:spLocks noGrp="1"/>
          </p:cNvSpPr>
          <p:nvPr/>
        </p:nvSpPr>
        <p:spPr>
          <a:xfrm>
            <a:off x="4171950" y="3086100"/>
            <a:ext cx="2876550" cy="9144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CDF968D-A383-40CB-BA4D-8EC2A96B2978}"/>
              </a:ext>
            </a:extLst>
          </p:cNvPr>
          <p:cNvSpPr>
            <a:spLocks noGrp="1"/>
          </p:cNvSpPr>
          <p:nvPr/>
        </p:nvSpPr>
        <p:spPr>
          <a:xfrm>
            <a:off x="4171950" y="3086100"/>
            <a:ext cx="38100" cy="914400"/>
          </a:xfrm>
          <a:prstGeom prst="rect">
            <a:avLst/>
          </a:prstGeom>
          <a:solidFill>
            <a:srgbClr val="FF6B8A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9B4D135-ADE2-473C-9999-B4A77CD6E60C}"/>
              </a:ext>
            </a:extLst>
          </p:cNvPr>
          <p:cNvSpPr>
            <a:spLocks noGrp="1"/>
          </p:cNvSpPr>
          <p:nvPr/>
        </p:nvSpPr>
        <p:spPr>
          <a:xfrm>
            <a:off x="4343400" y="3219450"/>
            <a:ext cx="2571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API revenue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90CCAFC-B9B2-4AD5-98C5-5CD8403DF8E3}"/>
              </a:ext>
            </a:extLst>
          </p:cNvPr>
          <p:cNvSpPr>
            <a:spLocks noGrp="1"/>
          </p:cNvSpPr>
          <p:nvPr/>
        </p:nvSpPr>
        <p:spPr>
          <a:xfrm>
            <a:off x="4343400" y="3543300"/>
            <a:ext cx="2571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External workflows using Aria routing, research, and analyzer endpoints.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BFE8618-0A47-4043-83A4-884FF79ED2BC}"/>
              </a:ext>
            </a:extLst>
          </p:cNvPr>
          <p:cNvSpPr>
            <a:spLocks noGrp="1"/>
          </p:cNvSpPr>
          <p:nvPr/>
        </p:nvSpPr>
        <p:spPr>
          <a:xfrm>
            <a:off x="1962150" y="5086350"/>
            <a:ext cx="7277100" cy="514350"/>
          </a:xfrm>
          <a:prstGeom prst="rect">
            <a:avLst/>
          </a:prstGeom>
          <a:solidFill>
            <a:srgbClr val="153C38"/>
          </a:solidFill>
          <a:ln w="9525">
            <a:solidFill>
              <a:srgbClr val="24E0B8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8B7A607-7528-4D23-B1C2-F1E21C4090BD}"/>
              </a:ext>
            </a:extLst>
          </p:cNvPr>
          <p:cNvSpPr>
            <a:spLocks noGrp="1"/>
          </p:cNvSpPr>
          <p:nvPr/>
        </p:nvSpPr>
        <p:spPr>
          <a:xfrm>
            <a:off x="2266950" y="523875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Pricing goal: maintain at least 2.0x revenue over blended variable AI cost before fixed operating costs.</a:t>
            </a:r>
          </a:p>
        </p:txBody>
      </p:sp>
    </p:spTree>
    <p:extLst>
      <p:ext uri="{BB962C8B-B14F-4D97-AF65-F5344CB8AC3E}">
        <p14:creationId xmlns:p14="http://schemas.microsoft.com/office/powerpoint/2010/main" val="12587701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bg">
            <a:extLst>
              <a:ext uri="{FF2B5EF4-FFF2-40B4-BE49-F238E27FC236}">
                <a16:creationId xmlns:a16="http://schemas.microsoft.com/office/drawing/2014/main" id="{9A79F980-F4BE-41BA-8F75-4C49D78A8D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69B3E05F-3F3F-45BE-BDD3-3B6DF2111E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500BEE65-FC01-41A2-9D72-E9D9F24572C4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3B504F11-7D1B-48E3-B56F-981AF4E86565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810B4A2D-F0C7-4B2D-890A-DD7399EB8367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31F7A71E-B3E8-4488-B4BB-3320F6C4F6BC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68174DB9-9C7C-4943-A1D4-F7A7F1952622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D01B154C-DFA7-40C6-B5BA-B54884F4EF3A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D54DD5CA-435E-4F7F-B36D-76AC736B430D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D3C7776D-5E55-466F-B3E8-F3972A2CDFD6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F96B7764-A431-45A9-8E3C-EF3887C69BE6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33F5C0DA-A595-4CF5-B24F-2CA9B98B35ED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4">
            <a:extLst>
              <a:ext uri="{FF2B5EF4-FFF2-40B4-BE49-F238E27FC236}">
                <a16:creationId xmlns:a16="http://schemas.microsoft.com/office/drawing/2014/main" id="{BC084ED2-5F12-4B64-B80C-148EAA98D6F2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4">
            <a:extLst>
              <a:ext uri="{FF2B5EF4-FFF2-40B4-BE49-F238E27FC236}">
                <a16:creationId xmlns:a16="http://schemas.microsoft.com/office/drawing/2014/main" id="{D708EAF5-32C6-4822-9427-B435817BF197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PRICING STRATEGY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B1BF56-CA83-41B3-93B6-571A9A012356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Credit-based plans make every feature available while controlling usage intensity.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69E392E2-7FDC-4AE8-8842-F27622FF817F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1DB40F3-E9F3-496E-A9CD-9CD99793D62F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2A4D9A1-630E-4650-8346-A9FE734D6403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D8570E-F1CC-4E1B-8BEC-3836CB707500}"/>
              </a:ext>
            </a:extLst>
          </p:cNvPr>
          <p:cNvSpPr>
            <a:spLocks noGrp="1"/>
          </p:cNvSpPr>
          <p:nvPr/>
        </p:nvSpPr>
        <p:spPr>
          <a:xfrm>
            <a:off x="552450" y="1733550"/>
            <a:ext cx="10782300" cy="5334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F14FFAB-5DCB-459B-B215-73B88C19D873}"/>
              </a:ext>
            </a:extLst>
          </p:cNvPr>
          <p:cNvSpPr>
            <a:spLocks noGrp="1"/>
          </p:cNvSpPr>
          <p:nvPr/>
        </p:nvSpPr>
        <p:spPr>
          <a:xfrm>
            <a:off x="638175" y="18573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3BBA05-9DB0-4CED-9C41-EA564FD8CDCF}"/>
              </a:ext>
            </a:extLst>
          </p:cNvPr>
          <p:cNvSpPr>
            <a:spLocks noGrp="1"/>
          </p:cNvSpPr>
          <p:nvPr/>
        </p:nvSpPr>
        <p:spPr>
          <a:xfrm>
            <a:off x="2066925" y="1857375"/>
            <a:ext cx="13430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BB4013-4D31-4990-89EE-1D62CDABDDA0}"/>
              </a:ext>
            </a:extLst>
          </p:cNvPr>
          <p:cNvSpPr>
            <a:spLocks noGrp="1"/>
          </p:cNvSpPr>
          <p:nvPr/>
        </p:nvSpPr>
        <p:spPr>
          <a:xfrm>
            <a:off x="3543300" y="18573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Credits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A385F0-F845-4AD7-A42A-EB10BE88025D}"/>
              </a:ext>
            </a:extLst>
          </p:cNvPr>
          <p:cNvSpPr>
            <a:spLocks noGrp="1"/>
          </p:cNvSpPr>
          <p:nvPr/>
        </p:nvSpPr>
        <p:spPr>
          <a:xfrm>
            <a:off x="4972050" y="1857375"/>
            <a:ext cx="3581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Best fit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735515-B38F-49D0-B225-DDBC450CD139}"/>
              </a:ext>
            </a:extLst>
          </p:cNvPr>
          <p:cNvSpPr>
            <a:spLocks noGrp="1"/>
          </p:cNvSpPr>
          <p:nvPr/>
        </p:nvSpPr>
        <p:spPr>
          <a:xfrm>
            <a:off x="8686800" y="1857375"/>
            <a:ext cx="26003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Margin note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5A1758-1458-4D7C-99A2-84FBD660E042}"/>
              </a:ext>
            </a:extLst>
          </p:cNvPr>
          <p:cNvSpPr>
            <a:spLocks noGrp="1"/>
          </p:cNvSpPr>
          <p:nvPr/>
        </p:nvSpPr>
        <p:spPr>
          <a:xfrm>
            <a:off x="552450" y="2266950"/>
            <a:ext cx="10782300" cy="53340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FE1BB72-1BEB-409B-8D49-F031BDFDA21D}"/>
              </a:ext>
            </a:extLst>
          </p:cNvPr>
          <p:cNvSpPr>
            <a:spLocks noGrp="1"/>
          </p:cNvSpPr>
          <p:nvPr/>
        </p:nvSpPr>
        <p:spPr>
          <a:xfrm>
            <a:off x="638175" y="23907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B7CE92-9D50-436F-883E-40099FEC6687}"/>
              </a:ext>
            </a:extLst>
          </p:cNvPr>
          <p:cNvSpPr>
            <a:spLocks noGrp="1"/>
          </p:cNvSpPr>
          <p:nvPr/>
        </p:nvSpPr>
        <p:spPr>
          <a:xfrm>
            <a:off x="2066925" y="2390775"/>
            <a:ext cx="13430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5B9206F-4E41-4F56-ACAF-996F79768CD6}"/>
              </a:ext>
            </a:extLst>
          </p:cNvPr>
          <p:cNvSpPr>
            <a:spLocks noGrp="1"/>
          </p:cNvSpPr>
          <p:nvPr/>
        </p:nvSpPr>
        <p:spPr>
          <a:xfrm>
            <a:off x="3543300" y="23907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1FD087-FA64-4B4D-9A78-A6EBA433D730}"/>
              </a:ext>
            </a:extLst>
          </p:cNvPr>
          <p:cNvSpPr>
            <a:spLocks noGrp="1"/>
          </p:cNvSpPr>
          <p:nvPr/>
        </p:nvSpPr>
        <p:spPr>
          <a:xfrm>
            <a:off x="4972050" y="2390775"/>
            <a:ext cx="3581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Trial and onboarding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2F462F-0BD2-40EA-BFE9-C1331C394E49}"/>
              </a:ext>
            </a:extLst>
          </p:cNvPr>
          <p:cNvSpPr>
            <a:spLocks noGrp="1"/>
          </p:cNvSpPr>
          <p:nvPr/>
        </p:nvSpPr>
        <p:spPr>
          <a:xfrm>
            <a:off x="8686800" y="2390775"/>
            <a:ext cx="26003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Low cap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485579-715F-4A41-B519-66641178FAC5}"/>
              </a:ext>
            </a:extLst>
          </p:cNvPr>
          <p:cNvSpPr>
            <a:spLocks noGrp="1"/>
          </p:cNvSpPr>
          <p:nvPr/>
        </p:nvSpPr>
        <p:spPr>
          <a:xfrm>
            <a:off x="552450" y="2800350"/>
            <a:ext cx="10782300" cy="5334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12E58AE-1DC9-4921-89E6-8F8A6CC3B413}"/>
              </a:ext>
            </a:extLst>
          </p:cNvPr>
          <p:cNvSpPr>
            <a:spLocks noGrp="1"/>
          </p:cNvSpPr>
          <p:nvPr/>
        </p:nvSpPr>
        <p:spPr>
          <a:xfrm>
            <a:off x="638175" y="29241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Starter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BFEC9E7-D13A-47E2-8A06-CD61D067315C}"/>
              </a:ext>
            </a:extLst>
          </p:cNvPr>
          <p:cNvSpPr>
            <a:spLocks noGrp="1"/>
          </p:cNvSpPr>
          <p:nvPr/>
        </p:nvSpPr>
        <p:spPr>
          <a:xfrm>
            <a:off x="2066925" y="2924175"/>
            <a:ext cx="13430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199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69FC74-9FD5-46C5-B259-C4AE0F385ACF}"/>
              </a:ext>
            </a:extLst>
          </p:cNvPr>
          <p:cNvSpPr>
            <a:spLocks noGrp="1"/>
          </p:cNvSpPr>
          <p:nvPr/>
        </p:nvSpPr>
        <p:spPr>
          <a:xfrm>
            <a:off x="3543300" y="29241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220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BB88E1A-C317-46BA-8DDE-937973543D37}"/>
              </a:ext>
            </a:extLst>
          </p:cNvPr>
          <p:cNvSpPr>
            <a:spLocks noGrp="1"/>
          </p:cNvSpPr>
          <p:nvPr/>
        </p:nvSpPr>
        <p:spPr>
          <a:xfrm>
            <a:off x="4972050" y="2924175"/>
            <a:ext cx="3581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Students and light users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BC31C38-A37F-4AEC-A7E1-03760F3CCFE8}"/>
              </a:ext>
            </a:extLst>
          </p:cNvPr>
          <p:cNvSpPr>
            <a:spLocks noGrp="1"/>
          </p:cNvSpPr>
          <p:nvPr/>
        </p:nvSpPr>
        <p:spPr>
          <a:xfrm>
            <a:off x="8686800" y="2924175"/>
            <a:ext cx="26003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Target 2x+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84A63C9-4CB0-4DEE-BE95-7F9BC4181DBF}"/>
              </a:ext>
            </a:extLst>
          </p:cNvPr>
          <p:cNvSpPr>
            <a:spLocks noGrp="1"/>
          </p:cNvSpPr>
          <p:nvPr/>
        </p:nvSpPr>
        <p:spPr>
          <a:xfrm>
            <a:off x="552450" y="3333750"/>
            <a:ext cx="10782300" cy="53340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CDABED5-38E3-44E7-B670-05E52433DA96}"/>
              </a:ext>
            </a:extLst>
          </p:cNvPr>
          <p:cNvSpPr>
            <a:spLocks noGrp="1"/>
          </p:cNvSpPr>
          <p:nvPr/>
        </p:nvSpPr>
        <p:spPr>
          <a:xfrm>
            <a:off x="638175" y="34575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Plus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B6AE85A-2371-4C22-B149-BAF3FF5F4C65}"/>
              </a:ext>
            </a:extLst>
          </p:cNvPr>
          <p:cNvSpPr>
            <a:spLocks noGrp="1"/>
          </p:cNvSpPr>
          <p:nvPr/>
        </p:nvSpPr>
        <p:spPr>
          <a:xfrm>
            <a:off x="2066925" y="3457575"/>
            <a:ext cx="13430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499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C3DE42-2CF3-42A2-833C-8FEF75B5F3E4}"/>
              </a:ext>
            </a:extLst>
          </p:cNvPr>
          <p:cNvSpPr>
            <a:spLocks noGrp="1"/>
          </p:cNvSpPr>
          <p:nvPr/>
        </p:nvSpPr>
        <p:spPr>
          <a:xfrm>
            <a:off x="3543300" y="34575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620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69F5BDA-2953-483A-B43F-ACF1683468AF}"/>
              </a:ext>
            </a:extLst>
          </p:cNvPr>
          <p:cNvSpPr>
            <a:spLocks noGrp="1"/>
          </p:cNvSpPr>
          <p:nvPr/>
        </p:nvSpPr>
        <p:spPr>
          <a:xfrm>
            <a:off x="4972050" y="3457575"/>
            <a:ext cx="3581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Daily professionals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203714-3C20-4E3B-8666-A41DFF479807}"/>
              </a:ext>
            </a:extLst>
          </p:cNvPr>
          <p:cNvSpPr>
            <a:spLocks noGrp="1"/>
          </p:cNvSpPr>
          <p:nvPr/>
        </p:nvSpPr>
        <p:spPr>
          <a:xfrm>
            <a:off x="8686800" y="3457575"/>
            <a:ext cx="26003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Target 2x+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963849E-BA6F-470C-B423-190D536E9F4D}"/>
              </a:ext>
            </a:extLst>
          </p:cNvPr>
          <p:cNvSpPr>
            <a:spLocks noGrp="1"/>
          </p:cNvSpPr>
          <p:nvPr/>
        </p:nvSpPr>
        <p:spPr>
          <a:xfrm>
            <a:off x="552450" y="3867150"/>
            <a:ext cx="10782300" cy="5334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8A4D4C1-3BC2-4E8B-BD1D-AB604500835C}"/>
              </a:ext>
            </a:extLst>
          </p:cNvPr>
          <p:cNvSpPr>
            <a:spLocks noGrp="1"/>
          </p:cNvSpPr>
          <p:nvPr/>
        </p:nvSpPr>
        <p:spPr>
          <a:xfrm>
            <a:off x="638175" y="39909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Pro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B75801E-831C-4835-B6E9-3CD52B8C486C}"/>
              </a:ext>
            </a:extLst>
          </p:cNvPr>
          <p:cNvSpPr>
            <a:spLocks noGrp="1"/>
          </p:cNvSpPr>
          <p:nvPr/>
        </p:nvSpPr>
        <p:spPr>
          <a:xfrm>
            <a:off x="2066925" y="3990975"/>
            <a:ext cx="13430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999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80F442C-8CC3-471B-92B5-ADBC2820B284}"/>
              </a:ext>
            </a:extLst>
          </p:cNvPr>
          <p:cNvSpPr>
            <a:spLocks noGrp="1"/>
          </p:cNvSpPr>
          <p:nvPr/>
        </p:nvSpPr>
        <p:spPr>
          <a:xfrm>
            <a:off x="3543300" y="39909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1,350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75A486F-7236-4D88-BBDA-4B58849BB67B}"/>
              </a:ext>
            </a:extLst>
          </p:cNvPr>
          <p:cNvSpPr>
            <a:spLocks noGrp="1"/>
          </p:cNvSpPr>
          <p:nvPr/>
        </p:nvSpPr>
        <p:spPr>
          <a:xfrm>
            <a:off x="4972050" y="3990975"/>
            <a:ext cx="3581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Founders/researchers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EFD0849-E0A7-49F6-9123-FBCF836D8B08}"/>
              </a:ext>
            </a:extLst>
          </p:cNvPr>
          <p:cNvSpPr>
            <a:spLocks noGrp="1"/>
          </p:cNvSpPr>
          <p:nvPr/>
        </p:nvSpPr>
        <p:spPr>
          <a:xfrm>
            <a:off x="8686800" y="3990975"/>
            <a:ext cx="26003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Target 2x+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EAF924C-B7D6-4584-B3BA-062794B5DE48}"/>
              </a:ext>
            </a:extLst>
          </p:cNvPr>
          <p:cNvSpPr>
            <a:spLocks noGrp="1"/>
          </p:cNvSpPr>
          <p:nvPr/>
        </p:nvSpPr>
        <p:spPr>
          <a:xfrm>
            <a:off x="552450" y="4400550"/>
            <a:ext cx="10782300" cy="53340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1E1BDB9-EEF8-44C8-9F9F-2CEE48F9318F}"/>
              </a:ext>
            </a:extLst>
          </p:cNvPr>
          <p:cNvSpPr>
            <a:spLocks noGrp="1"/>
          </p:cNvSpPr>
          <p:nvPr/>
        </p:nvSpPr>
        <p:spPr>
          <a:xfrm>
            <a:off x="638175" y="45243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Power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4107F5E-AC27-4481-842E-E5DC431F4730}"/>
              </a:ext>
            </a:extLst>
          </p:cNvPr>
          <p:cNvSpPr>
            <a:spLocks noGrp="1"/>
          </p:cNvSpPr>
          <p:nvPr/>
        </p:nvSpPr>
        <p:spPr>
          <a:xfrm>
            <a:off x="2066925" y="4524375"/>
            <a:ext cx="13430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1,999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59E66F5-7B79-479D-8730-DB655D16F0DE}"/>
              </a:ext>
            </a:extLst>
          </p:cNvPr>
          <p:cNvSpPr>
            <a:spLocks noGrp="1"/>
          </p:cNvSpPr>
          <p:nvPr/>
        </p:nvSpPr>
        <p:spPr>
          <a:xfrm>
            <a:off x="3543300" y="45243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3,000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EC82353-0AEC-4C5F-8EFA-660D900E8B1D}"/>
              </a:ext>
            </a:extLst>
          </p:cNvPr>
          <p:cNvSpPr>
            <a:spLocks noGrp="1"/>
          </p:cNvSpPr>
          <p:nvPr/>
        </p:nvSpPr>
        <p:spPr>
          <a:xfrm>
            <a:off x="4972050" y="4524375"/>
            <a:ext cx="3581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Agencies/heavy users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5860C58-879F-48C3-B275-25457C76A9DD}"/>
              </a:ext>
            </a:extLst>
          </p:cNvPr>
          <p:cNvSpPr>
            <a:spLocks noGrp="1"/>
          </p:cNvSpPr>
          <p:nvPr/>
        </p:nvSpPr>
        <p:spPr>
          <a:xfrm>
            <a:off x="8686800" y="4524375"/>
            <a:ext cx="26003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Target 2x+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3FD9CDA-DF30-4A03-B2E3-2DE45813E9B1}"/>
              </a:ext>
            </a:extLst>
          </p:cNvPr>
          <p:cNvSpPr>
            <a:spLocks noGrp="1"/>
          </p:cNvSpPr>
          <p:nvPr/>
        </p:nvSpPr>
        <p:spPr>
          <a:xfrm>
            <a:off x="552450" y="4933950"/>
            <a:ext cx="10782300" cy="5334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5CEE9ED-DB72-4A91-8628-59E5B638722D}"/>
              </a:ext>
            </a:extLst>
          </p:cNvPr>
          <p:cNvSpPr>
            <a:spLocks noGrp="1"/>
          </p:cNvSpPr>
          <p:nvPr/>
        </p:nvSpPr>
        <p:spPr>
          <a:xfrm>
            <a:off x="638175" y="50577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Top-ups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AD4C283-5469-4D43-9C1B-FC2B28AC93C2}"/>
              </a:ext>
            </a:extLst>
          </p:cNvPr>
          <p:cNvSpPr>
            <a:spLocks noGrp="1"/>
          </p:cNvSpPr>
          <p:nvPr/>
        </p:nvSpPr>
        <p:spPr>
          <a:xfrm>
            <a:off x="2066925" y="5057775"/>
            <a:ext cx="13430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99-999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20A66D42-D8DA-48F5-8718-63D7F281D8CB}"/>
              </a:ext>
            </a:extLst>
          </p:cNvPr>
          <p:cNvSpPr>
            <a:spLocks noGrp="1"/>
          </p:cNvSpPr>
          <p:nvPr/>
        </p:nvSpPr>
        <p:spPr>
          <a:xfrm>
            <a:off x="3543300" y="5057775"/>
            <a:ext cx="1295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90-1,250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DB96EBA-784E-4898-95E4-4230EFBF3575}"/>
              </a:ext>
            </a:extLst>
          </p:cNvPr>
          <p:cNvSpPr>
            <a:spLocks noGrp="1"/>
          </p:cNvSpPr>
          <p:nvPr/>
        </p:nvSpPr>
        <p:spPr>
          <a:xfrm>
            <a:off x="4972050" y="5057775"/>
            <a:ext cx="35814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Usage spikes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2451EC5-D7AE-4BAC-B88C-AFFF81A31F4B}"/>
              </a:ext>
            </a:extLst>
          </p:cNvPr>
          <p:cNvSpPr>
            <a:spLocks noGrp="1"/>
          </p:cNvSpPr>
          <p:nvPr/>
        </p:nvSpPr>
        <p:spPr>
          <a:xfrm>
            <a:off x="8686800" y="5057775"/>
            <a:ext cx="26003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0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Protect overuse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D371BC-EC47-410A-A6BE-38DEA71A41D5}"/>
              </a:ext>
            </a:extLst>
          </p:cNvPr>
          <p:cNvSpPr>
            <a:spLocks noGrp="1"/>
          </p:cNvSpPr>
          <p:nvPr/>
        </p:nvSpPr>
        <p:spPr>
          <a:xfrm>
            <a:off x="1238250" y="5772150"/>
            <a:ext cx="885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Plan principle: every paid plan can use every feature; credits meter intensity and protect blended provider margin.</a:t>
            </a:r>
          </a:p>
        </p:txBody>
      </p:sp>
    </p:spTree>
    <p:extLst>
      <p:ext uri="{BB962C8B-B14F-4D97-AF65-F5344CB8AC3E}">
        <p14:creationId xmlns:p14="http://schemas.microsoft.com/office/powerpoint/2010/main" val="697909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g">
            <a:extLst>
              <a:ext uri="{FF2B5EF4-FFF2-40B4-BE49-F238E27FC236}">
                <a16:creationId xmlns:a16="http://schemas.microsoft.com/office/drawing/2014/main" id="{AF3B541B-68AA-4160-88FE-7E74A277B2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713F79B8-6258-408B-B903-47CEEB0AD8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BFDF3F54-A371-4343-89B8-4CEF5E93176C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134E56E6-9D5B-43BC-9501-F414D8C741E5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8A8894C4-C88D-4961-818A-2F44F59F1AFD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278D58A5-6393-45FF-9FE1-6C15E037B570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83BEE1AA-E0D5-48D8-9367-A4247753FD67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52AB59F0-F1BF-4117-A66C-32EB8AC328A3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508F560D-ED9B-4D31-A55F-D8F095E96E40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05E81A4A-49CB-4262-9BFA-54980B5614DB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52C0530D-F791-4C0A-BDDF-816BC6D7997E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E2D2BB6C-5EEC-446A-AA0E-65ACF16064BF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5">
            <a:extLst>
              <a:ext uri="{FF2B5EF4-FFF2-40B4-BE49-F238E27FC236}">
                <a16:creationId xmlns:a16="http://schemas.microsoft.com/office/drawing/2014/main" id="{26284C7B-2416-4EBE-8DD6-0083D48DDDF5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5">
            <a:extLst>
              <a:ext uri="{FF2B5EF4-FFF2-40B4-BE49-F238E27FC236}">
                <a16:creationId xmlns:a16="http://schemas.microsoft.com/office/drawing/2014/main" id="{52BC297C-DD75-4D2C-B17C-960D50C22BE1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GO-TO-MARKET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0A9082-DFF4-4085-8941-203A09B9DEFE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Launch growth should compound through visible answers, referrals, and credit loops.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83105ECD-68AD-4F7F-9B78-D9E49CE14B7F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98FAF05-3819-44D8-9048-03414F132A48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7BCB492-0C90-4825-B799-C95877690A7F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7F202B-486B-43A9-AC61-E539599D92FA}"/>
              </a:ext>
            </a:extLst>
          </p:cNvPr>
          <p:cNvSpPr>
            <a:spLocks noGrp="1"/>
          </p:cNvSpPr>
          <p:nvPr/>
        </p:nvSpPr>
        <p:spPr>
          <a:xfrm>
            <a:off x="3676650" y="1943100"/>
            <a:ext cx="1257300" cy="457200"/>
          </a:xfrm>
          <a:prstGeom prst="rect">
            <a:avLst/>
          </a:prstGeom>
          <a:solidFill>
            <a:srgbClr val="153C38"/>
          </a:solidFill>
          <a:ln w="9525">
            <a:solidFill>
              <a:srgbClr val="24E0B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1B9B329-57D6-4D30-A010-794E8CE71FD2}"/>
              </a:ext>
            </a:extLst>
          </p:cNvPr>
          <p:cNvSpPr>
            <a:spLocks noGrp="1"/>
          </p:cNvSpPr>
          <p:nvPr/>
        </p:nvSpPr>
        <p:spPr>
          <a:xfrm>
            <a:off x="3752850" y="208597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Beta cohort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F12836-60C6-4028-86BB-25AA49801479}"/>
              </a:ext>
            </a:extLst>
          </p:cNvPr>
          <p:cNvSpPr>
            <a:spLocks noGrp="1"/>
          </p:cNvSpPr>
          <p:nvPr/>
        </p:nvSpPr>
        <p:spPr>
          <a:xfrm>
            <a:off x="5408917" y="2619375"/>
            <a:ext cx="1257300" cy="4572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222317-04B2-49BF-9987-D4E2B4754278}"/>
              </a:ext>
            </a:extLst>
          </p:cNvPr>
          <p:cNvSpPr>
            <a:spLocks noGrp="1"/>
          </p:cNvSpPr>
          <p:nvPr/>
        </p:nvSpPr>
        <p:spPr>
          <a:xfrm>
            <a:off x="5485117" y="276225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Shareable answer clips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A7F1B0-A540-46BB-9126-A829D3DC979E}"/>
              </a:ext>
            </a:extLst>
          </p:cNvPr>
          <p:cNvSpPr>
            <a:spLocks noGrp="1"/>
          </p:cNvSpPr>
          <p:nvPr/>
        </p:nvSpPr>
        <p:spPr>
          <a:xfrm>
            <a:off x="5408917" y="3971925"/>
            <a:ext cx="1257300" cy="457200"/>
          </a:xfrm>
          <a:prstGeom prst="rect">
            <a:avLst/>
          </a:prstGeom>
          <a:solidFill>
            <a:srgbClr val="153C38"/>
          </a:solidFill>
          <a:ln w="9525">
            <a:solidFill>
              <a:srgbClr val="24E0B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9F21B5-C7E1-43AD-AF12-601A2AFED9D3}"/>
              </a:ext>
            </a:extLst>
          </p:cNvPr>
          <p:cNvSpPr>
            <a:spLocks noGrp="1"/>
          </p:cNvSpPr>
          <p:nvPr/>
        </p:nvSpPr>
        <p:spPr>
          <a:xfrm>
            <a:off x="5485117" y="411480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Creator workflows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DEF3D6E-87C0-4598-B0C1-D7487AFC2297}"/>
              </a:ext>
            </a:extLst>
          </p:cNvPr>
          <p:cNvSpPr>
            <a:spLocks noGrp="1"/>
          </p:cNvSpPr>
          <p:nvPr/>
        </p:nvSpPr>
        <p:spPr>
          <a:xfrm>
            <a:off x="3676650" y="4648200"/>
            <a:ext cx="1257300" cy="4572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EFFCE8C-4B06-4E9C-A3D7-3A5C89F044A1}"/>
              </a:ext>
            </a:extLst>
          </p:cNvPr>
          <p:cNvSpPr>
            <a:spLocks noGrp="1"/>
          </p:cNvSpPr>
          <p:nvPr/>
        </p:nvSpPr>
        <p:spPr>
          <a:xfrm>
            <a:off x="3752850" y="4791075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Referral credits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314119D-A399-43CF-BC1D-DF4F18F44FD3}"/>
              </a:ext>
            </a:extLst>
          </p:cNvPr>
          <p:cNvSpPr>
            <a:spLocks noGrp="1"/>
          </p:cNvSpPr>
          <p:nvPr/>
        </p:nvSpPr>
        <p:spPr>
          <a:xfrm>
            <a:off x="1944383" y="3971925"/>
            <a:ext cx="1257300" cy="457200"/>
          </a:xfrm>
          <a:prstGeom prst="rect">
            <a:avLst/>
          </a:prstGeom>
          <a:solidFill>
            <a:srgbClr val="153C38"/>
          </a:solidFill>
          <a:ln w="9525">
            <a:solidFill>
              <a:srgbClr val="24E0B8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D96848-D7DD-4A08-AFAF-E0A1E7C6B541}"/>
              </a:ext>
            </a:extLst>
          </p:cNvPr>
          <p:cNvSpPr>
            <a:spLocks noGrp="1"/>
          </p:cNvSpPr>
          <p:nvPr/>
        </p:nvSpPr>
        <p:spPr>
          <a:xfrm>
            <a:off x="2020583" y="411480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Paid upgrade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8B6C72-B945-413B-8F2D-2428CF5DBBA4}"/>
              </a:ext>
            </a:extLst>
          </p:cNvPr>
          <p:cNvSpPr>
            <a:spLocks noGrp="1"/>
          </p:cNvSpPr>
          <p:nvPr/>
        </p:nvSpPr>
        <p:spPr>
          <a:xfrm>
            <a:off x="1944383" y="2619375"/>
            <a:ext cx="1257300" cy="4572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0856D38-6503-46DB-A68D-1D762A85597A}"/>
              </a:ext>
            </a:extLst>
          </p:cNvPr>
          <p:cNvSpPr>
            <a:spLocks noGrp="1"/>
          </p:cNvSpPr>
          <p:nvPr/>
        </p:nvSpPr>
        <p:spPr>
          <a:xfrm>
            <a:off x="2020583" y="2762250"/>
            <a:ext cx="1104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More high-stakes usage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303072-DD10-418A-BD19-BFFF174680B6}"/>
              </a:ext>
            </a:extLst>
          </p:cNvPr>
          <p:cNvSpPr>
            <a:spLocks noGrp="1"/>
          </p:cNvSpPr>
          <p:nvPr/>
        </p:nvSpPr>
        <p:spPr>
          <a:xfrm>
            <a:off x="3714750" y="3257550"/>
            <a:ext cx="1181100" cy="5334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090A945-0D57-4903-B0F5-08B155373343}"/>
              </a:ext>
            </a:extLst>
          </p:cNvPr>
          <p:cNvSpPr>
            <a:spLocks noGrp="1"/>
          </p:cNvSpPr>
          <p:nvPr/>
        </p:nvSpPr>
        <p:spPr>
          <a:xfrm>
            <a:off x="3829050" y="3371850"/>
            <a:ext cx="95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credit</a:t>
            </a:r>
          </a:p>
          <a:p>
            <a:pPr algn="ctr">
              <a:defRPr sz="127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growth loop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B9675B0-FC97-432F-8A42-5B280AABB00C}"/>
              </a:ext>
            </a:extLst>
          </p:cNvPr>
          <p:cNvSpPr>
            <a:spLocks noGrp="1"/>
          </p:cNvSpPr>
          <p:nvPr/>
        </p:nvSpPr>
        <p:spPr>
          <a:xfrm>
            <a:off x="7086600" y="1962150"/>
            <a:ext cx="3714750" cy="57150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07F547C-DCED-4069-9D52-63046DF74068}"/>
              </a:ext>
            </a:extLst>
          </p:cNvPr>
          <p:cNvSpPr>
            <a:spLocks noGrp="1"/>
          </p:cNvSpPr>
          <p:nvPr/>
        </p:nvSpPr>
        <p:spPr>
          <a:xfrm>
            <a:off x="7172325" y="20859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Motion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CB0E801-927F-49A3-AB42-4787F6B05942}"/>
              </a:ext>
            </a:extLst>
          </p:cNvPr>
          <p:cNvSpPr>
            <a:spLocks noGrp="1"/>
          </p:cNvSpPr>
          <p:nvPr/>
        </p:nvSpPr>
        <p:spPr>
          <a:xfrm>
            <a:off x="8315325" y="2085975"/>
            <a:ext cx="2438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CD0DE8E-8C36-4119-B336-7C6295C31A37}"/>
              </a:ext>
            </a:extLst>
          </p:cNvPr>
          <p:cNvSpPr>
            <a:spLocks noGrp="1"/>
          </p:cNvSpPr>
          <p:nvPr/>
        </p:nvSpPr>
        <p:spPr>
          <a:xfrm>
            <a:off x="7086600" y="2533650"/>
            <a:ext cx="3714750" cy="57150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D80FE4-B12F-4481-B3AC-C5A609032F48}"/>
              </a:ext>
            </a:extLst>
          </p:cNvPr>
          <p:cNvSpPr>
            <a:spLocks noGrp="1"/>
          </p:cNvSpPr>
          <p:nvPr/>
        </p:nvSpPr>
        <p:spPr>
          <a:xfrm>
            <a:off x="7172325" y="26574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Beta launch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CFF98A-0310-46BD-8854-C6B9659AD7D2}"/>
              </a:ext>
            </a:extLst>
          </p:cNvPr>
          <p:cNvSpPr>
            <a:spLocks noGrp="1"/>
          </p:cNvSpPr>
          <p:nvPr/>
        </p:nvSpPr>
        <p:spPr>
          <a:xfrm>
            <a:off x="8315325" y="2657475"/>
            <a:ext cx="2438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Invite students, founders, researchers, and agencies into a guided cohort.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16412A4-D373-45AD-9D8F-12B1B664DE62}"/>
              </a:ext>
            </a:extLst>
          </p:cNvPr>
          <p:cNvSpPr>
            <a:spLocks noGrp="1"/>
          </p:cNvSpPr>
          <p:nvPr/>
        </p:nvSpPr>
        <p:spPr>
          <a:xfrm>
            <a:off x="7086600" y="3105150"/>
            <a:ext cx="3714750" cy="5715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10B4F8-33F6-4CD4-AD07-0C4922001259}"/>
              </a:ext>
            </a:extLst>
          </p:cNvPr>
          <p:cNvSpPr>
            <a:spLocks noGrp="1"/>
          </p:cNvSpPr>
          <p:nvPr/>
        </p:nvSpPr>
        <p:spPr>
          <a:xfrm>
            <a:off x="7172325" y="32289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Public launch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C7E4F1-19C1-4026-855A-F69EBF981FE7}"/>
              </a:ext>
            </a:extLst>
          </p:cNvPr>
          <p:cNvSpPr>
            <a:spLocks noGrp="1"/>
          </p:cNvSpPr>
          <p:nvPr/>
        </p:nvSpPr>
        <p:spPr>
          <a:xfrm>
            <a:off x="8315325" y="3228975"/>
            <a:ext cx="2438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Lead with Aria Analyzer examples and source-backed research outputs.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818B680-7E3B-46B1-B092-E35E3DB1A32F}"/>
              </a:ext>
            </a:extLst>
          </p:cNvPr>
          <p:cNvSpPr>
            <a:spLocks noGrp="1"/>
          </p:cNvSpPr>
          <p:nvPr/>
        </p:nvSpPr>
        <p:spPr>
          <a:xfrm>
            <a:off x="7086600" y="3676650"/>
            <a:ext cx="3714750" cy="57150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B62FDF9-7077-4150-B718-E452042AA44B}"/>
              </a:ext>
            </a:extLst>
          </p:cNvPr>
          <p:cNvSpPr>
            <a:spLocks noGrp="1"/>
          </p:cNvSpPr>
          <p:nvPr/>
        </p:nvSpPr>
        <p:spPr>
          <a:xfrm>
            <a:off x="7172325" y="38004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88134D9-C6B6-457C-AF42-873C562E63EE}"/>
              </a:ext>
            </a:extLst>
          </p:cNvPr>
          <p:cNvSpPr>
            <a:spLocks noGrp="1"/>
          </p:cNvSpPr>
          <p:nvPr/>
        </p:nvSpPr>
        <p:spPr>
          <a:xfrm>
            <a:off x="8315325" y="3800475"/>
            <a:ext cx="2438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Build prompt templates, use-case demos, and comparison challenges.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33027C8-13EF-460A-A5AE-DF25F287C0AE}"/>
              </a:ext>
            </a:extLst>
          </p:cNvPr>
          <p:cNvSpPr>
            <a:spLocks noGrp="1"/>
          </p:cNvSpPr>
          <p:nvPr/>
        </p:nvSpPr>
        <p:spPr>
          <a:xfrm>
            <a:off x="7086600" y="4248150"/>
            <a:ext cx="3714750" cy="57150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62CB5A1-4A3A-4AB0-9CA5-8837E55B0692}"/>
              </a:ext>
            </a:extLst>
          </p:cNvPr>
          <p:cNvSpPr>
            <a:spLocks noGrp="1"/>
          </p:cNvSpPr>
          <p:nvPr/>
        </p:nvSpPr>
        <p:spPr>
          <a:xfrm>
            <a:off x="7172325" y="4371975"/>
            <a:ext cx="1009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Referral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83AD057-9DFD-4096-BDBC-D7D313A1E156}"/>
              </a:ext>
            </a:extLst>
          </p:cNvPr>
          <p:cNvSpPr>
            <a:spLocks noGrp="1"/>
          </p:cNvSpPr>
          <p:nvPr/>
        </p:nvSpPr>
        <p:spPr>
          <a:xfrm>
            <a:off x="8315325" y="4371975"/>
            <a:ext cx="24384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Reward both inviter and new user with credits, not discount coupons.</a:t>
            </a:r>
          </a:p>
        </p:txBody>
      </p:sp>
    </p:spTree>
    <p:extLst>
      <p:ext uri="{BB962C8B-B14F-4D97-AF65-F5344CB8AC3E}">
        <p14:creationId xmlns:p14="http://schemas.microsoft.com/office/powerpoint/2010/main" val="1736672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bg">
            <a:extLst>
              <a:ext uri="{FF2B5EF4-FFF2-40B4-BE49-F238E27FC236}">
                <a16:creationId xmlns:a16="http://schemas.microsoft.com/office/drawing/2014/main" id="{D293F31B-F589-487F-821B-F654CC2A96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9EBA8EC2-14A9-46B8-899D-9E5E6662C5C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B1FDC6C4-D1F9-49D5-A4EC-8639DE46D5DB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6FFE2FE5-95AD-4B3B-B79A-219A4A2A2A54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5C286397-85D8-40FB-838B-49E312D41B72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FE82A0C0-2B58-4C65-9FB6-9387B6BF86A7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2B3EA9CA-6A27-4A28-8451-C0AA8A43B5D3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9E0E11F1-EBA1-4240-B4E3-CEF588839ED2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F0BD92AC-5448-438D-A41A-E6FA9C38697D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A4935C51-BDB5-4120-999B-7EC23567A8FA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9F493F4C-CECB-434B-BA84-322EC6C558B2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B9058684-CBBF-43E1-B883-D357D6E70325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6">
            <a:extLst>
              <a:ext uri="{FF2B5EF4-FFF2-40B4-BE49-F238E27FC236}">
                <a16:creationId xmlns:a16="http://schemas.microsoft.com/office/drawing/2014/main" id="{92F61EF6-3200-4107-83C2-9F34252D8662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6">
            <a:extLst>
              <a:ext uri="{FF2B5EF4-FFF2-40B4-BE49-F238E27FC236}">
                <a16:creationId xmlns:a16="http://schemas.microsoft.com/office/drawing/2014/main" id="{BEF7E879-F773-47C6-B86D-FFA05172B37C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MARKETING STRATEGY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17CED2-C5DA-4155-9988-EA79CF52E7DC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Marketing should demonstrate trust, not just announce features.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7FBEB525-FB79-4B89-94F5-A22A1CFD50EF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6980F4-96B5-48D5-8F72-80620B6A88C1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E8A1B1-BE8C-4BA8-8E82-851A9865CB19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8015E07-36D7-4400-8BA8-5E0FCCDC98A7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10287000" cy="547007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1B79EE-CF05-4326-A7AE-9DA18A6357D9}"/>
              </a:ext>
            </a:extLst>
          </p:cNvPr>
          <p:cNvSpPr>
            <a:spLocks noGrp="1"/>
          </p:cNvSpPr>
          <p:nvPr/>
        </p:nvSpPr>
        <p:spPr>
          <a:xfrm>
            <a:off x="752475" y="1876425"/>
            <a:ext cx="1581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087CD77-4016-4EE1-9329-8E6385C04760}"/>
              </a:ext>
            </a:extLst>
          </p:cNvPr>
          <p:cNvSpPr>
            <a:spLocks noGrp="1"/>
          </p:cNvSpPr>
          <p:nvPr/>
        </p:nvSpPr>
        <p:spPr>
          <a:xfrm>
            <a:off x="2466975" y="1876425"/>
            <a:ext cx="8439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Role in launch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FBC4E78-C022-4A11-9204-25030695A986}"/>
              </a:ext>
            </a:extLst>
          </p:cNvPr>
          <p:cNvSpPr>
            <a:spLocks noGrp="1"/>
          </p:cNvSpPr>
          <p:nvPr/>
        </p:nvSpPr>
        <p:spPr>
          <a:xfrm>
            <a:off x="666750" y="2299607"/>
            <a:ext cx="10287000" cy="547007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ED34F6F-B8AC-4898-990A-E9F5AEBB08E8}"/>
              </a:ext>
            </a:extLst>
          </p:cNvPr>
          <p:cNvSpPr>
            <a:spLocks noGrp="1"/>
          </p:cNvSpPr>
          <p:nvPr/>
        </p:nvSpPr>
        <p:spPr>
          <a:xfrm>
            <a:off x="752475" y="2423432"/>
            <a:ext cx="1581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Instagram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2EEEA2C-6D9C-4BCB-94E5-1C19EF8FDEE7}"/>
              </a:ext>
            </a:extLst>
          </p:cNvPr>
          <p:cNvSpPr>
            <a:spLocks noGrp="1"/>
          </p:cNvSpPr>
          <p:nvPr/>
        </p:nvSpPr>
        <p:spPr>
          <a:xfrm>
            <a:off x="2466975" y="2423432"/>
            <a:ext cx="8439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Short Analyzer comparisons, study/workflow reels, creator-friendly prompts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845B12C-6540-4214-BECC-EA4FBBEE283B}"/>
              </a:ext>
            </a:extLst>
          </p:cNvPr>
          <p:cNvSpPr>
            <a:spLocks noGrp="1"/>
          </p:cNvSpPr>
          <p:nvPr/>
        </p:nvSpPr>
        <p:spPr>
          <a:xfrm>
            <a:off x="666750" y="2846614"/>
            <a:ext cx="10287000" cy="547007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7D4DCF6-3648-4779-91E3-66D631B35580}"/>
              </a:ext>
            </a:extLst>
          </p:cNvPr>
          <p:cNvSpPr>
            <a:spLocks noGrp="1"/>
          </p:cNvSpPr>
          <p:nvPr/>
        </p:nvSpPr>
        <p:spPr>
          <a:xfrm>
            <a:off x="752475" y="2970439"/>
            <a:ext cx="1581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LinkedIn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3663AD-9F04-435E-863B-E2ED2F9DEAD6}"/>
              </a:ext>
            </a:extLst>
          </p:cNvPr>
          <p:cNvSpPr>
            <a:spLocks noGrp="1"/>
          </p:cNvSpPr>
          <p:nvPr/>
        </p:nvSpPr>
        <p:spPr>
          <a:xfrm>
            <a:off x="2466975" y="2970439"/>
            <a:ext cx="8439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Founder/research/professional use cases, source-backed threads, enterprise trust posts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373616A-6A5B-4033-AD54-C37DAD61D6F0}"/>
              </a:ext>
            </a:extLst>
          </p:cNvPr>
          <p:cNvSpPr>
            <a:spLocks noGrp="1"/>
          </p:cNvSpPr>
          <p:nvPr/>
        </p:nvSpPr>
        <p:spPr>
          <a:xfrm>
            <a:off x="666750" y="3393621"/>
            <a:ext cx="10287000" cy="547007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E246A2-5FAA-408C-B5F4-28C30715311A}"/>
              </a:ext>
            </a:extLst>
          </p:cNvPr>
          <p:cNvSpPr>
            <a:spLocks noGrp="1"/>
          </p:cNvSpPr>
          <p:nvPr/>
        </p:nvSpPr>
        <p:spPr>
          <a:xfrm>
            <a:off x="752475" y="3517446"/>
            <a:ext cx="1581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YouTube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61C03A3-71B7-44B9-8B3E-338A043DAC5A}"/>
              </a:ext>
            </a:extLst>
          </p:cNvPr>
          <p:cNvSpPr>
            <a:spLocks noGrp="1"/>
          </p:cNvSpPr>
          <p:nvPr/>
        </p:nvSpPr>
        <p:spPr>
          <a:xfrm>
            <a:off x="2466975" y="3517446"/>
            <a:ext cx="8439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Deep-dive tutorials, model battles, research walkthroughs, product roadmap updates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E6E2895-0E38-42B3-8D27-79938AC443A2}"/>
              </a:ext>
            </a:extLst>
          </p:cNvPr>
          <p:cNvSpPr>
            <a:spLocks noGrp="1"/>
          </p:cNvSpPr>
          <p:nvPr/>
        </p:nvSpPr>
        <p:spPr>
          <a:xfrm>
            <a:off x="666750" y="3940629"/>
            <a:ext cx="10287000" cy="547007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732D3F-48B0-4A5D-928B-6B377F42E866}"/>
              </a:ext>
            </a:extLst>
          </p:cNvPr>
          <p:cNvSpPr>
            <a:spLocks noGrp="1"/>
          </p:cNvSpPr>
          <p:nvPr/>
        </p:nvSpPr>
        <p:spPr>
          <a:xfrm>
            <a:off x="752475" y="4064454"/>
            <a:ext cx="1581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79BE76D-2359-452A-9227-26DB7FAFB734}"/>
              </a:ext>
            </a:extLst>
          </p:cNvPr>
          <p:cNvSpPr>
            <a:spLocks noGrp="1"/>
          </p:cNvSpPr>
          <p:nvPr/>
        </p:nvSpPr>
        <p:spPr>
          <a:xfrm>
            <a:off x="2466975" y="4064454"/>
            <a:ext cx="8439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Live comparison posts, AI news reactions, build-in-public milestones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7D6CFF-2C09-4DA2-A403-56149CBE90CE}"/>
              </a:ext>
            </a:extLst>
          </p:cNvPr>
          <p:cNvSpPr>
            <a:spLocks noGrp="1"/>
          </p:cNvSpPr>
          <p:nvPr/>
        </p:nvSpPr>
        <p:spPr>
          <a:xfrm>
            <a:off x="666750" y="4487636"/>
            <a:ext cx="10287000" cy="547007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4C2CC79-5532-459D-865B-A23694075C8F}"/>
              </a:ext>
            </a:extLst>
          </p:cNvPr>
          <p:cNvSpPr>
            <a:spLocks noGrp="1"/>
          </p:cNvSpPr>
          <p:nvPr/>
        </p:nvSpPr>
        <p:spPr>
          <a:xfrm>
            <a:off x="752475" y="4611461"/>
            <a:ext cx="1581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Influencers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FB22D4E-A5DA-4E32-96BE-A7516C96BF63}"/>
              </a:ext>
            </a:extLst>
          </p:cNvPr>
          <p:cNvSpPr>
            <a:spLocks noGrp="1"/>
          </p:cNvSpPr>
          <p:nvPr/>
        </p:nvSpPr>
        <p:spPr>
          <a:xfrm>
            <a:off x="2466975" y="4611461"/>
            <a:ext cx="8439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Education, finance, startup, productivity, and research creators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67B91C1-1806-42B0-AC74-9CAA7FF5D6D7}"/>
              </a:ext>
            </a:extLst>
          </p:cNvPr>
          <p:cNvSpPr>
            <a:spLocks noGrp="1"/>
          </p:cNvSpPr>
          <p:nvPr/>
        </p:nvSpPr>
        <p:spPr>
          <a:xfrm>
            <a:off x="666750" y="5034643"/>
            <a:ext cx="10287000" cy="547007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236D5D5-AAD9-449D-A9C5-8E2CC510CCAA}"/>
              </a:ext>
            </a:extLst>
          </p:cNvPr>
          <p:cNvSpPr>
            <a:spLocks noGrp="1"/>
          </p:cNvSpPr>
          <p:nvPr/>
        </p:nvSpPr>
        <p:spPr>
          <a:xfrm>
            <a:off x="752475" y="5158468"/>
            <a:ext cx="1581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109C10-B759-49C8-BE0D-248FD3B8A64F}"/>
              </a:ext>
            </a:extLst>
          </p:cNvPr>
          <p:cNvSpPr>
            <a:spLocks noGrp="1"/>
          </p:cNvSpPr>
          <p:nvPr/>
        </p:nvSpPr>
        <p:spPr>
          <a:xfrm>
            <a:off x="2466975" y="5158468"/>
            <a:ext cx="8439150" cy="29935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Weekly benchmark prompts, playbooks, templates, and case studies</a:t>
            </a:r>
          </a:p>
        </p:txBody>
      </p:sp>
    </p:spTree>
    <p:extLst>
      <p:ext uri="{BB962C8B-B14F-4D97-AF65-F5344CB8AC3E}">
        <p14:creationId xmlns:p14="http://schemas.microsoft.com/office/powerpoint/2010/main" val="15885934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g">
            <a:extLst>
              <a:ext uri="{FF2B5EF4-FFF2-40B4-BE49-F238E27FC236}">
                <a16:creationId xmlns:a16="http://schemas.microsoft.com/office/drawing/2014/main" id="{DEBEB341-299F-4372-91B0-E9B39ECE7C6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43A56D07-E114-4BCA-8A88-311E8ACFFC9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B0DEB337-F3AA-49DF-B1F1-58EC8784157C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B947D423-96DA-48EF-9CD4-05267C4AAD02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F21E6970-679D-463D-A0C5-460EFAE61C39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6D753199-6C60-4C0A-8253-6BB51C356019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5A1243A4-86F4-4D56-9658-A2D19D846DBD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1E4E5E73-D890-4183-B588-FCE3B27D8721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4B518019-09B8-403F-BEAE-DFFE8F8E27EB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2B670E88-D83E-45ED-9EFC-E03172AA101D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DCF277AF-963D-46F2-88ED-8A1C29CF8540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8818DDDE-1223-4C38-A901-3AD5B3DD7EAB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7">
            <a:extLst>
              <a:ext uri="{FF2B5EF4-FFF2-40B4-BE49-F238E27FC236}">
                <a16:creationId xmlns:a16="http://schemas.microsoft.com/office/drawing/2014/main" id="{ECA59688-8DF2-422A-9781-0AF0B48ADD79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7">
            <a:extLst>
              <a:ext uri="{FF2B5EF4-FFF2-40B4-BE49-F238E27FC236}">
                <a16:creationId xmlns:a16="http://schemas.microsoft.com/office/drawing/2014/main" id="{98765798-8728-4841-A2E8-50B509C50F9A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SALES STRATEGY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1EBB44-2431-46BC-B275-5F28FF8E1B72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Sales motion should start self-serve and graduate to team deals.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D42B00CE-1B4E-4DF8-9D38-40001C05AB93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2BF4CB-EE5A-43D5-A0EF-A2F6E619CACD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4F5F60-D628-4BBB-AC0D-0BBB1216F103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C0ED3C9-37CD-4104-BB1A-34C02B159D48}"/>
              </a:ext>
            </a:extLst>
          </p:cNvPr>
          <p:cNvSpPr>
            <a:spLocks noGrp="1"/>
          </p:cNvSpPr>
          <p:nvPr/>
        </p:nvSpPr>
        <p:spPr>
          <a:xfrm>
            <a:off x="1714500" y="1828800"/>
            <a:ext cx="8001000" cy="533400"/>
          </a:xfrm>
          <a:prstGeom prst="rect">
            <a:avLst/>
          </a:prstGeom>
          <a:solidFill>
            <a:srgbClr val="0F5C51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C15D2F-D8AA-4354-96E6-D200DFCAC69A}"/>
              </a:ext>
            </a:extLst>
          </p:cNvPr>
          <p:cNvSpPr>
            <a:spLocks noGrp="1"/>
          </p:cNvSpPr>
          <p:nvPr/>
        </p:nvSpPr>
        <p:spPr>
          <a:xfrm>
            <a:off x="1885950" y="19716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Reach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538BAF-4DCA-4707-BD73-7FAF73B016D3}"/>
              </a:ext>
            </a:extLst>
          </p:cNvPr>
          <p:cNvSpPr>
            <a:spLocks noGrp="1"/>
          </p:cNvSpPr>
          <p:nvPr/>
        </p:nvSpPr>
        <p:spPr>
          <a:xfrm>
            <a:off x="3181350" y="1981200"/>
            <a:ext cx="6286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Social demos, SEO pages, campus/community partners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C4E42FB-BEC0-412D-B3F4-28B0EFD35BFC}"/>
              </a:ext>
            </a:extLst>
          </p:cNvPr>
          <p:cNvSpPr>
            <a:spLocks noGrp="1"/>
          </p:cNvSpPr>
          <p:nvPr/>
        </p:nvSpPr>
        <p:spPr>
          <a:xfrm>
            <a:off x="2238375" y="2552700"/>
            <a:ext cx="6953250" cy="533400"/>
          </a:xfrm>
          <a:prstGeom prst="rect">
            <a:avLst/>
          </a:prstGeom>
          <a:solidFill>
            <a:srgbClr val="12394A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DBA900-8997-4E04-9762-9D9E63F89852}"/>
              </a:ext>
            </a:extLst>
          </p:cNvPr>
          <p:cNvSpPr>
            <a:spLocks noGrp="1"/>
          </p:cNvSpPr>
          <p:nvPr/>
        </p:nvSpPr>
        <p:spPr>
          <a:xfrm>
            <a:off x="2409825" y="26955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Activate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B7E0359-079F-4BFC-99A2-85E3ABC782D7}"/>
              </a:ext>
            </a:extLst>
          </p:cNvPr>
          <p:cNvSpPr>
            <a:spLocks noGrp="1"/>
          </p:cNvSpPr>
          <p:nvPr/>
        </p:nvSpPr>
        <p:spPr>
          <a:xfrm>
            <a:off x="3705225" y="2705100"/>
            <a:ext cx="523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Free credits, first Analyzer run, saved workspace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B9F7440-7F28-4142-9CEB-AFDE0D2A747E}"/>
              </a:ext>
            </a:extLst>
          </p:cNvPr>
          <p:cNvSpPr>
            <a:spLocks noGrp="1"/>
          </p:cNvSpPr>
          <p:nvPr/>
        </p:nvSpPr>
        <p:spPr>
          <a:xfrm>
            <a:off x="2762250" y="3276600"/>
            <a:ext cx="5905500" cy="533400"/>
          </a:xfrm>
          <a:prstGeom prst="rect">
            <a:avLst/>
          </a:prstGeom>
          <a:solidFill>
            <a:srgbClr val="4A3A1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F74A62-E6C4-44D0-85D9-A44D9E75DE0A}"/>
              </a:ext>
            </a:extLst>
          </p:cNvPr>
          <p:cNvSpPr>
            <a:spLocks noGrp="1"/>
          </p:cNvSpPr>
          <p:nvPr/>
        </p:nvSpPr>
        <p:spPr>
          <a:xfrm>
            <a:off x="2933700" y="34194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Convert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C4194AF-B876-4FC5-923F-4F7A1D1B2142}"/>
              </a:ext>
            </a:extLst>
          </p:cNvPr>
          <p:cNvSpPr>
            <a:spLocks noGrp="1"/>
          </p:cNvSpPr>
          <p:nvPr/>
        </p:nvSpPr>
        <p:spPr>
          <a:xfrm>
            <a:off x="4229100" y="3429000"/>
            <a:ext cx="4191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Low-credit triggers, use-case bundles, Razorpay/UPI checkout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168DAA9-53C7-4BE7-AF6F-D62763AE8315}"/>
              </a:ext>
            </a:extLst>
          </p:cNvPr>
          <p:cNvSpPr>
            <a:spLocks noGrp="1"/>
          </p:cNvSpPr>
          <p:nvPr/>
        </p:nvSpPr>
        <p:spPr>
          <a:xfrm>
            <a:off x="3286125" y="4000500"/>
            <a:ext cx="4857750" cy="533400"/>
          </a:xfrm>
          <a:prstGeom prst="rect">
            <a:avLst/>
          </a:prstGeom>
          <a:solidFill>
            <a:srgbClr val="194331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9059EDD-5E27-4506-BAD0-78243870EFE4}"/>
              </a:ext>
            </a:extLst>
          </p:cNvPr>
          <p:cNvSpPr>
            <a:spLocks noGrp="1"/>
          </p:cNvSpPr>
          <p:nvPr/>
        </p:nvSpPr>
        <p:spPr>
          <a:xfrm>
            <a:off x="3457575" y="41433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3E6B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63E6BE"/>
                </a:solidFill>
                <a:latin typeface="Aptos"/>
                <a:ea typeface="Aptos"/>
                <a:cs typeface="Aptos"/>
              </a:rPr>
              <a:t>Expand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B201A88-0140-4DB0-A50B-C5C3329D2FFB}"/>
              </a:ext>
            </a:extLst>
          </p:cNvPr>
          <p:cNvSpPr>
            <a:spLocks noGrp="1"/>
          </p:cNvSpPr>
          <p:nvPr/>
        </p:nvSpPr>
        <p:spPr>
          <a:xfrm>
            <a:off x="4752975" y="4152900"/>
            <a:ext cx="3143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Team plans, admin reports, shared credits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3F77928-95C3-4902-9A11-39BBC5977D36}"/>
              </a:ext>
            </a:extLst>
          </p:cNvPr>
          <p:cNvSpPr>
            <a:spLocks noGrp="1"/>
          </p:cNvSpPr>
          <p:nvPr/>
        </p:nvSpPr>
        <p:spPr>
          <a:xfrm>
            <a:off x="3810000" y="4724400"/>
            <a:ext cx="3810000" cy="533400"/>
          </a:xfrm>
          <a:prstGeom prst="rect">
            <a:avLst/>
          </a:prstGeom>
          <a:solidFill>
            <a:srgbClr val="3A1F2A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E5DB02F-013F-4658-9E67-68B3DCC5F2A0}"/>
              </a:ext>
            </a:extLst>
          </p:cNvPr>
          <p:cNvSpPr>
            <a:spLocks noGrp="1"/>
          </p:cNvSpPr>
          <p:nvPr/>
        </p:nvSpPr>
        <p:spPr>
          <a:xfrm>
            <a:off x="3981450" y="4867275"/>
            <a:ext cx="1143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6B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B8A"/>
                </a:solidFill>
                <a:latin typeface="Aptos"/>
                <a:ea typeface="Aptos"/>
                <a:cs typeface="Aptos"/>
              </a:rPr>
              <a:t>Retain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0E4154-5DF8-4A10-B6E9-6E43CA51F7AC}"/>
              </a:ext>
            </a:extLst>
          </p:cNvPr>
          <p:cNvSpPr>
            <a:spLocks noGrp="1"/>
          </p:cNvSpPr>
          <p:nvPr/>
        </p:nvSpPr>
        <p:spPr>
          <a:xfrm>
            <a:off x="5276850" y="4876800"/>
            <a:ext cx="2095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4F8F7"/>
                </a:solidFill>
                <a:latin typeface="Aptos"/>
                <a:ea typeface="Aptos"/>
                <a:cs typeface="Aptos"/>
              </a:rPr>
              <a:t>Memory, templates, quality metrics, support loops</a:t>
            </a:r>
          </a:p>
        </p:txBody>
      </p:sp>
    </p:spTree>
    <p:extLst>
      <p:ext uri="{BB962C8B-B14F-4D97-AF65-F5344CB8AC3E}">
        <p14:creationId xmlns:p14="http://schemas.microsoft.com/office/powerpoint/2010/main" val="10893007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bg">
            <a:extLst>
              <a:ext uri="{FF2B5EF4-FFF2-40B4-BE49-F238E27FC236}">
                <a16:creationId xmlns:a16="http://schemas.microsoft.com/office/drawing/2014/main" id="{1D7F740D-2845-43A9-A225-9CDC7A194D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487D65D4-EC8E-4AAB-8D59-D58E3B4C8A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15AA82D1-39A2-42F2-A2B6-55D4884CE18C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D27D680B-9B76-434F-8C74-FDB11EBD01EB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2DE41E26-3EC4-44EB-8DF5-B0121051C1C4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B6583F9E-432C-4B22-B8B1-5565C3D43E67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6679A383-753C-479A-B053-1FA5668C3A42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51030FD3-9971-47EC-B4F7-1B48AA9DFC7E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1F2C5336-9EF7-4BA6-8386-E5DF7C8A7483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FE070FAA-4A86-4588-93E5-BB99A4AC8C87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DAF5C894-DE71-4A60-8AF6-EBA378AD533C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D5BC31DF-22FC-4123-9995-C32C29273A56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8">
            <a:extLst>
              <a:ext uri="{FF2B5EF4-FFF2-40B4-BE49-F238E27FC236}">
                <a16:creationId xmlns:a16="http://schemas.microsoft.com/office/drawing/2014/main" id="{46593D67-ED6B-4031-8F20-72A588284AB3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8">
            <a:extLst>
              <a:ext uri="{FF2B5EF4-FFF2-40B4-BE49-F238E27FC236}">
                <a16:creationId xmlns:a16="http://schemas.microsoft.com/office/drawing/2014/main" id="{B49A156F-4215-413A-8DA5-BCAD1538A941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ENTERPRISE STRATEGY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1A8F81A-89C9-4680-AC58-ED9BAEC88E46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Enterprise value comes from controlled AI access across teams and workflows.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330F19AA-1C6D-4FA7-8858-00E4D317EC58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5E3C04B-0FB7-4337-8D41-87EFC114A9C4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CD42EF-5E75-428B-A0B3-45275BC2C12C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4EDFD6-8A66-4DCE-924E-8128EFA16244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4286250" cy="8001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6DFF735-E2B1-4201-A8CC-2325264495C2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38100" cy="800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849251-B096-4879-9BD4-06A56915072B}"/>
              </a:ext>
            </a:extLst>
          </p:cNvPr>
          <p:cNvSpPr>
            <a:spLocks noGrp="1"/>
          </p:cNvSpPr>
          <p:nvPr/>
        </p:nvSpPr>
        <p:spPr>
          <a:xfrm>
            <a:off x="1047750" y="1943100"/>
            <a:ext cx="398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Knowledge work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CB15270-6C05-4C2C-B43B-EEE08E238BCB}"/>
              </a:ext>
            </a:extLst>
          </p:cNvPr>
          <p:cNvSpPr>
            <a:spLocks noGrp="1"/>
          </p:cNvSpPr>
          <p:nvPr/>
        </p:nvSpPr>
        <p:spPr>
          <a:xfrm>
            <a:off x="1047750" y="2266950"/>
            <a:ext cx="398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Research, summarization, policy lookup, document Q&amp;A.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3154396-45D9-4F78-B168-7519EEEBC73D}"/>
              </a:ext>
            </a:extLst>
          </p:cNvPr>
          <p:cNvSpPr>
            <a:spLocks noGrp="1"/>
          </p:cNvSpPr>
          <p:nvPr/>
        </p:nvSpPr>
        <p:spPr>
          <a:xfrm>
            <a:off x="5829300" y="1809750"/>
            <a:ext cx="4286250" cy="8001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0A8B3D-F18A-4215-A412-2BB25A35D3E4}"/>
              </a:ext>
            </a:extLst>
          </p:cNvPr>
          <p:cNvSpPr>
            <a:spLocks noGrp="1"/>
          </p:cNvSpPr>
          <p:nvPr/>
        </p:nvSpPr>
        <p:spPr>
          <a:xfrm>
            <a:off x="5829300" y="1809750"/>
            <a:ext cx="38100" cy="8001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C75330C-DE62-4BB2-AD89-E2391A5A1D72}"/>
              </a:ext>
            </a:extLst>
          </p:cNvPr>
          <p:cNvSpPr>
            <a:spLocks noGrp="1"/>
          </p:cNvSpPr>
          <p:nvPr/>
        </p:nvSpPr>
        <p:spPr>
          <a:xfrm>
            <a:off x="6000750" y="1943100"/>
            <a:ext cx="398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Sales and marketing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2444C2A-AD8C-4091-815C-E7A575A53BA7}"/>
              </a:ext>
            </a:extLst>
          </p:cNvPr>
          <p:cNvSpPr>
            <a:spLocks noGrp="1"/>
          </p:cNvSpPr>
          <p:nvPr/>
        </p:nvSpPr>
        <p:spPr>
          <a:xfrm>
            <a:off x="6000750" y="2266950"/>
            <a:ext cx="398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Competitive research, account notes, proposal drafts, campaign analysis.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DCD10AF-770D-440C-8E8A-D662C54E32B2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4286250" cy="8001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63BB11-7037-43AB-A7A8-73527359B2A2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38100" cy="80010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487100E-EDCB-470C-AEA7-5BD969D008AE}"/>
              </a:ext>
            </a:extLst>
          </p:cNvPr>
          <p:cNvSpPr>
            <a:spLocks noGrp="1"/>
          </p:cNvSpPr>
          <p:nvPr/>
        </p:nvSpPr>
        <p:spPr>
          <a:xfrm>
            <a:off x="1047750" y="3048000"/>
            <a:ext cx="398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Customer support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B1146F-9142-4C0D-A240-A842220A9267}"/>
              </a:ext>
            </a:extLst>
          </p:cNvPr>
          <p:cNvSpPr>
            <a:spLocks noGrp="1"/>
          </p:cNvSpPr>
          <p:nvPr/>
        </p:nvSpPr>
        <p:spPr>
          <a:xfrm>
            <a:off x="1047750" y="3371850"/>
            <a:ext cx="398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Draft replies, internal knowledge search, escalation prep.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CEE5FE8-91FE-4396-AA10-3C869A57A539}"/>
              </a:ext>
            </a:extLst>
          </p:cNvPr>
          <p:cNvSpPr>
            <a:spLocks noGrp="1"/>
          </p:cNvSpPr>
          <p:nvPr/>
        </p:nvSpPr>
        <p:spPr>
          <a:xfrm>
            <a:off x="5829300" y="2914650"/>
            <a:ext cx="4286250" cy="8001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FAD155D-E518-4051-A39C-5592F5900003}"/>
              </a:ext>
            </a:extLst>
          </p:cNvPr>
          <p:cNvSpPr>
            <a:spLocks noGrp="1"/>
          </p:cNvSpPr>
          <p:nvPr/>
        </p:nvSpPr>
        <p:spPr>
          <a:xfrm>
            <a:off x="5829300" y="2914650"/>
            <a:ext cx="38100" cy="800100"/>
          </a:xfrm>
          <a:prstGeom prst="rect">
            <a:avLst/>
          </a:prstGeom>
          <a:solidFill>
            <a:srgbClr val="63E6BE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6F9561A-3A68-4AEF-9275-2999316CC28D}"/>
              </a:ext>
            </a:extLst>
          </p:cNvPr>
          <p:cNvSpPr>
            <a:spLocks noGrp="1"/>
          </p:cNvSpPr>
          <p:nvPr/>
        </p:nvSpPr>
        <p:spPr>
          <a:xfrm>
            <a:off x="6000750" y="3048000"/>
            <a:ext cx="398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Custom deployment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7C9D950-5812-490B-BE88-66FC722D91B5}"/>
              </a:ext>
            </a:extLst>
          </p:cNvPr>
          <p:cNvSpPr>
            <a:spLocks noGrp="1"/>
          </p:cNvSpPr>
          <p:nvPr/>
        </p:nvSpPr>
        <p:spPr>
          <a:xfrm>
            <a:off x="6000750" y="3371850"/>
            <a:ext cx="398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Private routing rules, team budgets, data retention, SSO, audit logs.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C5185C-1BBB-4E73-8615-E7C26A7A46BA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4286250" cy="8001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0FC4790-ACCE-4B0F-9BAC-F1B5ED095B96}"/>
              </a:ext>
            </a:extLst>
          </p:cNvPr>
          <p:cNvSpPr>
            <a:spLocks noGrp="1"/>
          </p:cNvSpPr>
          <p:nvPr/>
        </p:nvSpPr>
        <p:spPr>
          <a:xfrm>
            <a:off x="876300" y="4019550"/>
            <a:ext cx="38100" cy="800100"/>
          </a:xfrm>
          <a:prstGeom prst="rect">
            <a:avLst/>
          </a:prstGeom>
          <a:solidFill>
            <a:srgbClr val="FF6B8A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7AEE8D-5776-4D3F-9A11-EA66CCFC9AB5}"/>
              </a:ext>
            </a:extLst>
          </p:cNvPr>
          <p:cNvSpPr>
            <a:spLocks noGrp="1"/>
          </p:cNvSpPr>
          <p:nvPr/>
        </p:nvSpPr>
        <p:spPr>
          <a:xfrm>
            <a:off x="1047750" y="4152900"/>
            <a:ext cx="3981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White-label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8A330A6-D582-49A2-A08E-75C7F7EC97CC}"/>
              </a:ext>
            </a:extLst>
          </p:cNvPr>
          <p:cNvSpPr>
            <a:spLocks noGrp="1"/>
          </p:cNvSpPr>
          <p:nvPr/>
        </p:nvSpPr>
        <p:spPr>
          <a:xfrm>
            <a:off x="1047750" y="4476750"/>
            <a:ext cx="39814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Powered-by-Aria workspaces for agencies, educators, and vertical SaaS tools.</a:t>
            </a:r>
          </a:p>
        </p:txBody>
      </p:sp>
    </p:spTree>
    <p:extLst>
      <p:ext uri="{BB962C8B-B14F-4D97-AF65-F5344CB8AC3E}">
        <p14:creationId xmlns:p14="http://schemas.microsoft.com/office/powerpoint/2010/main" val="4438666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bg">
            <a:extLst>
              <a:ext uri="{FF2B5EF4-FFF2-40B4-BE49-F238E27FC236}">
                <a16:creationId xmlns:a16="http://schemas.microsoft.com/office/drawing/2014/main" id="{3CAAE448-2271-4A3B-BEB2-2AA4B203DD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74792546-270B-41D7-BBBD-21038CB715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88F5822A-3399-4258-9D41-0FBE882AF7F5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5A201479-BEB1-494D-BDA6-364E85DB6B01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61B29518-D9D7-40CC-92BC-91A3D9C97E8B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E44F26BE-4790-495F-93E2-798C1918AFEF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C3F8F766-EAA0-4798-84D5-3079D1FD5DC9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FA08412C-6E8D-4B3B-8F47-9C6175F8201F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1A75FA11-3535-4F96-9C88-2C47018A6D13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47F286A8-9417-4FAC-B955-431AA72F78C8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10BF00FD-B31C-4094-B437-BA9B8A5F4765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4525657B-CF2A-47CB-A05E-536203DAA97E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29">
            <a:extLst>
              <a:ext uri="{FF2B5EF4-FFF2-40B4-BE49-F238E27FC236}">
                <a16:creationId xmlns:a16="http://schemas.microsoft.com/office/drawing/2014/main" id="{7C815B3A-6864-45E6-90EF-0F87D240B0BF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29">
            <a:extLst>
              <a:ext uri="{FF2B5EF4-FFF2-40B4-BE49-F238E27FC236}">
                <a16:creationId xmlns:a16="http://schemas.microsoft.com/office/drawing/2014/main" id="{C7C24F23-E68F-411C-94F0-A6B291FCB9A8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FINANCIAL PROJECTIONS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578DF2-735A-4075-8288-AD517502D7BB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financial model should be managed through credit margin, not vanity usage.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3DBD9FC3-9C62-4933-BCB7-D987D9EC7AC8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813438-6541-489D-8EAC-3DBE861DEADC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E166B51-DACC-43B0-BD85-6C4D7753D7A8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0F1066-737A-420E-B34D-786E39E9BE2E}"/>
              </a:ext>
            </a:extLst>
          </p:cNvPr>
          <p:cNvSpPr>
            <a:spLocks noGrp="1"/>
          </p:cNvSpPr>
          <p:nvPr/>
        </p:nvSpPr>
        <p:spPr>
          <a:xfrm>
            <a:off x="723900" y="1752600"/>
            <a:ext cx="10287000" cy="498021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AAB314F-1032-4871-83AC-50FDC2A6F1A0}"/>
              </a:ext>
            </a:extLst>
          </p:cNvPr>
          <p:cNvSpPr>
            <a:spLocks noGrp="1"/>
          </p:cNvSpPr>
          <p:nvPr/>
        </p:nvSpPr>
        <p:spPr>
          <a:xfrm>
            <a:off x="809625" y="1876425"/>
            <a:ext cx="28194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349E7A-D1BC-460F-A049-F2744DF186AC}"/>
              </a:ext>
            </a:extLst>
          </p:cNvPr>
          <p:cNvSpPr>
            <a:spLocks noGrp="1"/>
          </p:cNvSpPr>
          <p:nvPr/>
        </p:nvSpPr>
        <p:spPr>
          <a:xfrm>
            <a:off x="3762375" y="1876425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498D171-6605-4F60-9A4B-0CE4A5CAF8A5}"/>
              </a:ext>
            </a:extLst>
          </p:cNvPr>
          <p:cNvSpPr>
            <a:spLocks noGrp="1"/>
          </p:cNvSpPr>
          <p:nvPr/>
        </p:nvSpPr>
        <p:spPr>
          <a:xfrm>
            <a:off x="6200775" y="1876425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Year 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9CD1B1A-7D45-4D8E-9466-7ECC64D0A822}"/>
              </a:ext>
            </a:extLst>
          </p:cNvPr>
          <p:cNvSpPr>
            <a:spLocks noGrp="1"/>
          </p:cNvSpPr>
          <p:nvPr/>
        </p:nvSpPr>
        <p:spPr>
          <a:xfrm>
            <a:off x="8639175" y="1876425"/>
            <a:ext cx="23241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15934A-EAD0-4783-B44C-A376A89A3E75}"/>
              </a:ext>
            </a:extLst>
          </p:cNvPr>
          <p:cNvSpPr>
            <a:spLocks noGrp="1"/>
          </p:cNvSpPr>
          <p:nvPr/>
        </p:nvSpPr>
        <p:spPr>
          <a:xfrm>
            <a:off x="723900" y="2250621"/>
            <a:ext cx="10287000" cy="498021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F0C2573-371D-46FC-A4F2-24F2A262C9FB}"/>
              </a:ext>
            </a:extLst>
          </p:cNvPr>
          <p:cNvSpPr>
            <a:spLocks noGrp="1"/>
          </p:cNvSpPr>
          <p:nvPr/>
        </p:nvSpPr>
        <p:spPr>
          <a:xfrm>
            <a:off x="809625" y="2374446"/>
            <a:ext cx="28194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Registered users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2FF13F3-7FEC-4545-B736-20BF9A488DFB}"/>
              </a:ext>
            </a:extLst>
          </p:cNvPr>
          <p:cNvSpPr>
            <a:spLocks noGrp="1"/>
          </p:cNvSpPr>
          <p:nvPr/>
        </p:nvSpPr>
        <p:spPr>
          <a:xfrm>
            <a:off x="3762375" y="2374446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75K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6E78A9-7DAF-4CCB-B1D3-9426A959B4FD}"/>
              </a:ext>
            </a:extLst>
          </p:cNvPr>
          <p:cNvSpPr>
            <a:spLocks noGrp="1"/>
          </p:cNvSpPr>
          <p:nvPr/>
        </p:nvSpPr>
        <p:spPr>
          <a:xfrm>
            <a:off x="6200775" y="2374446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250K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3DAD06-8AB1-4440-B8F0-A3C2FB825FD6}"/>
              </a:ext>
            </a:extLst>
          </p:cNvPr>
          <p:cNvSpPr>
            <a:spLocks noGrp="1"/>
          </p:cNvSpPr>
          <p:nvPr/>
        </p:nvSpPr>
        <p:spPr>
          <a:xfrm>
            <a:off x="8639175" y="2374446"/>
            <a:ext cx="23241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750K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BDAF30-859B-49B4-88FF-76952774C88A}"/>
              </a:ext>
            </a:extLst>
          </p:cNvPr>
          <p:cNvSpPr>
            <a:spLocks noGrp="1"/>
          </p:cNvSpPr>
          <p:nvPr/>
        </p:nvSpPr>
        <p:spPr>
          <a:xfrm>
            <a:off x="723900" y="2748643"/>
            <a:ext cx="10287000" cy="498021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A30064-E191-4585-BA42-D8D4C6394466}"/>
              </a:ext>
            </a:extLst>
          </p:cNvPr>
          <p:cNvSpPr>
            <a:spLocks noGrp="1"/>
          </p:cNvSpPr>
          <p:nvPr/>
        </p:nvSpPr>
        <p:spPr>
          <a:xfrm>
            <a:off x="809625" y="2872468"/>
            <a:ext cx="28194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Paid users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078037F-5F6A-4AAA-9C53-F918AD9DE108}"/>
              </a:ext>
            </a:extLst>
          </p:cNvPr>
          <p:cNvSpPr>
            <a:spLocks noGrp="1"/>
          </p:cNvSpPr>
          <p:nvPr/>
        </p:nvSpPr>
        <p:spPr>
          <a:xfrm>
            <a:off x="3762375" y="2872468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3.8K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3D0C9E5-1D04-48B2-854A-76BD37E1AEF5}"/>
              </a:ext>
            </a:extLst>
          </p:cNvPr>
          <p:cNvSpPr>
            <a:spLocks noGrp="1"/>
          </p:cNvSpPr>
          <p:nvPr/>
        </p:nvSpPr>
        <p:spPr>
          <a:xfrm>
            <a:off x="6200775" y="2872468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18K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604177-F6AA-4E89-878F-B77A3AD3C016}"/>
              </a:ext>
            </a:extLst>
          </p:cNvPr>
          <p:cNvSpPr>
            <a:spLocks noGrp="1"/>
          </p:cNvSpPr>
          <p:nvPr/>
        </p:nvSpPr>
        <p:spPr>
          <a:xfrm>
            <a:off x="8639175" y="2872468"/>
            <a:ext cx="23241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65K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02A9661-2518-485B-A7CB-BBAC4DE2ADD7}"/>
              </a:ext>
            </a:extLst>
          </p:cNvPr>
          <p:cNvSpPr>
            <a:spLocks noGrp="1"/>
          </p:cNvSpPr>
          <p:nvPr/>
        </p:nvSpPr>
        <p:spPr>
          <a:xfrm>
            <a:off x="723900" y="3246664"/>
            <a:ext cx="10287000" cy="498021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B6264F7-D2BB-43AD-962D-D4191A6C8668}"/>
              </a:ext>
            </a:extLst>
          </p:cNvPr>
          <p:cNvSpPr>
            <a:spLocks noGrp="1"/>
          </p:cNvSpPr>
          <p:nvPr/>
        </p:nvSpPr>
        <p:spPr>
          <a:xfrm>
            <a:off x="809625" y="3370489"/>
            <a:ext cx="28194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1CBCA6F-E99C-4130-B506-AF69F95FD53E}"/>
              </a:ext>
            </a:extLst>
          </p:cNvPr>
          <p:cNvSpPr>
            <a:spLocks noGrp="1"/>
          </p:cNvSpPr>
          <p:nvPr/>
        </p:nvSpPr>
        <p:spPr>
          <a:xfrm>
            <a:off x="3762375" y="3370489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36M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EDD594B-C16A-45D8-8C29-8AC4E34407FA}"/>
              </a:ext>
            </a:extLst>
          </p:cNvPr>
          <p:cNvSpPr>
            <a:spLocks noGrp="1"/>
          </p:cNvSpPr>
          <p:nvPr/>
        </p:nvSpPr>
        <p:spPr>
          <a:xfrm>
            <a:off x="6200775" y="3370489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162M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BC1774B-6C20-4153-AB42-A97261CA958B}"/>
              </a:ext>
            </a:extLst>
          </p:cNvPr>
          <p:cNvSpPr>
            <a:spLocks noGrp="1"/>
          </p:cNvSpPr>
          <p:nvPr/>
        </p:nvSpPr>
        <p:spPr>
          <a:xfrm>
            <a:off x="8639175" y="3370489"/>
            <a:ext cx="23241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675M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2A4E51D-8A71-4A8A-9504-AF60584D7228}"/>
              </a:ext>
            </a:extLst>
          </p:cNvPr>
          <p:cNvSpPr>
            <a:spLocks noGrp="1"/>
          </p:cNvSpPr>
          <p:nvPr/>
        </p:nvSpPr>
        <p:spPr>
          <a:xfrm>
            <a:off x="723900" y="3744686"/>
            <a:ext cx="10287000" cy="498021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8BFCFC-03B6-44C2-96E2-D03CD9250D74}"/>
              </a:ext>
            </a:extLst>
          </p:cNvPr>
          <p:cNvSpPr>
            <a:spLocks noGrp="1"/>
          </p:cNvSpPr>
          <p:nvPr/>
        </p:nvSpPr>
        <p:spPr>
          <a:xfrm>
            <a:off x="809625" y="3868511"/>
            <a:ext cx="28194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AI variable cost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2E1C2E3-5837-4E16-9767-A3490028295A}"/>
              </a:ext>
            </a:extLst>
          </p:cNvPr>
          <p:cNvSpPr>
            <a:spLocks noGrp="1"/>
          </p:cNvSpPr>
          <p:nvPr/>
        </p:nvSpPr>
        <p:spPr>
          <a:xfrm>
            <a:off x="3762375" y="3868511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13M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DC9ED2F-6934-4F62-862E-DF6A43640407}"/>
              </a:ext>
            </a:extLst>
          </p:cNvPr>
          <p:cNvSpPr>
            <a:spLocks noGrp="1"/>
          </p:cNvSpPr>
          <p:nvPr/>
        </p:nvSpPr>
        <p:spPr>
          <a:xfrm>
            <a:off x="6200775" y="3868511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54M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B8C454F-6E4C-414A-AC9C-9F2E503DCE26}"/>
              </a:ext>
            </a:extLst>
          </p:cNvPr>
          <p:cNvSpPr>
            <a:spLocks noGrp="1"/>
          </p:cNvSpPr>
          <p:nvPr/>
        </p:nvSpPr>
        <p:spPr>
          <a:xfrm>
            <a:off x="8639175" y="3868511"/>
            <a:ext cx="23241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210M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EE912C1-0EA1-43B4-A9D3-2E4D05E9DB1C}"/>
              </a:ext>
            </a:extLst>
          </p:cNvPr>
          <p:cNvSpPr>
            <a:spLocks noGrp="1"/>
          </p:cNvSpPr>
          <p:nvPr/>
        </p:nvSpPr>
        <p:spPr>
          <a:xfrm>
            <a:off x="723900" y="4242707"/>
            <a:ext cx="10287000" cy="498021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90C32C-AC0B-40FE-B9B0-55D6FBB88E97}"/>
              </a:ext>
            </a:extLst>
          </p:cNvPr>
          <p:cNvSpPr>
            <a:spLocks noGrp="1"/>
          </p:cNvSpPr>
          <p:nvPr/>
        </p:nvSpPr>
        <p:spPr>
          <a:xfrm>
            <a:off x="809625" y="4366532"/>
            <a:ext cx="28194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Operating cost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CA995E2-8E86-49C4-88A7-7ACACD3825B7}"/>
              </a:ext>
            </a:extLst>
          </p:cNvPr>
          <p:cNvSpPr>
            <a:spLocks noGrp="1"/>
          </p:cNvSpPr>
          <p:nvPr/>
        </p:nvSpPr>
        <p:spPr>
          <a:xfrm>
            <a:off x="3762375" y="4366532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22M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F75A588-577C-42D6-9573-40382C9CB8E6}"/>
              </a:ext>
            </a:extLst>
          </p:cNvPr>
          <p:cNvSpPr>
            <a:spLocks noGrp="1"/>
          </p:cNvSpPr>
          <p:nvPr/>
        </p:nvSpPr>
        <p:spPr>
          <a:xfrm>
            <a:off x="6200775" y="4366532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75M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F0D9460-0657-452A-AD2F-B98324A19E3D}"/>
              </a:ext>
            </a:extLst>
          </p:cNvPr>
          <p:cNvSpPr>
            <a:spLocks noGrp="1"/>
          </p:cNvSpPr>
          <p:nvPr/>
        </p:nvSpPr>
        <p:spPr>
          <a:xfrm>
            <a:off x="8639175" y="4366532"/>
            <a:ext cx="23241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220M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5E51A3B-D906-45DF-9463-AC156FADBB59}"/>
              </a:ext>
            </a:extLst>
          </p:cNvPr>
          <p:cNvSpPr>
            <a:spLocks noGrp="1"/>
          </p:cNvSpPr>
          <p:nvPr/>
        </p:nvSpPr>
        <p:spPr>
          <a:xfrm>
            <a:off x="723900" y="4740729"/>
            <a:ext cx="10287000" cy="498021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06C0641-544F-469F-8C9B-DED5EF57EF35}"/>
              </a:ext>
            </a:extLst>
          </p:cNvPr>
          <p:cNvSpPr>
            <a:spLocks noGrp="1"/>
          </p:cNvSpPr>
          <p:nvPr/>
        </p:nvSpPr>
        <p:spPr>
          <a:xfrm>
            <a:off x="809625" y="4864554"/>
            <a:ext cx="28194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EBITDA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B20AB9E4-11C6-4896-8A14-65D462A6EB60}"/>
              </a:ext>
            </a:extLst>
          </p:cNvPr>
          <p:cNvSpPr>
            <a:spLocks noGrp="1"/>
          </p:cNvSpPr>
          <p:nvPr/>
        </p:nvSpPr>
        <p:spPr>
          <a:xfrm>
            <a:off x="3762375" y="4864554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1M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42193B6-FC9D-4353-9ADA-4F74B78001DE}"/>
              </a:ext>
            </a:extLst>
          </p:cNvPr>
          <p:cNvSpPr>
            <a:spLocks noGrp="1"/>
          </p:cNvSpPr>
          <p:nvPr/>
        </p:nvSpPr>
        <p:spPr>
          <a:xfrm>
            <a:off x="6200775" y="4864554"/>
            <a:ext cx="230505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33M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E76A148-6824-4CD2-ADD8-F16A913C6D95}"/>
              </a:ext>
            </a:extLst>
          </p:cNvPr>
          <p:cNvSpPr>
            <a:spLocks noGrp="1"/>
          </p:cNvSpPr>
          <p:nvPr/>
        </p:nvSpPr>
        <p:spPr>
          <a:xfrm>
            <a:off x="8639175" y="4864554"/>
            <a:ext cx="2324100" cy="250371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INR 245M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53378E97-A7BC-4603-AD4F-4F4B62FD0CFB}"/>
              </a:ext>
            </a:extLst>
          </p:cNvPr>
          <p:cNvSpPr>
            <a:spLocks noGrp="1"/>
          </p:cNvSpPr>
          <p:nvPr/>
        </p:nvSpPr>
        <p:spPr>
          <a:xfrm>
            <a:off x="1066800" y="5581650"/>
            <a:ext cx="8953500" cy="3619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F48AA04-0288-491A-8220-CD9D82C7BEF0}"/>
              </a:ext>
            </a:extLst>
          </p:cNvPr>
          <p:cNvSpPr>
            <a:spLocks noGrp="1"/>
          </p:cNvSpPr>
          <p:nvPr/>
        </p:nvSpPr>
        <p:spPr>
          <a:xfrm>
            <a:off x="1238250" y="5686425"/>
            <a:ext cx="8572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7C948"/>
                </a:solidFill>
                <a:latin typeface="Aptos"/>
                <a:ea typeface="Aptos"/>
                <a:cs typeface="Aptos"/>
              </a:rPr>
              <a:t>Illustrative model. Requires paid cohort validation, provider pricing updates, and measured credit burn.</a:t>
            </a:r>
          </a:p>
        </p:txBody>
      </p:sp>
    </p:spTree>
    <p:extLst>
      <p:ext uri="{BB962C8B-B14F-4D97-AF65-F5344CB8AC3E}">
        <p14:creationId xmlns:p14="http://schemas.microsoft.com/office/powerpoint/2010/main" val="2063087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bg">
            <a:extLst>
              <a:ext uri="{FF2B5EF4-FFF2-40B4-BE49-F238E27FC236}">
                <a16:creationId xmlns:a16="http://schemas.microsoft.com/office/drawing/2014/main" id="{6ECBBF0A-C266-4C81-8CA5-BCC36591EA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3BFED043-6E80-4A6D-8A69-66E25BED4D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356CD14F-DDD7-4147-8F83-F8FE6F0CC024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812A2243-00B4-461C-A55F-2265B7417863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3CFEDD88-E0ED-45D7-B267-6FA9FF8C599D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F7894E6B-5945-4B46-A3AE-7F4C6836CA63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398D9034-5E79-47CB-B3D7-B7178C044C3B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E302F9DA-3F00-4069-9CE9-428F6C2C9F6F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29DC96A3-4A53-4BBB-A4CF-2DA4680BE13B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C89F8796-76BB-4ECC-9C17-29F622A3113A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9657DCB1-879A-401F-9963-BA66A240E6DC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AC408547-2DFB-466B-A3F4-33F2956E30E0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30">
            <a:extLst>
              <a:ext uri="{FF2B5EF4-FFF2-40B4-BE49-F238E27FC236}">
                <a16:creationId xmlns:a16="http://schemas.microsoft.com/office/drawing/2014/main" id="{C0F28EEF-8B80-4F11-B0FC-1B8512E7C152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30">
            <a:extLst>
              <a:ext uri="{FF2B5EF4-FFF2-40B4-BE49-F238E27FC236}">
                <a16:creationId xmlns:a16="http://schemas.microsoft.com/office/drawing/2014/main" id="{0F3A8890-C404-49D4-9104-7E05053CD423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TEAM STRUCTURE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245E6E5-EC6F-4E46-96A9-0D67521B3201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hiring plan should match the product's routing, trust, and GTM complexity.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FF211BE4-4682-4DAC-85BC-B659907EAEFF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6272EA-AFEF-45C0-BDCF-A4BD60AE8B0E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5F68BE-8C4D-44B9-A79A-484641079FA6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E86EC56-2B74-42DE-A566-5C051D868DB5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2724150" cy="10477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E01DBC-CA87-42C3-B7E8-2E3577367D86}"/>
              </a:ext>
            </a:extLst>
          </p:cNvPr>
          <p:cNvSpPr>
            <a:spLocks noGrp="1"/>
          </p:cNvSpPr>
          <p:nvPr/>
        </p:nvSpPr>
        <p:spPr>
          <a:xfrm>
            <a:off x="895350" y="1809750"/>
            <a:ext cx="38100" cy="10477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D20AF78-B35B-4BC5-AA71-D12C752170C7}"/>
              </a:ext>
            </a:extLst>
          </p:cNvPr>
          <p:cNvSpPr>
            <a:spLocks noGrp="1"/>
          </p:cNvSpPr>
          <p:nvPr/>
        </p:nvSpPr>
        <p:spPr>
          <a:xfrm>
            <a:off x="1066800" y="19431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Founders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1E1FCC-26CE-4264-92F6-2D589640F583}"/>
              </a:ext>
            </a:extLst>
          </p:cNvPr>
          <p:cNvSpPr>
            <a:spLocks noGrp="1"/>
          </p:cNvSpPr>
          <p:nvPr/>
        </p:nvSpPr>
        <p:spPr>
          <a:xfrm>
            <a:off x="1066800" y="226695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Product vision, fundraising, partnerships, customer discovery.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B47AC4-0F11-498B-8518-7995AF68E632}"/>
              </a:ext>
            </a:extLst>
          </p:cNvPr>
          <p:cNvSpPr>
            <a:spLocks noGrp="1"/>
          </p:cNvSpPr>
          <p:nvPr/>
        </p:nvSpPr>
        <p:spPr>
          <a:xfrm>
            <a:off x="4171950" y="1809750"/>
            <a:ext cx="2724150" cy="10477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4E475F-EC38-4DE5-B8F5-11E0477AD17C}"/>
              </a:ext>
            </a:extLst>
          </p:cNvPr>
          <p:cNvSpPr>
            <a:spLocks noGrp="1"/>
          </p:cNvSpPr>
          <p:nvPr/>
        </p:nvSpPr>
        <p:spPr>
          <a:xfrm>
            <a:off x="4171950" y="1809750"/>
            <a:ext cx="38100" cy="104775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849323F-7288-4DFD-8436-63BCC96F4D4D}"/>
              </a:ext>
            </a:extLst>
          </p:cNvPr>
          <p:cNvSpPr>
            <a:spLocks noGrp="1"/>
          </p:cNvSpPr>
          <p:nvPr/>
        </p:nvSpPr>
        <p:spPr>
          <a:xfrm>
            <a:off x="4343400" y="19431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5F0417-1A96-459E-BABE-E6DA88C521DD}"/>
              </a:ext>
            </a:extLst>
          </p:cNvPr>
          <p:cNvSpPr>
            <a:spLocks noGrp="1"/>
          </p:cNvSpPr>
          <p:nvPr/>
        </p:nvSpPr>
        <p:spPr>
          <a:xfrm>
            <a:off x="4343400" y="226695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Frontend, backend, billing, infra, observability, reliability.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CB6A8EE-FA34-433F-8333-E878F2AEEE54}"/>
              </a:ext>
            </a:extLst>
          </p:cNvPr>
          <p:cNvSpPr>
            <a:spLocks noGrp="1"/>
          </p:cNvSpPr>
          <p:nvPr/>
        </p:nvSpPr>
        <p:spPr>
          <a:xfrm>
            <a:off x="7448550" y="1809750"/>
            <a:ext cx="2724150" cy="10477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18379A4-B683-47D2-B536-1BF9E5B08648}"/>
              </a:ext>
            </a:extLst>
          </p:cNvPr>
          <p:cNvSpPr>
            <a:spLocks noGrp="1"/>
          </p:cNvSpPr>
          <p:nvPr/>
        </p:nvSpPr>
        <p:spPr>
          <a:xfrm>
            <a:off x="7448550" y="1809750"/>
            <a:ext cx="38100" cy="104775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A8640DD-3A93-4FAD-8EB4-37B4BE9EED08}"/>
              </a:ext>
            </a:extLst>
          </p:cNvPr>
          <p:cNvSpPr>
            <a:spLocks noGrp="1"/>
          </p:cNvSpPr>
          <p:nvPr/>
        </p:nvSpPr>
        <p:spPr>
          <a:xfrm>
            <a:off x="7620000" y="19431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AI team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8B87566-8AC1-428E-B0BD-63E0E3613658}"/>
              </a:ext>
            </a:extLst>
          </p:cNvPr>
          <p:cNvSpPr>
            <a:spLocks noGrp="1"/>
          </p:cNvSpPr>
          <p:nvPr/>
        </p:nvSpPr>
        <p:spPr>
          <a:xfrm>
            <a:off x="7620000" y="226695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Routing quality, evals, prompt systems, model cost optimization.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E5FC15B-675F-4E79-B2E3-8A069178099C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2724150" cy="10477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55A090-B4C1-4F8C-8A08-43FFCCBC8DCF}"/>
              </a:ext>
            </a:extLst>
          </p:cNvPr>
          <p:cNvSpPr>
            <a:spLocks noGrp="1"/>
          </p:cNvSpPr>
          <p:nvPr/>
        </p:nvSpPr>
        <p:spPr>
          <a:xfrm>
            <a:off x="895350" y="3371850"/>
            <a:ext cx="38100" cy="1047750"/>
          </a:xfrm>
          <a:prstGeom prst="rect">
            <a:avLst/>
          </a:prstGeom>
          <a:solidFill>
            <a:srgbClr val="63E6BE"/>
          </a:solidFill>
          <a:ln w="0">
            <a:noFill/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8940A67-FEC4-4A99-9922-5B1649039472}"/>
              </a:ext>
            </a:extLst>
          </p:cNvPr>
          <p:cNvSpPr>
            <a:spLocks noGrp="1"/>
          </p:cNvSpPr>
          <p:nvPr/>
        </p:nvSpPr>
        <p:spPr>
          <a:xfrm>
            <a:off x="1066800" y="35052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Sales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500F934-B0F7-4DA6-BB9D-3781922549F6}"/>
              </a:ext>
            </a:extLst>
          </p:cNvPr>
          <p:cNvSpPr>
            <a:spLocks noGrp="1"/>
          </p:cNvSpPr>
          <p:nvPr/>
        </p:nvSpPr>
        <p:spPr>
          <a:xfrm>
            <a:off x="1066800" y="382905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B2B pipeline, pilots, enterprise requirements, renewals.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6EF8BBC-2BE0-41F0-A2B0-DDF05814F65B}"/>
              </a:ext>
            </a:extLst>
          </p:cNvPr>
          <p:cNvSpPr>
            <a:spLocks noGrp="1"/>
          </p:cNvSpPr>
          <p:nvPr/>
        </p:nvSpPr>
        <p:spPr>
          <a:xfrm>
            <a:off x="4171950" y="3371850"/>
            <a:ext cx="2724150" cy="10477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3769ED5-D48F-42F7-B45D-F6B38E2A1B88}"/>
              </a:ext>
            </a:extLst>
          </p:cNvPr>
          <p:cNvSpPr>
            <a:spLocks noGrp="1"/>
          </p:cNvSpPr>
          <p:nvPr/>
        </p:nvSpPr>
        <p:spPr>
          <a:xfrm>
            <a:off x="4171950" y="3371850"/>
            <a:ext cx="38100" cy="1047750"/>
          </a:xfrm>
          <a:prstGeom prst="rect">
            <a:avLst/>
          </a:prstGeom>
          <a:solidFill>
            <a:srgbClr val="FF6B8A"/>
          </a:solidFill>
          <a:ln w="0">
            <a:noFill/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223C504-C9F3-4B50-9E02-8604251651B7}"/>
              </a:ext>
            </a:extLst>
          </p:cNvPr>
          <p:cNvSpPr>
            <a:spLocks noGrp="1"/>
          </p:cNvSpPr>
          <p:nvPr/>
        </p:nvSpPr>
        <p:spPr>
          <a:xfrm>
            <a:off x="4343400" y="35052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06C190-1EAD-409F-B5A7-3FD9B97F2F3C}"/>
              </a:ext>
            </a:extLst>
          </p:cNvPr>
          <p:cNvSpPr>
            <a:spLocks noGrp="1"/>
          </p:cNvSpPr>
          <p:nvPr/>
        </p:nvSpPr>
        <p:spPr>
          <a:xfrm>
            <a:off x="4343400" y="382905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Content, community, social, influencer partnerships.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09AE998-3381-4DE5-8E91-0F22725A36B0}"/>
              </a:ext>
            </a:extLst>
          </p:cNvPr>
          <p:cNvSpPr>
            <a:spLocks noGrp="1"/>
          </p:cNvSpPr>
          <p:nvPr/>
        </p:nvSpPr>
        <p:spPr>
          <a:xfrm>
            <a:off x="7448550" y="3371850"/>
            <a:ext cx="2724150" cy="10477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835A80-E39A-4EA7-B14E-07B136E69459}"/>
              </a:ext>
            </a:extLst>
          </p:cNvPr>
          <p:cNvSpPr>
            <a:spLocks noGrp="1"/>
          </p:cNvSpPr>
          <p:nvPr/>
        </p:nvSpPr>
        <p:spPr>
          <a:xfrm>
            <a:off x="7448550" y="3371850"/>
            <a:ext cx="38100" cy="10477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B7F4AB-7D1B-466E-BF00-EA0DBDD7D52B}"/>
              </a:ext>
            </a:extLst>
          </p:cNvPr>
          <p:cNvSpPr>
            <a:spLocks noGrp="1"/>
          </p:cNvSpPr>
          <p:nvPr/>
        </p:nvSpPr>
        <p:spPr>
          <a:xfrm>
            <a:off x="7620000" y="350520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Customer success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2AA0116-F80B-4039-84F4-688795E94283}"/>
              </a:ext>
            </a:extLst>
          </p:cNvPr>
          <p:cNvSpPr>
            <a:spLocks noGrp="1"/>
          </p:cNvSpPr>
          <p:nvPr/>
        </p:nvSpPr>
        <p:spPr>
          <a:xfrm>
            <a:off x="7620000" y="3829050"/>
            <a:ext cx="24193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Onboarding, support, retention, usage education.</a:t>
            </a:r>
          </a:p>
        </p:txBody>
      </p:sp>
    </p:spTree>
    <p:extLst>
      <p:ext uri="{BB962C8B-B14F-4D97-AF65-F5344CB8AC3E}">
        <p14:creationId xmlns:p14="http://schemas.microsoft.com/office/powerpoint/2010/main" val="1037220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">
            <a:extLst>
              <a:ext uri="{FF2B5EF4-FFF2-40B4-BE49-F238E27FC236}">
                <a16:creationId xmlns:a16="http://schemas.microsoft.com/office/drawing/2014/main" id="{06B24CF1-84B6-469B-A5CC-5BA4470ADF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16501D35-31EA-4908-BD19-1E07830BE79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8E2A1859-F77E-4E12-B656-D949BD8A3051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0DA76991-AA97-4A0A-8252-AC6651C9D5AF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20EDAD47-F4A8-4798-8BB6-FC7BBFD7D69B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E6D1491B-09F3-4518-925F-41B610208A77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580399A5-16C6-4FEF-81A6-0D54B610205B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BBA78DE2-6BEA-4542-80EA-926225CF5C12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0CCE5266-3EF7-4638-8FEF-174AD4AC4607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7D008765-ADC0-4C48-9433-5E0BC121B9CC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8BDED487-6548-490E-B690-F350367A53B6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3A376639-BF3C-4F69-BC04-677CA0FDD18B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31">
            <a:extLst>
              <a:ext uri="{FF2B5EF4-FFF2-40B4-BE49-F238E27FC236}">
                <a16:creationId xmlns:a16="http://schemas.microsoft.com/office/drawing/2014/main" id="{5163740F-C73E-46A0-A27A-C72FE26A356D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31">
            <a:extLst>
              <a:ext uri="{FF2B5EF4-FFF2-40B4-BE49-F238E27FC236}">
                <a16:creationId xmlns:a16="http://schemas.microsoft.com/office/drawing/2014/main" id="{4048D446-DD46-4617-BB64-51B071F60455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RISK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2CADB1-49B9-44D0-9ECE-0950C86041A6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key risks are manageable if Aria measures quality and cost from day one.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F103A3C5-649E-414F-A9CD-DBCCDF27436E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52DD21-EFF0-4577-823C-7954A2525540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5A6BD8-2740-4FE1-A015-77B55AADE532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C5EDFC0-63CC-4A07-9373-3B7EBCD74A94}"/>
              </a:ext>
            </a:extLst>
          </p:cNvPr>
          <p:cNvSpPr>
            <a:spLocks noGrp="1"/>
          </p:cNvSpPr>
          <p:nvPr/>
        </p:nvSpPr>
        <p:spPr>
          <a:xfrm>
            <a:off x="571500" y="1752600"/>
            <a:ext cx="10744200" cy="6159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04DF90-9224-4CE4-BE54-A783C8CDE82B}"/>
              </a:ext>
            </a:extLst>
          </p:cNvPr>
          <p:cNvSpPr>
            <a:spLocks noGrp="1"/>
          </p:cNvSpPr>
          <p:nvPr/>
        </p:nvSpPr>
        <p:spPr>
          <a:xfrm>
            <a:off x="657225" y="1876425"/>
            <a:ext cx="139065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171CB5A-6FCF-4A73-8243-1A67F4A381AC}"/>
              </a:ext>
            </a:extLst>
          </p:cNvPr>
          <p:cNvSpPr>
            <a:spLocks noGrp="1"/>
          </p:cNvSpPr>
          <p:nvPr/>
        </p:nvSpPr>
        <p:spPr>
          <a:xfrm>
            <a:off x="2181225" y="1876425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What can go wrong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0CE16FE-4DB9-40CF-A66D-AB7489FA4E26}"/>
              </a:ext>
            </a:extLst>
          </p:cNvPr>
          <p:cNvSpPr>
            <a:spLocks noGrp="1"/>
          </p:cNvSpPr>
          <p:nvPr/>
        </p:nvSpPr>
        <p:spPr>
          <a:xfrm>
            <a:off x="6086475" y="1876425"/>
            <a:ext cx="51816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Mitigation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6B8EA1-5C13-4DBE-8DDC-C3F60179340B}"/>
              </a:ext>
            </a:extLst>
          </p:cNvPr>
          <p:cNvSpPr>
            <a:spLocks noGrp="1"/>
          </p:cNvSpPr>
          <p:nvPr/>
        </p:nvSpPr>
        <p:spPr>
          <a:xfrm>
            <a:off x="571500" y="2368550"/>
            <a:ext cx="10744200" cy="61595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616065-ADCD-447A-BCD7-3AFE0597472A}"/>
              </a:ext>
            </a:extLst>
          </p:cNvPr>
          <p:cNvSpPr>
            <a:spLocks noGrp="1"/>
          </p:cNvSpPr>
          <p:nvPr/>
        </p:nvSpPr>
        <p:spPr>
          <a:xfrm>
            <a:off x="657225" y="2492375"/>
            <a:ext cx="139065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Technical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ECB4A6-7E63-4F09-B2A4-CD169014FAC2}"/>
              </a:ext>
            </a:extLst>
          </p:cNvPr>
          <p:cNvSpPr>
            <a:spLocks noGrp="1"/>
          </p:cNvSpPr>
          <p:nvPr/>
        </p:nvSpPr>
        <p:spPr>
          <a:xfrm>
            <a:off x="2181225" y="2492375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Provider outages, latency, model regressions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734F347-74FF-484E-BE4F-AAE9F20B035F}"/>
              </a:ext>
            </a:extLst>
          </p:cNvPr>
          <p:cNvSpPr>
            <a:spLocks noGrp="1"/>
          </p:cNvSpPr>
          <p:nvPr/>
        </p:nvSpPr>
        <p:spPr>
          <a:xfrm>
            <a:off x="6086475" y="2492375"/>
            <a:ext cx="51816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Fallback routes, health checks, eval harness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5356AF9-2A5E-402A-A8D0-7EA12F99F688}"/>
              </a:ext>
            </a:extLst>
          </p:cNvPr>
          <p:cNvSpPr>
            <a:spLocks noGrp="1"/>
          </p:cNvSpPr>
          <p:nvPr/>
        </p:nvSpPr>
        <p:spPr>
          <a:xfrm>
            <a:off x="571500" y="2984500"/>
            <a:ext cx="10744200" cy="6159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9D37997-2765-4C2D-9C70-19B288461578}"/>
              </a:ext>
            </a:extLst>
          </p:cNvPr>
          <p:cNvSpPr>
            <a:spLocks noGrp="1"/>
          </p:cNvSpPr>
          <p:nvPr/>
        </p:nvSpPr>
        <p:spPr>
          <a:xfrm>
            <a:off x="657225" y="3108325"/>
            <a:ext cx="139065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Cost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46E2B6D-4463-40A2-B101-F19E175E7159}"/>
              </a:ext>
            </a:extLst>
          </p:cNvPr>
          <p:cNvSpPr>
            <a:spLocks noGrp="1"/>
          </p:cNvSpPr>
          <p:nvPr/>
        </p:nvSpPr>
        <p:spPr>
          <a:xfrm>
            <a:off x="2181225" y="3108325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High Analyzer burn or abusive usage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0F3DF-A6D4-426F-A346-42C8CBAE5167}"/>
              </a:ext>
            </a:extLst>
          </p:cNvPr>
          <p:cNvSpPr>
            <a:spLocks noGrp="1"/>
          </p:cNvSpPr>
          <p:nvPr/>
        </p:nvSpPr>
        <p:spPr>
          <a:xfrm>
            <a:off x="6086475" y="3108325"/>
            <a:ext cx="51816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Credits, rate limits, admin pricing controls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25B83EF-75DC-4E07-9A80-3A5BD7577295}"/>
              </a:ext>
            </a:extLst>
          </p:cNvPr>
          <p:cNvSpPr>
            <a:spLocks noGrp="1"/>
          </p:cNvSpPr>
          <p:nvPr/>
        </p:nvSpPr>
        <p:spPr>
          <a:xfrm>
            <a:off x="571500" y="3600450"/>
            <a:ext cx="10744200" cy="61595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DBEEBC3-B166-4A37-BC7B-A8F62F4EA7E3}"/>
              </a:ext>
            </a:extLst>
          </p:cNvPr>
          <p:cNvSpPr>
            <a:spLocks noGrp="1"/>
          </p:cNvSpPr>
          <p:nvPr/>
        </p:nvSpPr>
        <p:spPr>
          <a:xfrm>
            <a:off x="657225" y="3724275"/>
            <a:ext cx="139065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Competitive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F06381-DC8A-4451-81EB-8564F4FC31C2}"/>
              </a:ext>
            </a:extLst>
          </p:cNvPr>
          <p:cNvSpPr>
            <a:spLocks noGrp="1"/>
          </p:cNvSpPr>
          <p:nvPr/>
        </p:nvSpPr>
        <p:spPr>
          <a:xfrm>
            <a:off x="2181225" y="3724275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Large platforms copy mode workflows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E015C7E-318D-4A70-B550-04AF3CE3A6A2}"/>
              </a:ext>
            </a:extLst>
          </p:cNvPr>
          <p:cNvSpPr>
            <a:spLocks noGrp="1"/>
          </p:cNvSpPr>
          <p:nvPr/>
        </p:nvSpPr>
        <p:spPr>
          <a:xfrm>
            <a:off x="6086475" y="3724275"/>
            <a:ext cx="51816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Niche trust, speed of iteration, team features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D9B3487-5411-482A-91FE-2633E49F0A59}"/>
              </a:ext>
            </a:extLst>
          </p:cNvPr>
          <p:cNvSpPr>
            <a:spLocks noGrp="1"/>
          </p:cNvSpPr>
          <p:nvPr/>
        </p:nvSpPr>
        <p:spPr>
          <a:xfrm>
            <a:off x="571500" y="4216400"/>
            <a:ext cx="10744200" cy="6159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8F17152-FA7E-4407-BEFC-2DFC1710BD40}"/>
              </a:ext>
            </a:extLst>
          </p:cNvPr>
          <p:cNvSpPr>
            <a:spLocks noGrp="1"/>
          </p:cNvSpPr>
          <p:nvPr/>
        </p:nvSpPr>
        <p:spPr>
          <a:xfrm>
            <a:off x="657225" y="4340225"/>
            <a:ext cx="139065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Regulatory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C556C3-4205-40C9-8CF7-FEE16C830113}"/>
              </a:ext>
            </a:extLst>
          </p:cNvPr>
          <p:cNvSpPr>
            <a:spLocks noGrp="1"/>
          </p:cNvSpPr>
          <p:nvPr/>
        </p:nvSpPr>
        <p:spPr>
          <a:xfrm>
            <a:off x="2181225" y="4340225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Privacy, AI disclosure, payments compliance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77686D3-5DCD-40A8-BDFB-1D9A66AEA368}"/>
              </a:ext>
            </a:extLst>
          </p:cNvPr>
          <p:cNvSpPr>
            <a:spLocks noGrp="1"/>
          </p:cNvSpPr>
          <p:nvPr/>
        </p:nvSpPr>
        <p:spPr>
          <a:xfrm>
            <a:off x="6086475" y="4340225"/>
            <a:ext cx="51816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Policies, audit logs, PSP webhooks, data retention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7080E40-A796-4AAC-B0DE-87A8F4B0A949}"/>
              </a:ext>
            </a:extLst>
          </p:cNvPr>
          <p:cNvSpPr>
            <a:spLocks noGrp="1"/>
          </p:cNvSpPr>
          <p:nvPr/>
        </p:nvSpPr>
        <p:spPr>
          <a:xfrm>
            <a:off x="571500" y="4832350"/>
            <a:ext cx="10744200" cy="61595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FB22598-A967-4E68-9774-91C760F3E554}"/>
              </a:ext>
            </a:extLst>
          </p:cNvPr>
          <p:cNvSpPr>
            <a:spLocks noGrp="1"/>
          </p:cNvSpPr>
          <p:nvPr/>
        </p:nvSpPr>
        <p:spPr>
          <a:xfrm>
            <a:off x="657225" y="4956175"/>
            <a:ext cx="139065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9ECD1E-1831-490B-AD4A-1BD328219DF3}"/>
              </a:ext>
            </a:extLst>
          </p:cNvPr>
          <p:cNvSpPr>
            <a:spLocks noGrp="1"/>
          </p:cNvSpPr>
          <p:nvPr/>
        </p:nvSpPr>
        <p:spPr>
          <a:xfrm>
            <a:off x="2181225" y="4956175"/>
            <a:ext cx="37719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Bad sources or hallucinated confidence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300EE9-500D-4615-B15F-E091FD162AFB}"/>
              </a:ext>
            </a:extLst>
          </p:cNvPr>
          <p:cNvSpPr>
            <a:spLocks noGrp="1"/>
          </p:cNvSpPr>
          <p:nvPr/>
        </p:nvSpPr>
        <p:spPr>
          <a:xfrm>
            <a:off x="6086475" y="4956175"/>
            <a:ext cx="5181600" cy="368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Search-first flows, source scoring, refusal when unverifiable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815FFCA-10EB-4FA8-98B3-6AEFEDD1D0F3}"/>
              </a:ext>
            </a:extLst>
          </p:cNvPr>
          <p:cNvSpPr>
            <a:spLocks noGrp="1"/>
          </p:cNvSpPr>
          <p:nvPr/>
        </p:nvSpPr>
        <p:spPr>
          <a:xfrm>
            <a:off x="1314450" y="5791200"/>
            <a:ext cx="8572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Operating rule: every new premium feature needs both a quality metric and a cost-control metric before public scaling.</a:t>
            </a:r>
          </a:p>
        </p:txBody>
      </p:sp>
    </p:spTree>
    <p:extLst>
      <p:ext uri="{BB962C8B-B14F-4D97-AF65-F5344CB8AC3E}">
        <p14:creationId xmlns:p14="http://schemas.microsoft.com/office/powerpoint/2010/main" val="9807815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bg">
            <a:extLst>
              <a:ext uri="{FF2B5EF4-FFF2-40B4-BE49-F238E27FC236}">
                <a16:creationId xmlns:a16="http://schemas.microsoft.com/office/drawing/2014/main" id="{8EC65647-2231-48E8-973B-8256672444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8BE8BE8B-BEDA-4A8A-87E0-2110FFABDA7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1C84AB3C-256A-4C16-94BE-9F9E7D38A79C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4A9E8A5D-DEF8-4B89-BAF6-42639A9803BD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053F24FE-5A92-4119-81B6-CB2D54AD3B92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1564985F-01DD-4619-A1DC-1375F5D78277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8B385121-FFD9-4EC1-A290-DEDA207B7464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06FAA2F0-FDDA-47A3-BD91-2F3915369634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DBB736BF-71F3-4701-98B2-2746EF468B5E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C31675CF-53BD-431A-ACA0-6E65AA01D452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AB3CCB83-FBB3-4327-839C-F61BE88D0FC6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CA0368AB-175F-42AE-9C64-C2AACB3E2094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32">
            <a:extLst>
              <a:ext uri="{FF2B5EF4-FFF2-40B4-BE49-F238E27FC236}">
                <a16:creationId xmlns:a16="http://schemas.microsoft.com/office/drawing/2014/main" id="{B19CCE40-5A70-4613-8E51-04015E22192B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32">
            <a:extLst>
              <a:ext uri="{FF2B5EF4-FFF2-40B4-BE49-F238E27FC236}">
                <a16:creationId xmlns:a16="http://schemas.microsoft.com/office/drawing/2014/main" id="{5DFB9896-A458-4EEE-ADA2-341775AE3B33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FUNDING &amp; ACTION PLAN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A9B95BD-5CAA-49CA-A13E-66D5F451FA09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The near-term plan is to prove paid demand before scaling spend.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2472E79B-3F28-45EC-9BA4-67D28F13F5A6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7C465-D1AD-4DB7-AA64-221711CCFC72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E3B299-35D8-4145-8EA2-63488A2427ED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24986A-F891-424A-BF38-BC946FC01887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2857500" cy="10668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F387DDA-1C69-47A3-89C3-BA83A7C1D33F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38100" cy="10668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3D3CEB-10F8-4283-9994-9C031CA74BEB}"/>
              </a:ext>
            </a:extLst>
          </p:cNvPr>
          <p:cNvSpPr>
            <a:spLocks noGrp="1"/>
          </p:cNvSpPr>
          <p:nvPr/>
        </p:nvSpPr>
        <p:spPr>
          <a:xfrm>
            <a:off x="990600" y="192405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Bootstrapped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977D55-E192-413D-9E35-43261F24A1C0}"/>
              </a:ext>
            </a:extLst>
          </p:cNvPr>
          <p:cNvSpPr>
            <a:spLocks noGrp="1"/>
          </p:cNvSpPr>
          <p:nvPr/>
        </p:nvSpPr>
        <p:spPr>
          <a:xfrm>
            <a:off x="990600" y="2247900"/>
            <a:ext cx="2552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Launch billing, keep provider spend capped, grow through founder-led community and demos.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DE6835-DBFD-4228-88FD-B98D2907C79A}"/>
              </a:ext>
            </a:extLst>
          </p:cNvPr>
          <p:cNvSpPr>
            <a:spLocks noGrp="1"/>
          </p:cNvSpPr>
          <p:nvPr/>
        </p:nvSpPr>
        <p:spPr>
          <a:xfrm>
            <a:off x="4152900" y="1790700"/>
            <a:ext cx="2857500" cy="10668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1D133B-8237-4CC9-98BE-635CA7E6EB66}"/>
              </a:ext>
            </a:extLst>
          </p:cNvPr>
          <p:cNvSpPr>
            <a:spLocks noGrp="1"/>
          </p:cNvSpPr>
          <p:nvPr/>
        </p:nvSpPr>
        <p:spPr>
          <a:xfrm>
            <a:off x="4152900" y="1790700"/>
            <a:ext cx="38100" cy="1066800"/>
          </a:xfrm>
          <a:prstGeom prst="rect">
            <a:avLst/>
          </a:prstGeom>
          <a:solidFill>
            <a:srgbClr val="6EA8FF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77CF300-86EF-437D-BAAC-54C97313ECFF}"/>
              </a:ext>
            </a:extLst>
          </p:cNvPr>
          <p:cNvSpPr>
            <a:spLocks noGrp="1"/>
          </p:cNvSpPr>
          <p:nvPr/>
        </p:nvSpPr>
        <p:spPr>
          <a:xfrm>
            <a:off x="4324350" y="192405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Angel round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58A382-1AE3-4D8A-AE0D-05856A33B2FA}"/>
              </a:ext>
            </a:extLst>
          </p:cNvPr>
          <p:cNvSpPr>
            <a:spLocks noGrp="1"/>
          </p:cNvSpPr>
          <p:nvPr/>
        </p:nvSpPr>
        <p:spPr>
          <a:xfrm>
            <a:off x="4324350" y="2247900"/>
            <a:ext cx="2552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Raise after first paid cohorts prove retention, conversion, and blended model margin.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210DFD-7D86-43BD-B2B1-FA21C465DDB4}"/>
              </a:ext>
            </a:extLst>
          </p:cNvPr>
          <p:cNvSpPr>
            <a:spLocks noGrp="1"/>
          </p:cNvSpPr>
          <p:nvPr/>
        </p:nvSpPr>
        <p:spPr>
          <a:xfrm>
            <a:off x="7486650" y="1790700"/>
            <a:ext cx="2857500" cy="106680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6227DD-F397-4F0A-800E-70F531E7A881}"/>
              </a:ext>
            </a:extLst>
          </p:cNvPr>
          <p:cNvSpPr>
            <a:spLocks noGrp="1"/>
          </p:cNvSpPr>
          <p:nvPr/>
        </p:nvSpPr>
        <p:spPr>
          <a:xfrm>
            <a:off x="7486650" y="1790700"/>
            <a:ext cx="38100" cy="1066800"/>
          </a:xfrm>
          <a:prstGeom prst="rect">
            <a:avLst/>
          </a:prstGeom>
          <a:solidFill>
            <a:srgbClr val="F7C948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CF4D82-1417-4A38-8925-9454FA9DEB46}"/>
              </a:ext>
            </a:extLst>
          </p:cNvPr>
          <p:cNvSpPr>
            <a:spLocks noGrp="1"/>
          </p:cNvSpPr>
          <p:nvPr/>
        </p:nvSpPr>
        <p:spPr>
          <a:xfrm>
            <a:off x="7658100" y="1924050"/>
            <a:ext cx="2552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Seed round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650FDA-B917-4FA1-84D0-0B6E6DBEA0E7}"/>
              </a:ext>
            </a:extLst>
          </p:cNvPr>
          <p:cNvSpPr>
            <a:spLocks noGrp="1"/>
          </p:cNvSpPr>
          <p:nvPr/>
        </p:nvSpPr>
        <p:spPr>
          <a:xfrm>
            <a:off x="7658100" y="2247900"/>
            <a:ext cx="25527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Raise for team workspaces, enterprise security, API, and GTM once repeatable acquisition is visible.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E9E78CE-EC67-4A7E-A479-2AE6465EA180}"/>
              </a:ext>
            </a:extLst>
          </p:cNvPr>
          <p:cNvSpPr>
            <a:spLocks noGrp="1"/>
          </p:cNvSpPr>
          <p:nvPr/>
        </p:nvSpPr>
        <p:spPr>
          <a:xfrm>
            <a:off x="1562100" y="3562350"/>
            <a:ext cx="8001000" cy="404813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BD3A7E7-CFB6-42CE-ACBB-0D2BDDD10D85}"/>
              </a:ext>
            </a:extLst>
          </p:cNvPr>
          <p:cNvSpPr>
            <a:spLocks noGrp="1"/>
          </p:cNvSpPr>
          <p:nvPr/>
        </p:nvSpPr>
        <p:spPr>
          <a:xfrm>
            <a:off x="1647825" y="3686175"/>
            <a:ext cx="13906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Horizon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512BEAA-FD0E-4D98-89F4-9BCF2F1957C9}"/>
              </a:ext>
            </a:extLst>
          </p:cNvPr>
          <p:cNvSpPr>
            <a:spLocks noGrp="1"/>
          </p:cNvSpPr>
          <p:nvPr/>
        </p:nvSpPr>
        <p:spPr>
          <a:xfrm>
            <a:off x="3171825" y="3686175"/>
            <a:ext cx="63436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9E6F7F-DF35-4755-9BD6-DB47C5385272}"/>
              </a:ext>
            </a:extLst>
          </p:cNvPr>
          <p:cNvSpPr>
            <a:spLocks noGrp="1"/>
          </p:cNvSpPr>
          <p:nvPr/>
        </p:nvSpPr>
        <p:spPr>
          <a:xfrm>
            <a:off x="1562100" y="3967163"/>
            <a:ext cx="8001000" cy="404813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C09E02-784A-44D8-A071-6B61F6981DBB}"/>
              </a:ext>
            </a:extLst>
          </p:cNvPr>
          <p:cNvSpPr>
            <a:spLocks noGrp="1"/>
          </p:cNvSpPr>
          <p:nvPr/>
        </p:nvSpPr>
        <p:spPr>
          <a:xfrm>
            <a:off x="1647825" y="4090988"/>
            <a:ext cx="13906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30 days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E5AA897-71B1-4EBE-9DE5-7D0389AA4E71}"/>
              </a:ext>
            </a:extLst>
          </p:cNvPr>
          <p:cNvSpPr>
            <a:spLocks noGrp="1"/>
          </p:cNvSpPr>
          <p:nvPr/>
        </p:nvSpPr>
        <p:spPr>
          <a:xfrm>
            <a:off x="3171825" y="4090988"/>
            <a:ext cx="63436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Billing live, admin controls hardened, first 100 beta users, quality dashboard.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003C0AC-71D9-40BF-B48C-DA72A2BC4DE1}"/>
              </a:ext>
            </a:extLst>
          </p:cNvPr>
          <p:cNvSpPr>
            <a:spLocks noGrp="1"/>
          </p:cNvSpPr>
          <p:nvPr/>
        </p:nvSpPr>
        <p:spPr>
          <a:xfrm>
            <a:off x="1562100" y="4371975"/>
            <a:ext cx="8001000" cy="404813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968067-A06F-4A25-9B8C-7FDE4A3E6842}"/>
              </a:ext>
            </a:extLst>
          </p:cNvPr>
          <p:cNvSpPr>
            <a:spLocks noGrp="1"/>
          </p:cNvSpPr>
          <p:nvPr/>
        </p:nvSpPr>
        <p:spPr>
          <a:xfrm>
            <a:off x="1647825" y="4495800"/>
            <a:ext cx="13906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90 days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CA6709C-BDEE-4837-9188-828CD3B0C7E7}"/>
              </a:ext>
            </a:extLst>
          </p:cNvPr>
          <p:cNvSpPr>
            <a:spLocks noGrp="1"/>
          </p:cNvSpPr>
          <p:nvPr/>
        </p:nvSpPr>
        <p:spPr>
          <a:xfrm>
            <a:off x="3171825" y="4495800"/>
            <a:ext cx="63436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Public launch, 5K registered users, first INR revenue target, referral loop.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F8E144E-F0FA-4B62-8E03-8E9481E082C3}"/>
              </a:ext>
            </a:extLst>
          </p:cNvPr>
          <p:cNvSpPr>
            <a:spLocks noGrp="1"/>
          </p:cNvSpPr>
          <p:nvPr/>
        </p:nvSpPr>
        <p:spPr>
          <a:xfrm>
            <a:off x="1562100" y="4776788"/>
            <a:ext cx="8001000" cy="404813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59500C1-F36C-4059-A8EB-D6336F7E0E3C}"/>
              </a:ext>
            </a:extLst>
          </p:cNvPr>
          <p:cNvSpPr>
            <a:spLocks noGrp="1"/>
          </p:cNvSpPr>
          <p:nvPr/>
        </p:nvSpPr>
        <p:spPr>
          <a:xfrm>
            <a:off x="1647825" y="4900613"/>
            <a:ext cx="13906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1 year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392F536-6D21-4A67-911E-CBD48CAF7E4D}"/>
              </a:ext>
            </a:extLst>
          </p:cNvPr>
          <p:cNvSpPr>
            <a:spLocks noGrp="1"/>
          </p:cNvSpPr>
          <p:nvPr/>
        </p:nvSpPr>
        <p:spPr>
          <a:xfrm>
            <a:off x="3171825" y="4900613"/>
            <a:ext cx="6343650" cy="157163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050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Team plans, enterprise pilots, API alpha, global pricing, measurable retention.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E46844A-EF90-452C-9B04-3381A3BFDF5D}"/>
              </a:ext>
            </a:extLst>
          </p:cNvPr>
          <p:cNvSpPr>
            <a:spLocks noGrp="1"/>
          </p:cNvSpPr>
          <p:nvPr/>
        </p:nvSpPr>
        <p:spPr>
          <a:xfrm>
            <a:off x="1314450" y="5657850"/>
            <a:ext cx="8572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Investor ask should be sized after beta data: paid conversion, credit burn, retention, and support load.</a:t>
            </a:r>
          </a:p>
        </p:txBody>
      </p:sp>
    </p:spTree>
    <p:extLst>
      <p:ext uri="{BB962C8B-B14F-4D97-AF65-F5344CB8AC3E}">
        <p14:creationId xmlns:p14="http://schemas.microsoft.com/office/powerpoint/2010/main" val="6869161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bg">
            <a:extLst>
              <a:ext uri="{FF2B5EF4-FFF2-40B4-BE49-F238E27FC236}">
                <a16:creationId xmlns:a16="http://schemas.microsoft.com/office/drawing/2014/main" id="{DAC35B12-DC28-4916-97CA-ADECF7379E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3E92D248-EE78-43EE-9673-307725BC29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CAC09727-C58A-4C14-A1F4-B1B8D08D0928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28802975-6EFE-4918-821D-03CB56C7EAD0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F24F9A5E-1CBF-4F3F-ADD0-3B7BA7571385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0AB55AB7-6D38-4A99-BE37-41B6035964E5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F89D207B-6F23-482A-A343-57F85D5DF75B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66440F2A-9686-47FB-8248-351288A8AE3E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2713B3F8-E528-4DD4-B902-1ACA2FECDE94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4F9B1C35-0384-4719-9CB5-2EE68BBAC48E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1DEDC8AD-A79C-4769-84F1-4AB480DD8CA1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12504AAE-9130-4348-83FD-37515CA55AF8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33">
            <a:extLst>
              <a:ext uri="{FF2B5EF4-FFF2-40B4-BE49-F238E27FC236}">
                <a16:creationId xmlns:a16="http://schemas.microsoft.com/office/drawing/2014/main" id="{F861FEFC-C121-4938-9C00-DDE9DF691254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33">
            <a:extLst>
              <a:ext uri="{FF2B5EF4-FFF2-40B4-BE49-F238E27FC236}">
                <a16:creationId xmlns:a16="http://schemas.microsoft.com/office/drawing/2014/main" id="{37012525-F163-4389-AB44-1F168FCF59ED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EAE4D6-EC63-44AA-883B-6D2B168C7AF5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Personas anchor the first use cases and pricing experiments.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DD4F36D3-674B-4554-8FA0-B97A02E0E68F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E36E1F-CAD1-4971-8150-CF12725D94D9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0503FFD-7BFD-44E8-8E02-B25DD74D428B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087E085-FD53-4D15-A34A-3C0A8AB00DB0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4343400" cy="12001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141DAAA-5025-4B46-B0C6-B8FEBE944216}"/>
              </a:ext>
            </a:extLst>
          </p:cNvPr>
          <p:cNvSpPr>
            <a:spLocks noGrp="1"/>
          </p:cNvSpPr>
          <p:nvPr/>
        </p:nvSpPr>
        <p:spPr>
          <a:xfrm>
            <a:off x="990600" y="19621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Anoop, founder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57024DB-8890-4538-8AF0-30E4BFB40DD8}"/>
              </a:ext>
            </a:extLst>
          </p:cNvPr>
          <p:cNvSpPr>
            <a:spLocks noGrp="1"/>
          </p:cNvSpPr>
          <p:nvPr/>
        </p:nvSpPr>
        <p:spPr>
          <a:xfrm>
            <a:off x="990600" y="2286000"/>
            <a:ext cx="390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Need: Research market, compare strategy answers, prepare investor material.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E6C9D14-02E2-4DA9-84AD-29234F2BD953}"/>
              </a:ext>
            </a:extLst>
          </p:cNvPr>
          <p:cNvSpPr>
            <a:spLocks noGrp="1"/>
          </p:cNvSpPr>
          <p:nvPr/>
        </p:nvSpPr>
        <p:spPr>
          <a:xfrm>
            <a:off x="990600" y="2667000"/>
            <a:ext cx="3905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Trigger: Analyzer saves time and reduces blind spots.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BBDDD4-A9E4-4D86-B117-A546C110C6E0}"/>
              </a:ext>
            </a:extLst>
          </p:cNvPr>
          <p:cNvSpPr>
            <a:spLocks noGrp="1"/>
          </p:cNvSpPr>
          <p:nvPr/>
        </p:nvSpPr>
        <p:spPr>
          <a:xfrm>
            <a:off x="5886450" y="1809750"/>
            <a:ext cx="4343400" cy="12001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A6ACBE-B423-46F1-B69B-ECDE55327DAD}"/>
              </a:ext>
            </a:extLst>
          </p:cNvPr>
          <p:cNvSpPr>
            <a:spLocks noGrp="1"/>
          </p:cNvSpPr>
          <p:nvPr/>
        </p:nvSpPr>
        <p:spPr>
          <a:xfrm>
            <a:off x="6057900" y="19621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EA8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EA8FF"/>
                </a:solidFill>
                <a:latin typeface="Aptos"/>
                <a:ea typeface="Aptos"/>
                <a:cs typeface="Aptos"/>
              </a:rPr>
              <a:t>Riya, student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A6D2455-6208-4D3E-A8A3-A51B6C840230}"/>
              </a:ext>
            </a:extLst>
          </p:cNvPr>
          <p:cNvSpPr>
            <a:spLocks noGrp="1"/>
          </p:cNvSpPr>
          <p:nvPr/>
        </p:nvSpPr>
        <p:spPr>
          <a:xfrm>
            <a:off x="6057900" y="2286000"/>
            <a:ext cx="390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Need: Summaries, exam prep, translation, source-backed explanations.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7540F3-EBB7-4342-8A2F-8D23601F9327}"/>
              </a:ext>
            </a:extLst>
          </p:cNvPr>
          <p:cNvSpPr>
            <a:spLocks noGrp="1"/>
          </p:cNvSpPr>
          <p:nvPr/>
        </p:nvSpPr>
        <p:spPr>
          <a:xfrm>
            <a:off x="6057900" y="2667000"/>
            <a:ext cx="3905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Trigger: Starter credits feel affordable.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F987E4-92CF-4F57-8E91-AE29FAD7546A}"/>
              </a:ext>
            </a:extLst>
          </p:cNvPr>
          <p:cNvSpPr>
            <a:spLocks noGrp="1"/>
          </p:cNvSpPr>
          <p:nvPr/>
        </p:nvSpPr>
        <p:spPr>
          <a:xfrm>
            <a:off x="819150" y="3467100"/>
            <a:ext cx="4343400" cy="12001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E438082-B723-4BA4-BA3B-5ED3DBC65461}"/>
              </a:ext>
            </a:extLst>
          </p:cNvPr>
          <p:cNvSpPr>
            <a:spLocks noGrp="1"/>
          </p:cNvSpPr>
          <p:nvPr/>
        </p:nvSpPr>
        <p:spPr>
          <a:xfrm>
            <a:off x="990600" y="36195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Maya, analyst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D459FE-D111-4E75-B05F-DD15FF97D143}"/>
              </a:ext>
            </a:extLst>
          </p:cNvPr>
          <p:cNvSpPr>
            <a:spLocks noGrp="1"/>
          </p:cNvSpPr>
          <p:nvPr/>
        </p:nvSpPr>
        <p:spPr>
          <a:xfrm>
            <a:off x="990600" y="3943350"/>
            <a:ext cx="390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Need: Current research, source validation, memo drafts.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9582FB4-8BF0-48C7-9FFD-6850C5A6E11D}"/>
              </a:ext>
            </a:extLst>
          </p:cNvPr>
          <p:cNvSpPr>
            <a:spLocks noGrp="1"/>
          </p:cNvSpPr>
          <p:nvPr/>
        </p:nvSpPr>
        <p:spPr>
          <a:xfrm>
            <a:off x="990600" y="4324350"/>
            <a:ext cx="3905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Trigger: Research mode improves confidence.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606E7D-8529-4D7A-89DB-B07CCFCA88A1}"/>
              </a:ext>
            </a:extLst>
          </p:cNvPr>
          <p:cNvSpPr>
            <a:spLocks noGrp="1"/>
          </p:cNvSpPr>
          <p:nvPr/>
        </p:nvSpPr>
        <p:spPr>
          <a:xfrm>
            <a:off x="5886450" y="3467100"/>
            <a:ext cx="4343400" cy="1200150"/>
          </a:xfrm>
          <a:prstGeom prst="rect">
            <a:avLst/>
          </a:prstGeom>
          <a:solidFill>
            <a:srgbClr val="0D2027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B2EA00-36A3-42D6-832D-4736267FFAE0}"/>
              </a:ext>
            </a:extLst>
          </p:cNvPr>
          <p:cNvSpPr>
            <a:spLocks noGrp="1"/>
          </p:cNvSpPr>
          <p:nvPr/>
        </p:nvSpPr>
        <p:spPr>
          <a:xfrm>
            <a:off x="6057900" y="36195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63E6B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3E6BE"/>
                </a:solidFill>
                <a:latin typeface="Aptos"/>
                <a:ea typeface="Aptos"/>
                <a:cs typeface="Aptos"/>
              </a:rPr>
              <a:t>Kabir, agency lead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64B2F29-832F-4ECC-B77A-3A8AFFCCB582}"/>
              </a:ext>
            </a:extLst>
          </p:cNvPr>
          <p:cNvSpPr>
            <a:spLocks noGrp="1"/>
          </p:cNvSpPr>
          <p:nvPr/>
        </p:nvSpPr>
        <p:spPr>
          <a:xfrm>
            <a:off x="6057900" y="3943350"/>
            <a:ext cx="3905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Need: Client research, content ideation, team usage control.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9ADA85E-346C-4C40-8CCF-C82BF05B021C}"/>
              </a:ext>
            </a:extLst>
          </p:cNvPr>
          <p:cNvSpPr>
            <a:spLocks noGrp="1"/>
          </p:cNvSpPr>
          <p:nvPr/>
        </p:nvSpPr>
        <p:spPr>
          <a:xfrm>
            <a:off x="6057900" y="4324350"/>
            <a:ext cx="3905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Trigger: Power plan and team credits.</a:t>
            </a:r>
          </a:p>
        </p:txBody>
      </p:sp>
    </p:spTree>
    <p:extLst>
      <p:ext uri="{BB962C8B-B14F-4D97-AF65-F5344CB8AC3E}">
        <p14:creationId xmlns:p14="http://schemas.microsoft.com/office/powerpoint/2010/main" val="17472506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bg">
            <a:extLst>
              <a:ext uri="{FF2B5EF4-FFF2-40B4-BE49-F238E27FC236}">
                <a16:creationId xmlns:a16="http://schemas.microsoft.com/office/drawing/2014/main" id="{4EC03D3F-77B1-4CEA-956C-D9D26D2D36F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114"/>
          </a:solidFill>
          <a:ln w="0">
            <a:noFill/>
            <a:prstDash val="solid"/>
          </a:ln>
        </p:spPr>
      </p:sp>
      <p:sp>
        <p:nvSpPr>
          <p:cNvPr id="2" name="left-band">
            <a:extLst>
              <a:ext uri="{FF2B5EF4-FFF2-40B4-BE49-F238E27FC236}">
                <a16:creationId xmlns:a16="http://schemas.microsoft.com/office/drawing/2014/main" id="{B85B8FE9-F628-424E-A99F-BB369889A8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rgbClr val="041C20"/>
          </a:solidFill>
          <a:ln w="0">
            <a:noFill/>
            <a:prstDash val="solid"/>
          </a:ln>
        </p:spPr>
      </p:sp>
      <p:sp>
        <p:nvSpPr>
          <p:cNvPr id="3" name="left-rule">
            <a:extLst>
              <a:ext uri="{FF2B5EF4-FFF2-40B4-BE49-F238E27FC236}">
                <a16:creationId xmlns:a16="http://schemas.microsoft.com/office/drawing/2014/main" id="{63C43BE4-85C9-4950-A7B3-326292FFF411}"/>
              </a:ext>
            </a:extLst>
          </p:cNvPr>
          <p:cNvSpPr>
            <a:spLocks noGrp="1"/>
          </p:cNvSpPr>
          <p:nvPr/>
        </p:nvSpPr>
        <p:spPr>
          <a:xfrm>
            <a:off x="342900" y="0"/>
            <a:ext cx="9525" cy="68580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4" name="grid-dot-0">
            <a:extLst>
              <a:ext uri="{FF2B5EF4-FFF2-40B4-BE49-F238E27FC236}">
                <a16:creationId xmlns:a16="http://schemas.microsoft.com/office/drawing/2014/main" id="{FF04F5B7-9AFA-4332-A880-910329400A40}"/>
              </a:ext>
            </a:extLst>
          </p:cNvPr>
          <p:cNvSpPr>
            <a:spLocks noGrp="1"/>
          </p:cNvSpPr>
          <p:nvPr/>
        </p:nvSpPr>
        <p:spPr>
          <a:xfrm>
            <a:off x="742950" y="8001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5" name="grid-dot-1">
            <a:extLst>
              <a:ext uri="{FF2B5EF4-FFF2-40B4-BE49-F238E27FC236}">
                <a16:creationId xmlns:a16="http://schemas.microsoft.com/office/drawing/2014/main" id="{48CDD146-FC27-43F8-8493-2A69FB71BABC}"/>
              </a:ext>
            </a:extLst>
          </p:cNvPr>
          <p:cNvSpPr>
            <a:spLocks noGrp="1"/>
          </p:cNvSpPr>
          <p:nvPr/>
        </p:nvSpPr>
        <p:spPr>
          <a:xfrm>
            <a:off x="742950" y="14287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6" name="grid-dot-2">
            <a:extLst>
              <a:ext uri="{FF2B5EF4-FFF2-40B4-BE49-F238E27FC236}">
                <a16:creationId xmlns:a16="http://schemas.microsoft.com/office/drawing/2014/main" id="{6F40B069-217A-4DBC-BBAC-C6765946F780}"/>
              </a:ext>
            </a:extLst>
          </p:cNvPr>
          <p:cNvSpPr>
            <a:spLocks noGrp="1"/>
          </p:cNvSpPr>
          <p:nvPr/>
        </p:nvSpPr>
        <p:spPr>
          <a:xfrm>
            <a:off x="742950" y="20574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7" name="grid-dot-3">
            <a:extLst>
              <a:ext uri="{FF2B5EF4-FFF2-40B4-BE49-F238E27FC236}">
                <a16:creationId xmlns:a16="http://schemas.microsoft.com/office/drawing/2014/main" id="{8E0DCD64-B5FC-49C3-95B9-9B7B3D93B70C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8" name="grid-dot-4">
            <a:extLst>
              <a:ext uri="{FF2B5EF4-FFF2-40B4-BE49-F238E27FC236}">
                <a16:creationId xmlns:a16="http://schemas.microsoft.com/office/drawing/2014/main" id="{8144ECA0-C12F-4685-9742-C55C7B186F1C}"/>
              </a:ext>
            </a:extLst>
          </p:cNvPr>
          <p:cNvSpPr>
            <a:spLocks noGrp="1"/>
          </p:cNvSpPr>
          <p:nvPr/>
        </p:nvSpPr>
        <p:spPr>
          <a:xfrm>
            <a:off x="742950" y="33147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9" name="grid-dot-5">
            <a:extLst>
              <a:ext uri="{FF2B5EF4-FFF2-40B4-BE49-F238E27FC236}">
                <a16:creationId xmlns:a16="http://schemas.microsoft.com/office/drawing/2014/main" id="{18410E7E-8335-485E-9349-F574CED46177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0" name="grid-dot-6">
            <a:extLst>
              <a:ext uri="{FF2B5EF4-FFF2-40B4-BE49-F238E27FC236}">
                <a16:creationId xmlns:a16="http://schemas.microsoft.com/office/drawing/2014/main" id="{EC011304-FC53-4755-A8C1-A65366DE787F}"/>
              </a:ext>
            </a:extLst>
          </p:cNvPr>
          <p:cNvSpPr>
            <a:spLocks noGrp="1"/>
          </p:cNvSpPr>
          <p:nvPr/>
        </p:nvSpPr>
        <p:spPr>
          <a:xfrm>
            <a:off x="742950" y="4572000"/>
            <a:ext cx="38100" cy="3810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1" name="grid-dot-7">
            <a:extLst>
              <a:ext uri="{FF2B5EF4-FFF2-40B4-BE49-F238E27FC236}">
                <a16:creationId xmlns:a16="http://schemas.microsoft.com/office/drawing/2014/main" id="{DFF866A4-743F-48AB-B905-6B25EC1249F1}"/>
              </a:ext>
            </a:extLst>
          </p:cNvPr>
          <p:cNvSpPr>
            <a:spLocks noGrp="1"/>
          </p:cNvSpPr>
          <p:nvPr/>
        </p:nvSpPr>
        <p:spPr>
          <a:xfrm>
            <a:off x="742950" y="520065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2" name="grid-dot-8">
            <a:extLst>
              <a:ext uri="{FF2B5EF4-FFF2-40B4-BE49-F238E27FC236}">
                <a16:creationId xmlns:a16="http://schemas.microsoft.com/office/drawing/2014/main" id="{750EAD06-80EE-466E-8948-2BBE2C5E309B}"/>
              </a:ext>
            </a:extLst>
          </p:cNvPr>
          <p:cNvSpPr>
            <a:spLocks noGrp="1"/>
          </p:cNvSpPr>
          <p:nvPr/>
        </p:nvSpPr>
        <p:spPr>
          <a:xfrm>
            <a:off x="742950" y="5829300"/>
            <a:ext cx="38100" cy="38100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3" name="kicker-marker-34">
            <a:extLst>
              <a:ext uri="{FF2B5EF4-FFF2-40B4-BE49-F238E27FC236}">
                <a16:creationId xmlns:a16="http://schemas.microsoft.com/office/drawing/2014/main" id="{458D86FF-FBA3-47DB-BCE0-4C47210D752D}"/>
              </a:ext>
            </a:extLst>
          </p:cNvPr>
          <p:cNvSpPr>
            <a:spLocks noGrp="1"/>
          </p:cNvSpPr>
          <p:nvPr/>
        </p:nvSpPr>
        <p:spPr>
          <a:xfrm>
            <a:off x="742950" y="466725"/>
            <a:ext cx="266700" cy="19050"/>
          </a:xfrm>
          <a:prstGeom prst="rect">
            <a:avLst/>
          </a:prstGeom>
          <a:solidFill>
            <a:srgbClr val="24E0B8"/>
          </a:solidFill>
          <a:ln w="0">
            <a:noFill/>
            <a:prstDash val="solid"/>
          </a:ln>
        </p:spPr>
      </p:sp>
      <p:sp>
        <p:nvSpPr>
          <p:cNvPr id="14" name="kicker-label-34">
            <a:extLst>
              <a:ext uri="{FF2B5EF4-FFF2-40B4-BE49-F238E27FC236}">
                <a16:creationId xmlns:a16="http://schemas.microsoft.com/office/drawing/2014/main" id="{9C999DFD-8BA3-46EF-ADF1-FCA5F1E46CA5}"/>
              </a:ext>
            </a:extLst>
          </p:cNvPr>
          <p:cNvSpPr>
            <a:spLocks noGrp="1"/>
          </p:cNvSpPr>
          <p:nvPr/>
        </p:nvSpPr>
        <p:spPr>
          <a:xfrm>
            <a:off x="1085850" y="381000"/>
            <a:ext cx="4000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APPENDIX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D9639E-D1CB-4481-82F6-8768CF6CF13D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809625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76200" bIns="0" anchor="t"/>
          <a:lstStyle/>
          <a:p>
            <a:pPr algn="l">
              <a:def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8F7"/>
                </a:solidFill>
                <a:latin typeface="Aptos Display"/>
                <a:ea typeface="Aptos Display"/>
                <a:cs typeface="Aptos Display"/>
              </a:rPr>
              <a:t>Source notes and assumptions keep the investor story auditable.</a:t>
            </a:r>
          </a:p>
        </p:txBody>
      </p:sp>
      <p:sp>
        <p:nvSpPr>
          <p:cNvPr id="16" name="footer-rule">
            <a:extLst>
              <a:ext uri="{FF2B5EF4-FFF2-40B4-BE49-F238E27FC236}">
                <a16:creationId xmlns:a16="http://schemas.microsoft.com/office/drawing/2014/main" id="{FF4920E2-EA38-42D7-AD9A-1D5637595DF1}"/>
              </a:ext>
            </a:extLst>
          </p:cNvPr>
          <p:cNvSpPr>
            <a:spLocks noGrp="1"/>
          </p:cNvSpPr>
          <p:nvPr/>
        </p:nvSpPr>
        <p:spPr>
          <a:xfrm>
            <a:off x="742950" y="6305550"/>
            <a:ext cx="9334500" cy="9525"/>
          </a:xfrm>
          <a:prstGeom prst="rect">
            <a:avLst/>
          </a:prstGeom>
          <a:solidFill>
            <a:srgbClr val="18323A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9FB49A9-40B2-4C9A-AF6A-4ECD5FC5B618}"/>
              </a:ext>
            </a:extLst>
          </p:cNvPr>
          <p:cNvSpPr>
            <a:spLocks noGrp="1"/>
          </p:cNvSpPr>
          <p:nvPr/>
        </p:nvSpPr>
        <p:spPr>
          <a:xfrm>
            <a:off x="742950" y="6438900"/>
            <a:ext cx="40957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Aria AI investor deck | confidential draft | 2026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A3D582-0213-4B7F-902E-8A86F9D0BCC0}"/>
              </a:ext>
            </a:extLst>
          </p:cNvPr>
          <p:cNvSpPr>
            <a:spLocks noGrp="1"/>
          </p:cNvSpPr>
          <p:nvPr/>
        </p:nvSpPr>
        <p:spPr>
          <a:xfrm>
            <a:off x="10725150" y="6419850"/>
            <a:ext cx="666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F858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F8584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77B78C-ABA7-430D-90DD-8C1175565603}"/>
              </a:ext>
            </a:extLst>
          </p:cNvPr>
          <p:cNvSpPr>
            <a:spLocks noGrp="1"/>
          </p:cNvSpPr>
          <p:nvPr/>
        </p:nvSpPr>
        <p:spPr>
          <a:xfrm>
            <a:off x="495300" y="1695450"/>
            <a:ext cx="10953750" cy="552450"/>
          </a:xfrm>
          <a:prstGeom prst="rect">
            <a:avLst/>
          </a:prstGeom>
          <a:solidFill>
            <a:srgbClr val="102A32"/>
          </a:solidFill>
          <a:ln w="9525">
            <a:solidFill>
              <a:srgbClr val="28505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82BAF10-2EDB-4D78-83FB-A8F5178FF852}"/>
              </a:ext>
            </a:extLst>
          </p:cNvPr>
          <p:cNvSpPr>
            <a:spLocks noGrp="1"/>
          </p:cNvSpPr>
          <p:nvPr/>
        </p:nvSpPr>
        <p:spPr>
          <a:xfrm>
            <a:off x="581025" y="181927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ACBDE08-C78B-4A3B-A3FB-441634AA52CB}"/>
              </a:ext>
            </a:extLst>
          </p:cNvPr>
          <p:cNvSpPr>
            <a:spLocks noGrp="1"/>
          </p:cNvSpPr>
          <p:nvPr/>
        </p:nvSpPr>
        <p:spPr>
          <a:xfrm>
            <a:off x="1819275" y="1819275"/>
            <a:ext cx="3581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9310127-76CF-4763-8B0E-4A352A18BAF1}"/>
              </a:ext>
            </a:extLst>
          </p:cNvPr>
          <p:cNvSpPr>
            <a:spLocks noGrp="1"/>
          </p:cNvSpPr>
          <p:nvPr/>
        </p:nvSpPr>
        <p:spPr>
          <a:xfrm>
            <a:off x="5534025" y="1819275"/>
            <a:ext cx="586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750" b="1">
                <a:solidFill>
                  <a:srgbClr val="24E0B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4E0B8"/>
                </a:solidFill>
                <a:latin typeface="Aptos"/>
                <a:ea typeface="Aptos"/>
                <a:cs typeface="Aptos"/>
              </a:rPr>
              <a:t>Use in deck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5988317-ADF8-4019-95DB-531ED3FC885E}"/>
              </a:ext>
            </a:extLst>
          </p:cNvPr>
          <p:cNvSpPr>
            <a:spLocks noGrp="1"/>
          </p:cNvSpPr>
          <p:nvPr/>
        </p:nvSpPr>
        <p:spPr>
          <a:xfrm>
            <a:off x="495300" y="2247900"/>
            <a:ext cx="10953750" cy="55245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1789C4-2299-481C-8EC7-02225FC0AA2E}"/>
              </a:ext>
            </a:extLst>
          </p:cNvPr>
          <p:cNvSpPr>
            <a:spLocks noGrp="1"/>
          </p:cNvSpPr>
          <p:nvPr/>
        </p:nvSpPr>
        <p:spPr>
          <a:xfrm>
            <a:off x="581025" y="237172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Market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C6F25A-502E-4501-BA88-425BFB9AD691}"/>
              </a:ext>
            </a:extLst>
          </p:cNvPr>
          <p:cNvSpPr>
            <a:spLocks noGrp="1"/>
          </p:cNvSpPr>
          <p:nvPr/>
        </p:nvSpPr>
        <p:spPr>
          <a:xfrm>
            <a:off x="1819275" y="2371725"/>
            <a:ext cx="3581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Grand View Research GenAI report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8F1EC2D-DA8B-4C2C-BA77-F705A109E83D}"/>
              </a:ext>
            </a:extLst>
          </p:cNvPr>
          <p:cNvSpPr>
            <a:spLocks noGrp="1"/>
          </p:cNvSpPr>
          <p:nvPr/>
        </p:nvSpPr>
        <p:spPr>
          <a:xfrm>
            <a:off x="5534025" y="2371725"/>
            <a:ext cx="586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USD 29.6B 2026; USD 324.7B 2033; 40.8% CAGR.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8EF50D-F836-4101-A4EC-ADC698C776BD}"/>
              </a:ext>
            </a:extLst>
          </p:cNvPr>
          <p:cNvSpPr>
            <a:spLocks noGrp="1"/>
          </p:cNvSpPr>
          <p:nvPr/>
        </p:nvSpPr>
        <p:spPr>
          <a:xfrm>
            <a:off x="495300" y="2800350"/>
            <a:ext cx="10953750" cy="5524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9C0F04D-DE04-4723-A8AE-8711F89E0E1A}"/>
              </a:ext>
            </a:extLst>
          </p:cNvPr>
          <p:cNvSpPr>
            <a:spLocks noGrp="1"/>
          </p:cNvSpPr>
          <p:nvPr/>
        </p:nvSpPr>
        <p:spPr>
          <a:xfrm>
            <a:off x="581025" y="292417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Adoption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A1DC25-BD22-4F31-8452-B7EEC419776C}"/>
              </a:ext>
            </a:extLst>
          </p:cNvPr>
          <p:cNvSpPr>
            <a:spLocks noGrp="1"/>
          </p:cNvSpPr>
          <p:nvPr/>
        </p:nvSpPr>
        <p:spPr>
          <a:xfrm>
            <a:off x="1819275" y="2924175"/>
            <a:ext cx="3581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McKinsey State of AI 2025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8CC3BBF-B82E-4DF4-BC0A-B3D62C9D158C}"/>
              </a:ext>
            </a:extLst>
          </p:cNvPr>
          <p:cNvSpPr>
            <a:spLocks noGrp="1"/>
          </p:cNvSpPr>
          <p:nvPr/>
        </p:nvSpPr>
        <p:spPr>
          <a:xfrm>
            <a:off x="5534025" y="2924175"/>
            <a:ext cx="586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88% regular AI use; 62% agent experimentation; 23% scaling agents.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95C94F3-FA98-4020-83E1-0423A096F34F}"/>
              </a:ext>
            </a:extLst>
          </p:cNvPr>
          <p:cNvSpPr>
            <a:spLocks noGrp="1"/>
          </p:cNvSpPr>
          <p:nvPr/>
        </p:nvSpPr>
        <p:spPr>
          <a:xfrm>
            <a:off x="495300" y="3352800"/>
            <a:ext cx="10953750" cy="55245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4B61B0A-5B65-4C5B-8B45-9580DB7B8598}"/>
              </a:ext>
            </a:extLst>
          </p:cNvPr>
          <p:cNvSpPr>
            <a:spLocks noGrp="1"/>
          </p:cNvSpPr>
          <p:nvPr/>
        </p:nvSpPr>
        <p:spPr>
          <a:xfrm>
            <a:off x="581025" y="347662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16DCC9A-7EBA-41AB-B6E4-50BC720224DE}"/>
              </a:ext>
            </a:extLst>
          </p:cNvPr>
          <p:cNvSpPr>
            <a:spLocks noGrp="1"/>
          </p:cNvSpPr>
          <p:nvPr/>
        </p:nvSpPr>
        <p:spPr>
          <a:xfrm>
            <a:off x="1819275" y="3476625"/>
            <a:ext cx="3581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Verifiability audit / arXiv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9BBDA3B-6203-486F-9ED1-D32C9F5F9EE0}"/>
              </a:ext>
            </a:extLst>
          </p:cNvPr>
          <p:cNvSpPr>
            <a:spLocks noGrp="1"/>
          </p:cNvSpPr>
          <p:nvPr/>
        </p:nvSpPr>
        <p:spPr>
          <a:xfrm>
            <a:off x="5534025" y="3476625"/>
            <a:ext cx="586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51.5% fully supported sentences; 74.5% citations support their sentence.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566CBCF-2EF3-43FF-8459-836D6E95F09B}"/>
              </a:ext>
            </a:extLst>
          </p:cNvPr>
          <p:cNvSpPr>
            <a:spLocks noGrp="1"/>
          </p:cNvSpPr>
          <p:nvPr/>
        </p:nvSpPr>
        <p:spPr>
          <a:xfrm>
            <a:off x="495300" y="3905250"/>
            <a:ext cx="10953750" cy="5524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D8673B4-CA27-442A-8484-B8E1CA5197F1}"/>
              </a:ext>
            </a:extLst>
          </p:cNvPr>
          <p:cNvSpPr>
            <a:spLocks noGrp="1"/>
          </p:cNvSpPr>
          <p:nvPr/>
        </p:nvSpPr>
        <p:spPr>
          <a:xfrm>
            <a:off x="581025" y="402907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9CE6088-A043-43F9-B2A8-23696AAD488A}"/>
              </a:ext>
            </a:extLst>
          </p:cNvPr>
          <p:cNvSpPr>
            <a:spLocks noGrp="1"/>
          </p:cNvSpPr>
          <p:nvPr/>
        </p:nvSpPr>
        <p:spPr>
          <a:xfrm>
            <a:off x="1819275" y="4029075"/>
            <a:ext cx="3581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Synthetic Sources audit / arXiv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B02127C-E16F-47F4-AC1F-2E3E1DEF452F}"/>
              </a:ext>
            </a:extLst>
          </p:cNvPr>
          <p:cNvSpPr>
            <a:spLocks noGrp="1"/>
          </p:cNvSpPr>
          <p:nvPr/>
        </p:nvSpPr>
        <p:spPr>
          <a:xfrm>
            <a:off x="5534025" y="4029075"/>
            <a:ext cx="586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About 16% of cited sources showed evidence of AI-generated sources.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1654C5A-88D1-472A-AA31-723A211C47C2}"/>
              </a:ext>
            </a:extLst>
          </p:cNvPr>
          <p:cNvSpPr>
            <a:spLocks noGrp="1"/>
          </p:cNvSpPr>
          <p:nvPr/>
        </p:nvSpPr>
        <p:spPr>
          <a:xfrm>
            <a:off x="495300" y="4457700"/>
            <a:ext cx="10953750" cy="552450"/>
          </a:xfrm>
          <a:prstGeom prst="rect">
            <a:avLst/>
          </a:prstGeom>
          <a:solidFill>
            <a:srgbClr val="091E24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7A37AFE-EF21-4840-B479-C36B8B3DB0F8}"/>
              </a:ext>
            </a:extLst>
          </p:cNvPr>
          <p:cNvSpPr>
            <a:spLocks noGrp="1"/>
          </p:cNvSpPr>
          <p:nvPr/>
        </p:nvSpPr>
        <p:spPr>
          <a:xfrm>
            <a:off x="581025" y="458152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3D99D90-782E-4BCA-8785-76649DDD15FC}"/>
              </a:ext>
            </a:extLst>
          </p:cNvPr>
          <p:cNvSpPr>
            <a:spLocks noGrp="1"/>
          </p:cNvSpPr>
          <p:nvPr/>
        </p:nvSpPr>
        <p:spPr>
          <a:xfrm>
            <a:off x="1819275" y="4581525"/>
            <a:ext cx="3581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Aria repository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D1D8BB-CF8D-4644-BBE7-380E61B0DA66}"/>
              </a:ext>
            </a:extLst>
          </p:cNvPr>
          <p:cNvSpPr>
            <a:spLocks noGrp="1"/>
          </p:cNvSpPr>
          <p:nvPr/>
        </p:nvSpPr>
        <p:spPr>
          <a:xfrm>
            <a:off x="5534025" y="4581525"/>
            <a:ext cx="586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Modes, routing, admin, credit wallet, and Analyzer behavior from local implementation.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8FEC1F9-4C1C-479C-B929-7659374FCFEB}"/>
              </a:ext>
            </a:extLst>
          </p:cNvPr>
          <p:cNvSpPr>
            <a:spLocks noGrp="1"/>
          </p:cNvSpPr>
          <p:nvPr/>
        </p:nvSpPr>
        <p:spPr>
          <a:xfrm>
            <a:off x="495300" y="5010150"/>
            <a:ext cx="10953750" cy="552450"/>
          </a:xfrm>
          <a:prstGeom prst="rect">
            <a:avLst/>
          </a:prstGeom>
          <a:solidFill>
            <a:srgbClr val="08191E"/>
          </a:solidFill>
          <a:ln w="9525">
            <a:solidFill>
              <a:srgbClr val="18323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E527EA0-75D5-44E5-8219-8DCBEFE36360}"/>
              </a:ext>
            </a:extLst>
          </p:cNvPr>
          <p:cNvSpPr>
            <a:spLocks noGrp="1"/>
          </p:cNvSpPr>
          <p:nvPr/>
        </p:nvSpPr>
        <p:spPr>
          <a:xfrm>
            <a:off x="581025" y="5133975"/>
            <a:ext cx="11049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1">
                <a:solidFill>
                  <a:srgbClr val="F4F8F7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F8F7"/>
                </a:solidFill>
                <a:latin typeface="Aptos"/>
                <a:ea typeface="Aptos"/>
                <a:cs typeface="Aptos"/>
              </a:rPr>
              <a:t>Financials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1866735-1F55-4AB4-B53B-50A3339F1C41}"/>
              </a:ext>
            </a:extLst>
          </p:cNvPr>
          <p:cNvSpPr>
            <a:spLocks noGrp="1"/>
          </p:cNvSpPr>
          <p:nvPr/>
        </p:nvSpPr>
        <p:spPr>
          <a:xfrm>
            <a:off x="1819275" y="5133975"/>
            <a:ext cx="3581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Management assumptions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07629A5-4449-4313-BED4-2994C78BBEBC}"/>
              </a:ext>
            </a:extLst>
          </p:cNvPr>
          <p:cNvSpPr>
            <a:spLocks noGrp="1"/>
          </p:cNvSpPr>
          <p:nvPr/>
        </p:nvSpPr>
        <p:spPr>
          <a:xfrm>
            <a:off x="5534025" y="5133975"/>
            <a:ext cx="58674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825" b="0">
                <a:solidFill>
                  <a:srgbClr val="A9B8B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9B8B6"/>
                </a:solidFill>
                <a:latin typeface="Aptos"/>
                <a:ea typeface="Aptos"/>
                <a:cs typeface="Aptos"/>
              </a:rPr>
              <a:t>Revenue, costs, conversion, and break-even are illustrative until launch data exists.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77027E-5DBE-4E1D-9749-DB6CC002891D}"/>
              </a:ext>
            </a:extLst>
          </p:cNvPr>
          <p:cNvSpPr>
            <a:spLocks noGrp="1"/>
          </p:cNvSpPr>
          <p:nvPr/>
        </p:nvSpPr>
        <p:spPr>
          <a:xfrm>
            <a:off x="1047750" y="5829300"/>
            <a:ext cx="9334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F7C94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7C948"/>
                </a:solidFill>
                <a:latin typeface="Aptos"/>
                <a:ea typeface="Aptos"/>
                <a:cs typeface="Aptos"/>
              </a:rPr>
              <a:t>No customer traction, revenue, or funding amount was supplied; all forecast and funding slides are explicitly assumption-based.</a:t>
            </a:r>
          </a:p>
        </p:txBody>
      </p:sp>
    </p:spTree>
    <p:extLst>
      <p:ext uri="{BB962C8B-B14F-4D97-AF65-F5344CB8AC3E}">
        <p14:creationId xmlns:p14="http://schemas.microsoft.com/office/powerpoint/2010/main" val="290553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3475</Words>
  <Application>Microsoft Office PowerPoint</Application>
  <DocSecurity>0</DocSecurity>
  <PresentationFormat>Widescreen</PresentationFormat>
  <Paragraphs>695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Anoop Kumar</cp:lastModifiedBy>
  <cp:revision>1</cp:revision>
  <dcterms:created xsi:type="dcterms:W3CDTF">2026-06-12T12:52:12Z</dcterms:created>
  <dcterms:modified xsi:type="dcterms:W3CDTF">2026-06-12T14:28:41Z</dcterms:modified>
</cp:coreProperties>
</file>